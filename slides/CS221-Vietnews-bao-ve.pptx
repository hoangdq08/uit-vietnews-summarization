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5532ee733964a1d" /><Relationship Type="http://schemas.openxmlformats.org/officeDocument/2006/relationships/extended-properties" Target="/docProps/app.xml" Id="R68954f29a4614531" /><Relationship Type="http://schemas.openxmlformats.org/officeDocument/2006/relationships/officeDocument" Target="/ppt/presentation.xml" Id="R2b94dcebdf424deb" /></Relationships>
</file>

<file path=ppt/presentation.xml><?xml version="1.0" encoding="utf-8"?>
<p:presentation xmlns:p="http://schemas.openxmlformats.org/presentationml/2006/main">
  <p:sldMasterIdLst>
    <p:sldMasterId xmlns:r="http://schemas.openxmlformats.org/officeDocument/2006/relationships" id="2147483648" r:id="Reb05d2ac3b634084"/>
  </p:sldMasterIdLst>
  <p:notesMasterIdLst>
    <p:notesMasterId xmlns:r="http://schemas.openxmlformats.org/officeDocument/2006/relationships" r:id="R64a932f994b14d90"/>
  </p:notesMasterIdLst>
  <p:sldIdLst>
    <p:sldId xmlns:r="http://schemas.openxmlformats.org/officeDocument/2006/relationships" id="256" r:id="Rc18e09aebc934c00"/>
    <p:sldId xmlns:r="http://schemas.openxmlformats.org/officeDocument/2006/relationships" id="257" r:id="R1f4b94d954a747e1"/>
    <p:sldId xmlns:r="http://schemas.openxmlformats.org/officeDocument/2006/relationships" id="258" r:id="Rb1c9a89b531442ef"/>
    <p:sldId xmlns:r="http://schemas.openxmlformats.org/officeDocument/2006/relationships" id="259" r:id="Rd7fab17aa2274a98"/>
    <p:sldId xmlns:r="http://schemas.openxmlformats.org/officeDocument/2006/relationships" id="260" r:id="Rfbcacf72d7ae42ba"/>
    <p:sldId xmlns:r="http://schemas.openxmlformats.org/officeDocument/2006/relationships" id="261" r:id="R0c37c25b5b3e4c9d"/>
    <p:sldId xmlns:r="http://schemas.openxmlformats.org/officeDocument/2006/relationships" id="262" r:id="R147bad8cb6af4bf0"/>
    <p:sldId xmlns:r="http://schemas.openxmlformats.org/officeDocument/2006/relationships" id="263" r:id="R7a862493294f462a"/>
    <p:sldId xmlns:r="http://schemas.openxmlformats.org/officeDocument/2006/relationships" id="264" r:id="R7f9053dda8b54414"/>
    <p:sldId xmlns:r="http://schemas.openxmlformats.org/officeDocument/2006/relationships" id="265" r:id="R76a26aaafe084e21"/>
    <p:sldId xmlns:r="http://schemas.openxmlformats.org/officeDocument/2006/relationships" id="266" r:id="Rb9cb4299e1b84381"/>
    <p:sldId xmlns:r="http://schemas.openxmlformats.org/officeDocument/2006/relationships" id="267" r:id="Rf1a74d28a652426c"/>
    <p:sldId xmlns:r="http://schemas.openxmlformats.org/officeDocument/2006/relationships" id="268" r:id="R16d42c955f5c40c0"/>
    <p:sldId xmlns:r="http://schemas.openxmlformats.org/officeDocument/2006/relationships" id="269" r:id="R6a58e0c0aa254df8"/>
    <p:sldId xmlns:r="http://schemas.openxmlformats.org/officeDocument/2006/relationships" id="270" r:id="R81e82caa418a4e11"/>
    <p:sldId xmlns:r="http://schemas.openxmlformats.org/officeDocument/2006/relationships" id="271" r:id="Rc8e21760c09c4f36"/>
    <p:sldId xmlns:r="http://schemas.openxmlformats.org/officeDocument/2006/relationships" id="272" r:id="R4f74c06d404042ff"/>
    <p:sldId xmlns:r="http://schemas.openxmlformats.org/officeDocument/2006/relationships" id="273" r:id="R5a431bf715384f5e"/>
  </p:sldIdLst>
  <p:sldSz cx="12191695" cy="6858000"/>
  <p:notesSz cx="6858000" cy="9144000"/>
  <p:defaultText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e17b44dc3fa74bae" /><Relationship Type="http://schemas.openxmlformats.org/officeDocument/2006/relationships/slideMaster" Target="/ppt/slideMasters/slideMaster1.xml" Id="Reb05d2ac3b634084" /><Relationship Type="http://schemas.openxmlformats.org/officeDocument/2006/relationships/notesMaster" Target="/ppt/notesMasters/notesMaster1.xml" Id="R64a932f994b14d90" /><Relationship Type="http://schemas.openxmlformats.org/officeDocument/2006/relationships/presProps" Target="/ppt/presProps.xml" Id="Re68d42220d0e4550" /><Relationship Type="http://schemas.openxmlformats.org/officeDocument/2006/relationships/viewProps" Target="/ppt/viewProps.xml" Id="R00f1d767d6614aeb" /><Relationship Type="http://schemas.openxmlformats.org/officeDocument/2006/relationships/tableStyles" Target="/ppt/tableStyles.xml" Id="Rbb17ffbfc7b74745" /><Relationship Type="http://schemas.openxmlformats.org/officeDocument/2006/relationships/slide" Target="/ppt/slides/slide1.xml" Id="Rc18e09aebc934c00" /><Relationship Type="http://schemas.openxmlformats.org/officeDocument/2006/relationships/slide" Target="/ppt/slides/slide2.xml" Id="R1f4b94d954a747e1" /><Relationship Type="http://schemas.openxmlformats.org/officeDocument/2006/relationships/slide" Target="/ppt/slides/slide3.xml" Id="Rb1c9a89b531442ef" /><Relationship Type="http://schemas.openxmlformats.org/officeDocument/2006/relationships/slide" Target="/ppt/slides/slide4.xml" Id="Rd7fab17aa2274a98" /><Relationship Type="http://schemas.openxmlformats.org/officeDocument/2006/relationships/slide" Target="/ppt/slides/slide5.xml" Id="Rfbcacf72d7ae42ba" /><Relationship Type="http://schemas.openxmlformats.org/officeDocument/2006/relationships/slide" Target="/ppt/slides/slide6.xml" Id="R0c37c25b5b3e4c9d" /><Relationship Type="http://schemas.openxmlformats.org/officeDocument/2006/relationships/slide" Target="/ppt/slides/slide7.xml" Id="R147bad8cb6af4bf0" /><Relationship Type="http://schemas.openxmlformats.org/officeDocument/2006/relationships/slide" Target="/ppt/slides/slide8.xml" Id="R7a862493294f462a" /><Relationship Type="http://schemas.openxmlformats.org/officeDocument/2006/relationships/slide" Target="/ppt/slides/slide9.xml" Id="R7f9053dda8b54414" /><Relationship Type="http://schemas.openxmlformats.org/officeDocument/2006/relationships/slide" Target="/ppt/slides/slide10.xml" Id="R76a26aaafe084e21" /><Relationship Type="http://schemas.openxmlformats.org/officeDocument/2006/relationships/slide" Target="/ppt/slides/slide11.xml" Id="Rb9cb4299e1b84381" /><Relationship Type="http://schemas.openxmlformats.org/officeDocument/2006/relationships/slide" Target="/ppt/slides/slide12.xml" Id="Rf1a74d28a652426c" /><Relationship Type="http://schemas.openxmlformats.org/officeDocument/2006/relationships/slide" Target="/ppt/slides/slide13.xml" Id="R16d42c955f5c40c0" /><Relationship Type="http://schemas.openxmlformats.org/officeDocument/2006/relationships/slide" Target="/ppt/slides/slide14.xml" Id="R6a58e0c0aa254df8" /><Relationship Type="http://schemas.openxmlformats.org/officeDocument/2006/relationships/slide" Target="/ppt/slides/slide15.xml" Id="R81e82caa418a4e11" /><Relationship Type="http://schemas.openxmlformats.org/officeDocument/2006/relationships/slide" Target="/ppt/slides/slide16.xml" Id="Rc8e21760c09c4f36" /><Relationship Type="http://schemas.openxmlformats.org/officeDocument/2006/relationships/slide" Target="/ppt/slides/slide17.xml" Id="R4f74c06d404042ff" /><Relationship Type="http://schemas.openxmlformats.org/officeDocument/2006/relationships/slide" Target="/ppt/slides/slide18.xml" Id="R5a431bf715384f5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face3616a6a411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0f70e9ed21b469c" /><Relationship Type="http://schemas.openxmlformats.org/officeDocument/2006/relationships/notesMaster" Target="/ppt/notesMasters/notesMaster1.xml" Id="Rbee71514c6e3420d" /></Relationships>
</file>

<file path=ppt/notesSlides/_rels/notesSlide2.xml.rels>&#65279;<?xml version="1.0" encoding="utf-8"?><Relationships xmlns="http://schemas.openxmlformats.org/package/2006/relationships"><Relationship Type="http://schemas.openxmlformats.org/officeDocument/2006/relationships/slide" Target="/ppt/slides/slide2.xml" Id="R7677b908b8a44f18" /><Relationship Type="http://schemas.openxmlformats.org/officeDocument/2006/relationships/notesMaster" Target="/ppt/notesMasters/notesMaster1.xml" Id="R9b912d8b40874bbd" /></Relationships>
</file>

<file path=ppt/notesSlides/_rels/notesSlide3.xml.rels>&#65279;<?xml version="1.0" encoding="utf-8"?><Relationships xmlns="http://schemas.openxmlformats.org/package/2006/relationships"><Relationship Type="http://schemas.openxmlformats.org/officeDocument/2006/relationships/slide" Target="/ppt/slides/slide3.xml" Id="R156aedff05984367" /><Relationship Type="http://schemas.openxmlformats.org/officeDocument/2006/relationships/notesMaster" Target="/ppt/notesMasters/notesMaster1.xml" Id="R2c7b236655bb4575" /></Relationships>
</file>

<file path=ppt/notesSlides/_rels/notesSlide4.xml.rels>&#65279;<?xml version="1.0" encoding="utf-8"?><Relationships xmlns="http://schemas.openxmlformats.org/package/2006/relationships"><Relationship Type="http://schemas.openxmlformats.org/officeDocument/2006/relationships/slide" Target="/ppt/slides/slide4.xml" Id="Re4a085259afe4bfa" /><Relationship Type="http://schemas.openxmlformats.org/officeDocument/2006/relationships/notesMaster" Target="/ppt/notesMasters/notesMaster1.xml" Id="R40c1697869834078" /></Relationships>
</file>

<file path=ppt/notesSlides/_rels/notesSlide5.xml.rels>&#65279;<?xml version="1.0" encoding="utf-8"?><Relationships xmlns="http://schemas.openxmlformats.org/package/2006/relationships"><Relationship Type="http://schemas.openxmlformats.org/officeDocument/2006/relationships/slide" Target="/ppt/slides/slide5.xml" Id="R42ac6ac9c28c4a0b" /><Relationship Type="http://schemas.openxmlformats.org/officeDocument/2006/relationships/notesMaster" Target="/ppt/notesMasters/notesMaster1.xml" Id="R6a73486269294675" /></Relationships>
</file>

<file path=ppt/notesSlides/_rels/notesSlide6.xml.rels>&#65279;<?xml version="1.0" encoding="utf-8"?><Relationships xmlns="http://schemas.openxmlformats.org/package/2006/relationships"><Relationship Type="http://schemas.openxmlformats.org/officeDocument/2006/relationships/slide" Target="/ppt/slides/slide6.xml" Id="R6aa55c1234e8430f" /><Relationship Type="http://schemas.openxmlformats.org/officeDocument/2006/relationships/notesMaster" Target="/ppt/notesMasters/notesMaster1.xml" Id="R027e0ae3da434354" /></Relationships>
</file>

<file path=ppt/notesSlides/_rels/notesSlide7.xml.rels>&#65279;<?xml version="1.0" encoding="utf-8"?><Relationships xmlns="http://schemas.openxmlformats.org/package/2006/relationships"><Relationship Type="http://schemas.openxmlformats.org/officeDocument/2006/relationships/slide" Target="/ppt/slides/slide7.xml" Id="Rd77ad8e8083441d3" /><Relationship Type="http://schemas.openxmlformats.org/officeDocument/2006/relationships/notesMaster" Target="/ppt/notesMasters/notesMaster1.xml" Id="R7a1abf14f5be409d" /></Relationships>
</file>

<file path=ppt/notesSlides/_rels/notesSlide8.xml.rels>&#65279;<?xml version="1.0" encoding="utf-8"?><Relationships xmlns="http://schemas.openxmlformats.org/package/2006/relationships"><Relationship Type="http://schemas.openxmlformats.org/officeDocument/2006/relationships/slide" Target="/ppt/slides/slide8.xml" Id="R042ab41169664ddb" /><Relationship Type="http://schemas.openxmlformats.org/officeDocument/2006/relationships/notesMaster" Target="/ppt/notesMasters/notesMaster1.xml" Id="R378dd26a03a14266" /></Relationships>
</file>

<file path=ppt/notesSlides/_rels/notesSlide9.xml.rels>&#65279;<?xml version="1.0" encoding="utf-8"?><Relationships xmlns="http://schemas.openxmlformats.org/package/2006/relationships"><Relationship Type="http://schemas.openxmlformats.org/officeDocument/2006/relationships/slide" Target="/ppt/slides/slide9.xml" Id="R1415f8235680447c" /><Relationship Type="http://schemas.openxmlformats.org/officeDocument/2006/relationships/notesMaster" Target="/ppt/notesMasters/notesMaster1.xml" Id="Rac6432e9bc1c412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0d3ce2a31984739" /><Relationship Type="http://schemas.openxmlformats.org/officeDocument/2006/relationships/notesMaster" Target="/ppt/notesMasters/notesMaster1.xml" Id="R89561f4d1ad949b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d12b620fdd8448d" /><Relationship Type="http://schemas.openxmlformats.org/officeDocument/2006/relationships/notesMaster" Target="/ppt/notesMasters/notesMaster1.xml" Id="R12b863d2ab0d437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73f27577d4a4f1f" /><Relationship Type="http://schemas.openxmlformats.org/officeDocument/2006/relationships/notesMaster" Target="/ppt/notesMasters/notesMaster1.xml" Id="R94ba73ec0398430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4c80aea46734f91" /><Relationship Type="http://schemas.openxmlformats.org/officeDocument/2006/relationships/notesMaster" Target="/ppt/notesMasters/notesMaster1.xml" Id="R38041f13de7743e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fc8f13f5c4a4ca7" /><Relationship Type="http://schemas.openxmlformats.org/officeDocument/2006/relationships/notesMaster" Target="/ppt/notesMasters/notesMaster1.xml" Id="Re0baf41f6170491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f4babd91ecc4e33" /><Relationship Type="http://schemas.openxmlformats.org/officeDocument/2006/relationships/notesMaster" Target="/ppt/notesMasters/notesMaster1.xml" Id="R05da8a72a30441d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2e27a498e6d4678" /><Relationship Type="http://schemas.openxmlformats.org/officeDocument/2006/relationships/notesMaster" Target="/ppt/notesMasters/notesMaster1.xml" Id="R437b54c3423849b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6be0a462c4c474a" /><Relationship Type="http://schemas.openxmlformats.org/officeDocument/2006/relationships/notesMaster" Target="/ppt/notesMasters/notesMaster1.xml" Id="R392e2f283e42492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2076ba41df9c453e" /><Relationship Type="http://schemas.openxmlformats.org/officeDocument/2006/relationships/notesMaster" Target="/ppt/notesMasters/notesMaster1.xml" Id="Reff954af269f488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Dữ liệu: https://github.com/ThanhChinhBK/vietnews</a:t>
            </a:r>
            <a:endParaRPr/>
          </a:p>
          <a:p xmlns:a="http://schemas.openxmlformats.org/drawingml/2006/main">
            <a:r>
              <a:t>ViT5: https://aclanthology.org/2022.naacl-srw.18/</a:t>
            </a:r>
            <a:endParaRPr/>
          </a:p>
          <a:p xmlns:a="http://schemas.openxmlformats.org/drawingml/2006/main">
            <a:r>
              <a:t>Checkpoint: https://huggingface.co/VietAI/vit5-base-vietnews-summarization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TextRank: Mihalcea và Tarau (2004). https://aclanthology.org/W04-3252/</a:t>
            </a:r>
            <a:endParaRPr/>
          </a:p>
          <a:p xmlns:a="http://schemas.openxmlformats.org/drawingml/2006/main">
            <a:r>
              <a:t>Cấu hình triển khai: src/extractive.py, TF-IDF cosine, PageRank 40 vòng, damping 0.85.</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Model card: https://huggingface.co/VietAI/vit5-base-vietnews-summarization</a:t>
            </a:r>
            <a:endParaRPr/>
          </a:p>
          <a:p xmlns:a="http://schemas.openxmlformats.org/drawingml/2006/main">
            <a:r>
              <a:t>Cấu hình inference của project: notebooks/kaggle_abstractive.ipynb.</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ROUGE: Lin (2004). https://aclanthology.org/W04-1013/</a:t>
            </a:r>
            <a:endParaRPr/>
          </a:p>
          <a:p xmlns:a="http://schemas.openxmlformats.org/drawingml/2006/main">
            <a:r>
              <a:t>Kết quả: results/scores.csv và results/scores_500.csv.</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số liệu: results/scores_500_mean.txt và results/scores_500.csv. Điểm F1 trung bình trên 500 ID 000001–000500.</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results/error_analysis.md, results/preds.json, results/scores.csv; thân bài data/test_tokenized/000021.txt.seg và 000011.txt.seg.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results/error_analysis.md. Danh sách gồm 25 bài sau khi bổ sung bài 000051 (con trai trong thân bài bị đổi thành con gái). Phân tích định tính chưa có hai người chấm độc lập, không coi các bài còn lại là hoàn toàn đúng. ROUGE: results/scores_500_mean.txt.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ViT5: https://aclanthology.org/2022.naacl-srw.18/</a:t>
            </a:r>
            <a:endParaRPr/>
          </a:p>
          <a:p xmlns:a="http://schemas.openxmlformats.org/drawingml/2006/main">
            <a:r>
              <a:t>TextRank: https://aclanthology.org/W04-3252/</a:t>
            </a:r>
            <a:endParaRPr/>
          </a:p>
          <a:p xmlns:a="http://schemas.openxmlformats.org/drawingml/2006/main">
            <a:r>
              <a:t>ROUGE: https://aclanthology.org/W04-1013/</a:t>
            </a:r>
            <a:endParaRPr/>
          </a:p>
          <a:p xmlns:a="http://schemas.openxmlformats.org/drawingml/2006/main">
            <a:r>
              <a:t>Dữ liệu: https://github.com/ThanhChinhBK/vietnews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2237d5bb460442b"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a7d90b88ac047fc" /><Relationship Type="http://schemas.openxmlformats.org/officeDocument/2006/relationships/slideLayout" Target="/ppt/slideLayouts/slideLayout1.xml" Id="R6a1054fd0e364808"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a1054fd0e364808"/>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f638a1761bd41dd" /><Relationship Type="http://schemas.openxmlformats.org/officeDocument/2006/relationships/notesSlide" Target="/ppt/notesSlides/notesSlide1.xml" Id="R856acb71255a4fb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de412acb1f64570" /><Relationship Type="http://schemas.openxmlformats.org/officeDocument/2006/relationships/notesSlide" Target="/ppt/notesSlides/notesSlide2.xml" Id="Rf3a044f096434c2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facf64121d34585" /><Relationship Type="http://schemas.openxmlformats.org/officeDocument/2006/relationships/notesSlide" Target="/ppt/notesSlides/notesSlide3.xml" Id="Rb19f0cd6e6fa404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852eac6a1874de6" /><Relationship Type="http://schemas.openxmlformats.org/officeDocument/2006/relationships/notesSlide" Target="/ppt/notesSlides/notesSlide4.xml" Id="R74eb211cc280499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c08650c3b934d03" /><Relationship Type="http://schemas.openxmlformats.org/officeDocument/2006/relationships/notesSlide" Target="/ppt/notesSlides/notesSlide5.xml" Id="R75fb268e8a94458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86822a2fdc74f87" /><Relationship Type="http://schemas.openxmlformats.org/officeDocument/2006/relationships/notesSlide" Target="/ppt/notesSlides/notesSlide6.xml" Id="R5a1a51b9c3cf4a3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29a4f9e9d5f4fa8" /><Relationship Type="http://schemas.openxmlformats.org/officeDocument/2006/relationships/notesSlide" Target="/ppt/notesSlides/notesSlide7.xml" Id="R5bb84ee3eba74d6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d9045075628440c" /><Relationship Type="http://schemas.openxmlformats.org/officeDocument/2006/relationships/notesSlide" Target="/ppt/notesSlides/notesSlide8.xml" Id="R36a577e59475443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139da33b6f64b8e" /><Relationship Type="http://schemas.openxmlformats.org/officeDocument/2006/relationships/notesSlide" Target="/ppt/notesSlides/notesSlide9.xml" Id="R7a7c30e5932b487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d6cd1a92e1a4234" /><Relationship Type="http://schemas.openxmlformats.org/officeDocument/2006/relationships/notesSlide" Target="/ppt/notesSlides/notesSlide10.xml" Id="R5b5c7f6d6add4e8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5802436e651c4db9" /><Relationship Type="http://schemas.openxmlformats.org/officeDocument/2006/relationships/notesSlide" Target="/ppt/notesSlides/notesSlide11.xml" Id="R83f05873b97f456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0efa6bdf6e1e4127" /><Relationship Type="http://schemas.openxmlformats.org/officeDocument/2006/relationships/notesSlide" Target="/ppt/notesSlides/notesSlide12.xml" Id="R410cc8431d3d4ff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366f97e5b4b64efd" /><Relationship Type="http://schemas.openxmlformats.org/officeDocument/2006/relationships/notesSlide" Target="/ppt/notesSlides/notesSlide13.xml" Id="R53ddf6e7f21c432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7f112cff23284f38" /><Relationship Type="http://schemas.openxmlformats.org/officeDocument/2006/relationships/notesSlide" Target="/ppt/notesSlides/notesSlide14.xml" Id="R6e4798fd15e04f5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f580a63b7a6048e9" /><Relationship Type="http://schemas.openxmlformats.org/officeDocument/2006/relationships/notesSlide" Target="/ppt/notesSlides/notesSlide15.xml" Id="R658a5fd63410459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ffc90e78ddce470d" /><Relationship Type="http://schemas.openxmlformats.org/officeDocument/2006/relationships/notesSlide" Target="/ppt/notesSlides/notesSlide16.xml" Id="Rfe7adfce1e2347c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6b88446e79844eb6" /><Relationship Type="http://schemas.openxmlformats.org/officeDocument/2006/relationships/notesSlide" Target="/ppt/notesSlides/notesSlide17.xml" Id="R7c625f21117b40e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628e939f9e6b42d6" /><Relationship Type="http://schemas.openxmlformats.org/officeDocument/2006/relationships/notesSlide" Target="/ppt/notesSlides/notesSlide18.xml" Id="Rb41e4255b36943e5" /></Relationships>
</file>

<file path=ppt/slides/slide1.xml><?xml version="1.0" encoding="utf-8"?>
<p:sld xmlns:p="http://schemas.openxmlformats.org/presentationml/2006/main">
  <p:cSld>
    <p:bg>
      <p:bgPr>
        <a:solidFill xmlns:a="http://schemas.openxmlformats.org/drawingml/2006/main">
          <a:srgbClr val="F0ECE0"/>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FF82282-2802-42F0-B663-5622685391F1}"/>
              </a:ext>
            </a:extLst>
          </p:cNvPr>
          <p:cNvSpPr>
            <a:spLocks xmlns:a="http://schemas.openxmlformats.org/drawingml/2006/main" noGrp="1"/>
          </p:cNvSpPr>
          <p:nvPr/>
        </p:nvSpPr>
        <p:spPr>
          <a:xfrm xmlns:a="http://schemas.openxmlformats.org/drawingml/2006/main">
            <a:off x="640080" y="1051560"/>
            <a:ext cx="109728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spc="140">
                <a:solidFill>
                  <a:srgbClr val="8A8578"/>
                </a:solidFill>
                <a:latin typeface="Calibri"/>
                <a:ea typeface="Calibri"/>
                <a:cs typeface="Calibri"/>
              </a:rPr>
              <a:t>CS221.F31.LT.TTNT  ·  XỬ LÝ NGÔN NGỮ TỰ NHIÊN  ·  UIT</a:t>
            </a:r>
            <a:endParaRPr sz="1400"/>
          </a:p>
        </p:txBody>
      </p:sp>
      <p:sp>
        <p:nvSpPr>
          <p:cNvPr id="3" name="Text 1">
            <a:extLst xmlns:a="http://schemas.openxmlformats.org/drawingml/2006/main">
              <a:ext uri="{FF2B5EF4-FFF2-40B4-BE49-F238E27FC236}">
                <a16:creationId xmlns:a16="http://schemas.microsoft.com/office/drawing/2014/main" id="{5DAF5E20-FA48-402F-ACC3-FC17D713AC9B}"/>
              </a:ext>
            </a:extLst>
          </p:cNvPr>
          <p:cNvSpPr>
            <a:spLocks xmlns:a="http://schemas.openxmlformats.org/drawingml/2006/main" noGrp="1"/>
          </p:cNvSpPr>
          <p:nvPr/>
        </p:nvSpPr>
        <p:spPr>
          <a:xfrm xmlns:a="http://schemas.openxmlformats.org/drawingml/2006/main">
            <a:off x="640080" y="1508760"/>
            <a:ext cx="10972800" cy="1417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400">
                <a:solidFill>
                  <a:srgbClr val="1A1A1A"/>
                </a:solidFill>
                <a:latin typeface="Georgia"/>
                <a:ea typeface="Georgia"/>
                <a:cs typeface="Georgia"/>
              </a:rPr>
              <a:t>So sánh tóm tắt rút trích</a:t>
            </a:r>
            <a:endParaRPr sz="3400"/>
          </a:p>
          <a:p xmlns:a="http://schemas.openxmlformats.org/drawingml/2006/main">
            <a:pPr marL="0" indent="0">
              <a:buNone/>
            </a:pPr>
            <a:r>
              <a:rPr sz="3400">
                <a:solidFill>
                  <a:srgbClr val="1A1A1A"/>
                </a:solidFill>
                <a:latin typeface="Georgia"/>
                <a:ea typeface="Georgia"/>
                <a:cs typeface="Georgia"/>
              </a:rPr>
              <a:t>và tóm lược trên tin tức tiếng Việt</a:t>
            </a:r>
            <a:endParaRPr sz="3400"/>
          </a:p>
        </p:txBody>
      </p:sp>
      <p:sp>
        <p:nvSpPr>
          <p:cNvPr id="4" name="Text 2">
            <a:extLst xmlns:a="http://schemas.openxmlformats.org/drawingml/2006/main">
              <a:ext uri="{FF2B5EF4-FFF2-40B4-BE49-F238E27FC236}">
                <a16:creationId xmlns:a16="http://schemas.microsoft.com/office/drawing/2014/main" id="{A7EAE14E-2477-447E-9149-4EE8ED9E591E}"/>
              </a:ext>
            </a:extLst>
          </p:cNvPr>
          <p:cNvSpPr>
            <a:spLocks xmlns:a="http://schemas.openxmlformats.org/drawingml/2006/main" noGrp="1"/>
          </p:cNvSpPr>
          <p:nvPr/>
        </p:nvSpPr>
        <p:spPr>
          <a:xfrm xmlns:a="http://schemas.openxmlformats.org/drawingml/2006/main">
            <a:off x="640080" y="3154680"/>
            <a:ext cx="1005840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i="1">
                <a:solidFill>
                  <a:srgbClr val="B8432A"/>
                </a:solidFill>
                <a:latin typeface="Georgia"/>
                <a:ea typeface="Georgia"/>
                <a:cs typeface="Georgia"/>
              </a:rPr>
              <a:t>Lead-3   ·   TextRank   ·   ViT5 dùng checkpoint có sẵn</a:t>
            </a:r>
            <a:endParaRPr sz="1800"/>
          </a:p>
        </p:txBody>
      </p:sp>
      <p:sp>
        <p:nvSpPr>
          <p:cNvPr id="5" name="Text 3">
            <a:extLst xmlns:a="http://schemas.openxmlformats.org/drawingml/2006/main">
              <a:ext uri="{FF2B5EF4-FFF2-40B4-BE49-F238E27FC236}">
                <a16:creationId xmlns:a16="http://schemas.microsoft.com/office/drawing/2014/main" id="{FA39C5DD-961A-4D22-8539-59985451C53F}"/>
              </a:ext>
            </a:extLst>
          </p:cNvPr>
          <p:cNvSpPr>
            <a:spLocks xmlns:a="http://schemas.openxmlformats.org/drawingml/2006/main" noGrp="1"/>
          </p:cNvSpPr>
          <p:nvPr/>
        </p:nvSpPr>
        <p:spPr>
          <a:xfrm xmlns:a="http://schemas.openxmlformats.org/drawingml/2006/main">
            <a:off x="640080" y="3931920"/>
            <a:ext cx="10058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1A1A1A"/>
                </a:solidFill>
                <a:latin typeface="Calibri"/>
                <a:ea typeface="Calibri"/>
                <a:cs typeface="Calibri"/>
              </a:rPr>
              <a:t>Nhóm 14</a:t>
            </a:r>
            <a:endParaRPr sz="1600"/>
          </a:p>
        </p:txBody>
      </p:sp>
      <p:sp>
        <p:nvSpPr>
          <p:cNvPr id="6" name="Text 4">
            <a:extLst xmlns:a="http://schemas.openxmlformats.org/drawingml/2006/main">
              <a:ext uri="{FF2B5EF4-FFF2-40B4-BE49-F238E27FC236}">
                <a16:creationId xmlns:a16="http://schemas.microsoft.com/office/drawing/2014/main" id="{6341EDFE-44BD-4790-9193-2291C4A62C84}"/>
              </a:ext>
            </a:extLst>
          </p:cNvPr>
          <p:cNvSpPr>
            <a:spLocks xmlns:a="http://schemas.openxmlformats.org/drawingml/2006/main" noGrp="1"/>
          </p:cNvSpPr>
          <p:nvPr/>
        </p:nvSpPr>
        <p:spPr>
          <a:xfrm xmlns:a="http://schemas.openxmlformats.org/drawingml/2006/main">
            <a:off x="640080" y="4160520"/>
            <a:ext cx="6583680" cy="10515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2B2B2B"/>
                </a:solidFill>
                <a:latin typeface="Calibri"/>
                <a:ea typeface="Calibri"/>
                <a:cs typeface="Calibri"/>
              </a:rPr>
              <a:t>Nguyễn Trí Toàn    26410135</a:t>
            </a:r>
            <a:endParaRPr sz="1600"/>
          </a:p>
          <a:p xmlns:a="http://schemas.openxmlformats.org/drawingml/2006/main">
            <a:pPr marL="0" indent="0">
              <a:buNone/>
            </a:pPr>
            <a:r>
              <a:rPr sz="1600">
                <a:solidFill>
                  <a:srgbClr val="2B2B2B"/>
                </a:solidFill>
                <a:latin typeface="Calibri"/>
                <a:ea typeface="Calibri"/>
                <a:cs typeface="Calibri"/>
              </a:rPr>
              <a:t>Nguyễn Văn Thái    26410108</a:t>
            </a:r>
            <a:endParaRPr sz="1600"/>
          </a:p>
          <a:p xmlns:a="http://schemas.openxmlformats.org/drawingml/2006/main">
            <a:pPr marL="0" indent="0">
              <a:buNone/>
            </a:pPr>
            <a:r>
              <a:rPr sz="1600">
                <a:solidFill>
                  <a:srgbClr val="2B2B2B"/>
                </a:solidFill>
                <a:latin typeface="Calibri"/>
                <a:ea typeface="Calibri"/>
                <a:cs typeface="Calibri"/>
              </a:rPr>
              <a:t>Đỗ Quốc Hoàng    26410043</a:t>
            </a:r>
            <a:endParaRPr sz="1600"/>
          </a:p>
        </p:txBody>
      </p:sp>
      <p:sp>
        <p:nvSpPr>
          <p:cNvPr id="7" name="Shape 5">
            <a:extLst xmlns:a="http://schemas.openxmlformats.org/drawingml/2006/main">
              <a:ext uri="{FF2B5EF4-FFF2-40B4-BE49-F238E27FC236}">
                <a16:creationId xmlns:a16="http://schemas.microsoft.com/office/drawing/2014/main" id="{F569E17D-2D25-46CD-AB38-735430891610}"/>
              </a:ext>
            </a:extLst>
          </p:cNvPr>
          <p:cNvSpPr>
            <a:spLocks xmlns:a="http://schemas.openxmlformats.org/drawingml/2006/main" noGrp="1"/>
          </p:cNvSpPr>
          <p:nvPr/>
        </p:nvSpPr>
        <p:spPr>
          <a:xfrm xmlns:a="http://schemas.openxmlformats.org/drawingml/2006/main">
            <a:off x="7452360" y="3977640"/>
            <a:ext cx="4114800" cy="1417320"/>
          </a:xfrm>
          <a:prstGeom xmlns:a="http://schemas.openxmlformats.org/drawingml/2006/main" prst="rect">
            <a:avLst/>
          </a:prstGeom>
          <a:solidFill xmlns:a="http://schemas.openxmlformats.org/drawingml/2006/main">
            <a:srgbClr val="F7F3E8"/>
          </a:solidFill>
          <a:ln xmlns:a="http://schemas.openxmlformats.org/drawingml/2006/main" w="9525">
            <a:solidFill>
              <a:srgbClr val="C8C0AE"/>
            </a:solidFill>
            <a:prstDash val="solid"/>
          </a:ln>
        </p:spPr>
      </p:sp>
      <p:sp>
        <p:nvSpPr>
          <p:cNvPr id="8" name="Text 6">
            <a:extLst xmlns:a="http://schemas.openxmlformats.org/drawingml/2006/main">
              <a:ext uri="{FF2B5EF4-FFF2-40B4-BE49-F238E27FC236}">
                <a16:creationId xmlns:a16="http://schemas.microsoft.com/office/drawing/2014/main" id="{7820B64A-E5FE-477A-BF54-427467D81115}"/>
              </a:ext>
            </a:extLst>
          </p:cNvPr>
          <p:cNvSpPr>
            <a:spLocks xmlns:a="http://schemas.openxmlformats.org/drawingml/2006/main" noGrp="1"/>
          </p:cNvSpPr>
          <p:nvPr/>
        </p:nvSpPr>
        <p:spPr>
          <a:xfrm xmlns:a="http://schemas.openxmlformats.org/drawingml/2006/main">
            <a:off x="7635240" y="4133088"/>
            <a:ext cx="37490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spc="80">
                <a:solidFill>
                  <a:srgbClr val="B8432A"/>
                </a:solidFill>
                <a:latin typeface="Calibri"/>
                <a:ea typeface="Calibri"/>
                <a:cs typeface="Calibri"/>
              </a:rPr>
              <a:t>GIÁO VIÊN HƯỚNG DẪN</a:t>
            </a:r>
            <a:endParaRPr sz="1200"/>
          </a:p>
        </p:txBody>
      </p:sp>
      <p:sp>
        <p:nvSpPr>
          <p:cNvPr id="9" name="Text 7">
            <a:extLst xmlns:a="http://schemas.openxmlformats.org/drawingml/2006/main">
              <a:ext uri="{FF2B5EF4-FFF2-40B4-BE49-F238E27FC236}">
                <a16:creationId xmlns:a16="http://schemas.microsoft.com/office/drawing/2014/main" id="{421B088C-9FE4-43B9-A0EF-E460C9042091}"/>
              </a:ext>
            </a:extLst>
          </p:cNvPr>
          <p:cNvSpPr>
            <a:spLocks xmlns:a="http://schemas.openxmlformats.org/drawingml/2006/main" noGrp="1"/>
          </p:cNvSpPr>
          <p:nvPr/>
        </p:nvSpPr>
        <p:spPr>
          <a:xfrm xmlns:a="http://schemas.openxmlformats.org/drawingml/2006/main">
            <a:off x="7635240" y="4572000"/>
            <a:ext cx="37490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a:solidFill>
                  <a:srgbClr val="1A1A1A"/>
                </a:solidFill>
                <a:latin typeface="Georgia"/>
                <a:ea typeface="Georgia"/>
                <a:cs typeface="Georgia"/>
              </a:rPr>
              <a:t>TS. Đặng Văn Thìn</a:t>
            </a:r>
            <a:endParaRPr sz="2000"/>
          </a:p>
        </p:txBody>
      </p:sp>
    </p:spTree>
    <p:extLst>
      <p:ext uri="{BB962C8B-B14F-4D97-AF65-F5344CB8AC3E}">
        <p14:creationId xmlns:p14="http://schemas.microsoft.com/office/powerpoint/2010/main" val="846245229"/>
      </p:ext>
    </p:extLst>
  </p:cSld>
</p:sld>
</file>

<file path=ppt/slides/slide2.xml><?xml version="1.0" encoding="utf-8"?>
<p:sld xmlns:p="http://schemas.openxmlformats.org/presentationml/2006/main">
  <p:cSld>
    <p:bg>
      <p:bgPr>
        <a:solidFill xmlns:a="http://schemas.openxmlformats.org/drawingml/2006/main">
          <a:srgbClr val="F0ECE0"/>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D2CF11B-8D05-4EA1-B5EF-4EBE94E116CF}"/>
              </a:ext>
            </a:extLst>
          </p:cNvPr>
          <p:cNvSpPr>
            <a:spLocks xmlns:a="http://schemas.openxmlformats.org/drawingml/2006/main" noGrp="1"/>
          </p:cNvSpPr>
          <p:nvPr/>
        </p:nvSpPr>
        <p:spPr>
          <a:xfrm xmlns:a="http://schemas.openxmlformats.org/drawingml/2006/main">
            <a:off x="502920" y="256032"/>
            <a:ext cx="73152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spc="120">
                <a:solidFill>
                  <a:srgbClr val="8A8578"/>
                </a:solidFill>
                <a:latin typeface="Calibri"/>
                <a:ea typeface="Calibri"/>
                <a:cs typeface="Calibri"/>
              </a:rPr>
              <a:t>02   ĐẶT VẤN ĐỀ</a:t>
            </a:r>
            <a:endParaRPr sz="1200"/>
          </a:p>
        </p:txBody>
      </p:sp>
      <p:sp>
        <p:nvSpPr>
          <p:cNvPr id="3" name="Text 1">
            <a:extLst xmlns:a="http://schemas.openxmlformats.org/drawingml/2006/main">
              <a:ext uri="{FF2B5EF4-FFF2-40B4-BE49-F238E27FC236}">
                <a16:creationId xmlns:a16="http://schemas.microsoft.com/office/drawing/2014/main" id="{DA6E59E9-352C-47C7-B5DA-3268945E96C6}"/>
              </a:ext>
            </a:extLst>
          </p:cNvPr>
          <p:cNvSpPr>
            <a:spLocks xmlns:a="http://schemas.openxmlformats.org/drawingml/2006/main" noGrp="1"/>
          </p:cNvSpPr>
          <p:nvPr/>
        </p:nvSpPr>
        <p:spPr>
          <a:xfrm xmlns:a="http://schemas.openxmlformats.org/drawingml/2006/main">
            <a:off x="6675120" y="256032"/>
            <a:ext cx="50292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300">
                <a:solidFill>
                  <a:srgbClr val="8A8578"/>
                </a:solidFill>
                <a:latin typeface="Calibri"/>
                <a:ea typeface="Calibri"/>
                <a:cs typeface="Calibri"/>
              </a:rPr>
              <a:t>Vì sao cần tóm tắt</a:t>
            </a:r>
            <a:endParaRPr sz="1300"/>
          </a:p>
        </p:txBody>
      </p:sp>
      <p:sp>
        <p:nvSpPr>
          <p:cNvPr id="4" name="Text 2">
            <a:extLst xmlns:a="http://schemas.openxmlformats.org/drawingml/2006/main">
              <a:ext uri="{FF2B5EF4-FFF2-40B4-BE49-F238E27FC236}">
                <a16:creationId xmlns:a16="http://schemas.microsoft.com/office/drawing/2014/main" id="{928DFBDB-E6EC-4D08-AA15-2FCAE9523166}"/>
              </a:ext>
            </a:extLst>
          </p:cNvPr>
          <p:cNvSpPr>
            <a:spLocks xmlns:a="http://schemas.openxmlformats.org/drawingml/2006/main" noGrp="1"/>
          </p:cNvSpPr>
          <p:nvPr/>
        </p:nvSpPr>
        <p:spPr>
          <a:xfrm xmlns:a="http://schemas.openxmlformats.org/drawingml/2006/main">
            <a:off x="502920" y="585216"/>
            <a:ext cx="1115568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a:solidFill>
                  <a:srgbClr val="1A1A1A"/>
                </a:solidFill>
                <a:latin typeface="Georgia"/>
                <a:ea typeface="Georgia"/>
                <a:cs typeface="Georgia"/>
              </a:rPr>
              <a:t>Nhu cầu tóm tắt tin tức</a:t>
            </a:r>
            <a:endParaRPr sz="2800"/>
          </a:p>
        </p:txBody>
      </p:sp>
      <p:sp>
        <p:nvSpPr>
          <p:cNvPr id="5" name="Shape 3">
            <a:extLst xmlns:a="http://schemas.openxmlformats.org/drawingml/2006/main">
              <a:ext uri="{FF2B5EF4-FFF2-40B4-BE49-F238E27FC236}">
                <a16:creationId xmlns:a16="http://schemas.microsoft.com/office/drawing/2014/main" id="{0D0958B1-7AB7-470D-BF5A-B0D8C409BA1F}"/>
              </a:ext>
            </a:extLst>
          </p:cNvPr>
          <p:cNvSpPr>
            <a:spLocks xmlns:a="http://schemas.openxmlformats.org/drawingml/2006/main" noGrp="1"/>
          </p:cNvSpPr>
          <p:nvPr/>
        </p:nvSpPr>
        <p:spPr>
          <a:xfrm xmlns:a="http://schemas.openxmlformats.org/drawingml/2006/main">
            <a:off x="502920" y="1417320"/>
            <a:ext cx="11155680" cy="1389888"/>
          </a:xfrm>
          <a:prstGeom xmlns:a="http://schemas.openxmlformats.org/drawingml/2006/main" prst="rect">
            <a:avLst/>
          </a:prstGeom>
          <a:solidFill xmlns:a="http://schemas.openxmlformats.org/drawingml/2006/main">
            <a:srgbClr val="F7F3E8"/>
          </a:solidFill>
          <a:ln xmlns:a="http://schemas.openxmlformats.org/drawingml/2006/main" w="9525">
            <a:solidFill>
              <a:srgbClr val="C8C0AE"/>
            </a:solidFill>
            <a:prstDash val="solid"/>
          </a:ln>
        </p:spPr>
      </p:sp>
      <p:sp>
        <p:nvSpPr>
          <p:cNvPr id="6" name="Text 4">
            <a:extLst xmlns:a="http://schemas.openxmlformats.org/drawingml/2006/main">
              <a:ext uri="{FF2B5EF4-FFF2-40B4-BE49-F238E27FC236}">
                <a16:creationId xmlns:a16="http://schemas.microsoft.com/office/drawing/2014/main" id="{404B8428-45B9-46C9-9D93-8CF317CEC005}"/>
              </a:ext>
            </a:extLst>
          </p:cNvPr>
          <p:cNvSpPr>
            <a:spLocks xmlns:a="http://schemas.openxmlformats.org/drawingml/2006/main" noGrp="1"/>
          </p:cNvSpPr>
          <p:nvPr/>
        </p:nvSpPr>
        <p:spPr>
          <a:xfrm xmlns:a="http://schemas.openxmlformats.org/drawingml/2006/main">
            <a:off x="777240" y="1618488"/>
            <a:ext cx="106070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a:solidFill>
                  <a:srgbClr val="B8432A"/>
                </a:solidFill>
                <a:latin typeface="Calibri"/>
                <a:ea typeface="Calibri"/>
                <a:cs typeface="Calibri"/>
              </a:rPr>
              <a:t>Tin tức dài</a:t>
            </a:r>
            <a:endParaRPr sz="2000"/>
          </a:p>
        </p:txBody>
      </p:sp>
      <p:sp>
        <p:nvSpPr>
          <p:cNvPr id="7" name="Text 5">
            <a:extLst xmlns:a="http://schemas.openxmlformats.org/drawingml/2006/main">
              <a:ext uri="{FF2B5EF4-FFF2-40B4-BE49-F238E27FC236}">
                <a16:creationId xmlns:a16="http://schemas.microsoft.com/office/drawing/2014/main" id="{2E4770EF-6D39-4FA3-906E-EDB13253614A}"/>
              </a:ext>
            </a:extLst>
          </p:cNvPr>
          <p:cNvSpPr>
            <a:spLocks xmlns:a="http://schemas.openxmlformats.org/drawingml/2006/main" noGrp="1"/>
          </p:cNvSpPr>
          <p:nvPr/>
        </p:nvSpPr>
        <p:spPr>
          <a:xfrm xmlns:a="http://schemas.openxmlformats.org/drawingml/2006/main">
            <a:off x="777240" y="2075688"/>
            <a:ext cx="1060704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a:solidFill>
                  <a:srgbClr val="2B2B2B"/>
                </a:solidFill>
                <a:latin typeface="Calibri"/>
                <a:ea typeface="Calibri"/>
                <a:cs typeface="Calibri"/>
              </a:rPr>
              <a:t>Một bài có thể vài trăm từ. Người đọc cần nắm việc chính mà không đọc hết.</a:t>
            </a:r>
            <a:endParaRPr sz="1800"/>
          </a:p>
        </p:txBody>
      </p:sp>
      <p:sp>
        <p:nvSpPr>
          <p:cNvPr id="8" name="Shape 6">
            <a:extLst xmlns:a="http://schemas.openxmlformats.org/drawingml/2006/main">
              <a:ext uri="{FF2B5EF4-FFF2-40B4-BE49-F238E27FC236}">
                <a16:creationId xmlns:a16="http://schemas.microsoft.com/office/drawing/2014/main" id="{444824FB-DFF4-4D1D-B9F3-7BE7CDF091D5}"/>
              </a:ext>
            </a:extLst>
          </p:cNvPr>
          <p:cNvSpPr>
            <a:spLocks xmlns:a="http://schemas.openxmlformats.org/drawingml/2006/main" noGrp="1"/>
          </p:cNvSpPr>
          <p:nvPr/>
        </p:nvSpPr>
        <p:spPr>
          <a:xfrm xmlns:a="http://schemas.openxmlformats.org/drawingml/2006/main">
            <a:off x="502920" y="2971800"/>
            <a:ext cx="11155680" cy="1389888"/>
          </a:xfrm>
          <a:prstGeom xmlns:a="http://schemas.openxmlformats.org/drawingml/2006/main" prst="rect">
            <a:avLst/>
          </a:prstGeom>
          <a:solidFill xmlns:a="http://schemas.openxmlformats.org/drawingml/2006/main">
            <a:srgbClr val="F7F3E8"/>
          </a:solidFill>
          <a:ln xmlns:a="http://schemas.openxmlformats.org/drawingml/2006/main" w="9525">
            <a:solidFill>
              <a:srgbClr val="C8C0AE"/>
            </a:solidFill>
            <a:prstDash val="solid"/>
          </a:ln>
        </p:spPr>
      </p:sp>
      <p:sp>
        <p:nvSpPr>
          <p:cNvPr id="9" name="Text 7">
            <a:extLst xmlns:a="http://schemas.openxmlformats.org/drawingml/2006/main">
              <a:ext uri="{FF2B5EF4-FFF2-40B4-BE49-F238E27FC236}">
                <a16:creationId xmlns:a16="http://schemas.microsoft.com/office/drawing/2014/main" id="{B6BCE467-A2FC-49C7-9343-46194FF7F043}"/>
              </a:ext>
            </a:extLst>
          </p:cNvPr>
          <p:cNvSpPr>
            <a:spLocks xmlns:a="http://schemas.openxmlformats.org/drawingml/2006/main" noGrp="1"/>
          </p:cNvSpPr>
          <p:nvPr/>
        </p:nvSpPr>
        <p:spPr>
          <a:xfrm xmlns:a="http://schemas.openxmlformats.org/drawingml/2006/main">
            <a:off x="777240" y="3172968"/>
            <a:ext cx="106070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a:solidFill>
                  <a:srgbClr val="B8432A"/>
                </a:solidFill>
                <a:latin typeface="Calibri"/>
                <a:ea typeface="Calibri"/>
                <a:cs typeface="Calibri"/>
              </a:rPr>
              <a:t>Bản ngắn hơn</a:t>
            </a:r>
            <a:endParaRPr sz="2000"/>
          </a:p>
        </p:txBody>
      </p:sp>
      <p:sp>
        <p:nvSpPr>
          <p:cNvPr id="10" name="Text 8">
            <a:extLst xmlns:a="http://schemas.openxmlformats.org/drawingml/2006/main">
              <a:ext uri="{FF2B5EF4-FFF2-40B4-BE49-F238E27FC236}">
                <a16:creationId xmlns:a16="http://schemas.microsoft.com/office/drawing/2014/main" id="{492DE2F4-849C-4386-91A8-E20430B85615}"/>
              </a:ext>
            </a:extLst>
          </p:cNvPr>
          <p:cNvSpPr>
            <a:spLocks xmlns:a="http://schemas.openxmlformats.org/drawingml/2006/main" noGrp="1"/>
          </p:cNvSpPr>
          <p:nvPr/>
        </p:nvSpPr>
        <p:spPr>
          <a:xfrm xmlns:a="http://schemas.openxmlformats.org/drawingml/2006/main">
            <a:off x="777240" y="3630168"/>
            <a:ext cx="1060704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a:solidFill>
                  <a:srgbClr val="2B2B2B"/>
                </a:solidFill>
                <a:latin typeface="Calibri"/>
                <a:ea typeface="Calibri"/>
                <a:cs typeface="Calibri"/>
              </a:rPr>
              <a:t>Hệ đọc thân bài rồi viết lại thành vài câu.</a:t>
            </a:r>
            <a:endParaRPr sz="1800"/>
          </a:p>
        </p:txBody>
      </p:sp>
      <p:sp>
        <p:nvSpPr>
          <p:cNvPr id="11" name="Shape 9">
            <a:extLst xmlns:a="http://schemas.openxmlformats.org/drawingml/2006/main">
              <a:ext uri="{FF2B5EF4-FFF2-40B4-BE49-F238E27FC236}">
                <a16:creationId xmlns:a16="http://schemas.microsoft.com/office/drawing/2014/main" id="{A42A15AC-FB4B-4187-A0A7-B9A699FFC52D}"/>
              </a:ext>
            </a:extLst>
          </p:cNvPr>
          <p:cNvSpPr>
            <a:spLocks xmlns:a="http://schemas.openxmlformats.org/drawingml/2006/main" noGrp="1"/>
          </p:cNvSpPr>
          <p:nvPr/>
        </p:nvSpPr>
        <p:spPr>
          <a:xfrm xmlns:a="http://schemas.openxmlformats.org/drawingml/2006/main">
            <a:off x="502920" y="4526280"/>
            <a:ext cx="11155680" cy="1389888"/>
          </a:xfrm>
          <a:prstGeom xmlns:a="http://schemas.openxmlformats.org/drawingml/2006/main" prst="rect">
            <a:avLst/>
          </a:prstGeom>
          <a:solidFill xmlns:a="http://schemas.openxmlformats.org/drawingml/2006/main">
            <a:srgbClr val="F7F3E8"/>
          </a:solidFill>
          <a:ln xmlns:a="http://schemas.openxmlformats.org/drawingml/2006/main" w="9525">
            <a:solidFill>
              <a:srgbClr val="C8C0AE"/>
            </a:solidFill>
            <a:prstDash val="solid"/>
          </a:ln>
        </p:spPr>
      </p:sp>
      <p:sp>
        <p:nvSpPr>
          <p:cNvPr id="12" name="Text 10">
            <a:extLst xmlns:a="http://schemas.openxmlformats.org/drawingml/2006/main">
              <a:ext uri="{FF2B5EF4-FFF2-40B4-BE49-F238E27FC236}">
                <a16:creationId xmlns:a16="http://schemas.microsoft.com/office/drawing/2014/main" id="{1FC0D263-6E2B-417B-B7E3-057446FE8EF2}"/>
              </a:ext>
            </a:extLst>
          </p:cNvPr>
          <p:cNvSpPr>
            <a:spLocks xmlns:a="http://schemas.openxmlformats.org/drawingml/2006/main" noGrp="1"/>
          </p:cNvSpPr>
          <p:nvPr/>
        </p:nvSpPr>
        <p:spPr>
          <a:xfrm xmlns:a="http://schemas.openxmlformats.org/drawingml/2006/main">
            <a:off x="777240" y="4727448"/>
            <a:ext cx="106070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a:solidFill>
                  <a:srgbClr val="B8432A"/>
                </a:solidFill>
                <a:latin typeface="Calibri"/>
                <a:ea typeface="Calibri"/>
                <a:cs typeface="Calibri"/>
              </a:rPr>
              <a:t>Dễ sai</a:t>
            </a:r>
            <a:endParaRPr sz="2000"/>
          </a:p>
        </p:txBody>
      </p:sp>
      <p:sp>
        <p:nvSpPr>
          <p:cNvPr id="13" name="Text 11">
            <a:extLst xmlns:a="http://schemas.openxmlformats.org/drawingml/2006/main">
              <a:ext uri="{FF2B5EF4-FFF2-40B4-BE49-F238E27FC236}">
                <a16:creationId xmlns:a16="http://schemas.microsoft.com/office/drawing/2014/main" id="{24D00DC9-736B-4745-B541-B1AF5018E037}"/>
              </a:ext>
            </a:extLst>
          </p:cNvPr>
          <p:cNvSpPr>
            <a:spLocks xmlns:a="http://schemas.openxmlformats.org/drawingml/2006/main" noGrp="1"/>
          </p:cNvSpPr>
          <p:nvPr/>
        </p:nvSpPr>
        <p:spPr>
          <a:xfrm xmlns:a="http://schemas.openxmlformats.org/drawingml/2006/main">
            <a:off x="777240" y="5184648"/>
            <a:ext cx="1060704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a:solidFill>
                  <a:srgbClr val="2B2B2B"/>
                </a:solidFill>
                <a:latin typeface="Calibri"/>
                <a:ea typeface="Calibri"/>
                <a:cs typeface="Calibri"/>
              </a:rPr>
              <a:t>Bản ngắn có thể bỏ mất ý, hoặc thêm điều bài không nói.</a:t>
            </a:r>
            <a:endParaRPr sz="1800"/>
          </a:p>
        </p:txBody>
      </p:sp>
      <p:sp>
        <p:nvSpPr>
          <p:cNvPr id="14" name="Text 12">
            <a:extLst xmlns:a="http://schemas.openxmlformats.org/drawingml/2006/main">
              <a:ext uri="{FF2B5EF4-FFF2-40B4-BE49-F238E27FC236}">
                <a16:creationId xmlns:a16="http://schemas.microsoft.com/office/drawing/2014/main" id="{3D89E2E9-8B08-406D-93F7-8D57C9AF1F9F}"/>
              </a:ext>
            </a:extLst>
          </p:cNvPr>
          <p:cNvSpPr>
            <a:spLocks xmlns:a="http://schemas.openxmlformats.org/drawingml/2006/main" noGrp="1"/>
          </p:cNvSpPr>
          <p:nvPr/>
        </p:nvSpPr>
        <p:spPr>
          <a:xfrm xmlns:a="http://schemas.openxmlformats.org/drawingml/2006/main">
            <a:off x="502920" y="6492240"/>
            <a:ext cx="73152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B5AFA0"/>
                </a:solidFill>
                <a:latin typeface="Calibri"/>
                <a:ea typeface="Calibri"/>
                <a:cs typeface="Calibri"/>
              </a:rPr>
              <a:t>CS221 · UIT · Nhóm 14</a:t>
            </a:r>
            <a:endParaRPr sz="1100"/>
          </a:p>
        </p:txBody>
      </p:sp>
      <p:sp>
        <p:nvSpPr>
          <p:cNvPr id="15" name="Text 13">
            <a:extLst xmlns:a="http://schemas.openxmlformats.org/drawingml/2006/main">
              <a:ext uri="{FF2B5EF4-FFF2-40B4-BE49-F238E27FC236}">
                <a16:creationId xmlns:a16="http://schemas.microsoft.com/office/drawing/2014/main" id="{F29286C9-FC3F-440C-92F3-86C9442D0637}"/>
              </a:ext>
            </a:extLst>
          </p:cNvPr>
          <p:cNvSpPr>
            <a:spLocks xmlns:a="http://schemas.openxmlformats.org/drawingml/2006/main" noGrp="1"/>
          </p:cNvSpPr>
          <p:nvPr/>
        </p:nvSpPr>
        <p:spPr>
          <a:xfrm xmlns:a="http://schemas.openxmlformats.org/drawingml/2006/main">
            <a:off x="10424160" y="6492240"/>
            <a:ext cx="128016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100">
                <a:solidFill>
                  <a:srgbClr val="8A8578"/>
                </a:solidFill>
                <a:latin typeface="Calibri"/>
                <a:ea typeface="Calibri"/>
                <a:cs typeface="Calibri"/>
              </a:rPr>
              <a:t>2</a:t>
            </a:r>
            <a:endParaRPr sz="1100"/>
          </a:p>
        </p:txBody>
      </p:sp>
    </p:spTree>
    <p:extLst>
      <p:ext uri="{BB962C8B-B14F-4D97-AF65-F5344CB8AC3E}">
        <p14:creationId xmlns:p14="http://schemas.microsoft.com/office/powerpoint/2010/main" val="405818829"/>
      </p:ext>
    </p:extLst>
  </p:cSld>
</p:sld>
</file>

<file path=ppt/slides/slide3.xml><?xml version="1.0" encoding="utf-8"?>
<p:sld xmlns:p="http://schemas.openxmlformats.org/presentationml/2006/main">
  <p:cSld>
    <p:bg>
      <p:bgPr>
        <a:solidFill xmlns:a="http://schemas.openxmlformats.org/drawingml/2006/main">
          <a:srgbClr val="F0ECE0"/>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03CF842-3E32-46CB-99F4-BC938995F6C5}"/>
              </a:ext>
            </a:extLst>
          </p:cNvPr>
          <p:cNvSpPr>
            <a:spLocks xmlns:a="http://schemas.openxmlformats.org/drawingml/2006/main" noGrp="1"/>
          </p:cNvSpPr>
          <p:nvPr/>
        </p:nvSpPr>
        <p:spPr>
          <a:xfrm xmlns:a="http://schemas.openxmlformats.org/drawingml/2006/main">
            <a:off x="502920" y="256032"/>
            <a:ext cx="73152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spc="120">
                <a:solidFill>
                  <a:srgbClr val="8A8578"/>
                </a:solidFill>
                <a:latin typeface="Calibri"/>
                <a:ea typeface="Calibri"/>
                <a:cs typeface="Calibri"/>
              </a:rPr>
              <a:t>03   MỤC TIÊU</a:t>
            </a:r>
            <a:endParaRPr sz="1200"/>
          </a:p>
        </p:txBody>
      </p:sp>
      <p:sp>
        <p:nvSpPr>
          <p:cNvPr id="3" name="Text 1">
            <a:extLst xmlns:a="http://schemas.openxmlformats.org/drawingml/2006/main">
              <a:ext uri="{FF2B5EF4-FFF2-40B4-BE49-F238E27FC236}">
                <a16:creationId xmlns:a16="http://schemas.microsoft.com/office/drawing/2014/main" id="{671134D8-1BAC-4073-8F59-F0BF9D50D6C2}"/>
              </a:ext>
            </a:extLst>
          </p:cNvPr>
          <p:cNvSpPr>
            <a:spLocks xmlns:a="http://schemas.openxmlformats.org/drawingml/2006/main" noGrp="1"/>
          </p:cNvSpPr>
          <p:nvPr/>
        </p:nvSpPr>
        <p:spPr>
          <a:xfrm xmlns:a="http://schemas.openxmlformats.org/drawingml/2006/main">
            <a:off x="6675120" y="256032"/>
            <a:ext cx="50292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300">
                <a:solidFill>
                  <a:srgbClr val="8A8578"/>
                </a:solidFill>
                <a:latin typeface="Calibri"/>
                <a:ea typeface="Calibri"/>
                <a:cs typeface="Calibri"/>
              </a:rPr>
              <a:t>Câu hỏi của đồ án</a:t>
            </a:r>
            <a:endParaRPr sz="1300"/>
          </a:p>
        </p:txBody>
      </p:sp>
      <p:sp>
        <p:nvSpPr>
          <p:cNvPr id="4" name="Text 2">
            <a:extLst xmlns:a="http://schemas.openxmlformats.org/drawingml/2006/main">
              <a:ext uri="{FF2B5EF4-FFF2-40B4-BE49-F238E27FC236}">
                <a16:creationId xmlns:a16="http://schemas.microsoft.com/office/drawing/2014/main" id="{CE0DCEA6-3A65-42F2-88F8-3E5FD97D6C2A}"/>
              </a:ext>
            </a:extLst>
          </p:cNvPr>
          <p:cNvSpPr>
            <a:spLocks xmlns:a="http://schemas.openxmlformats.org/drawingml/2006/main" noGrp="1"/>
          </p:cNvSpPr>
          <p:nvPr/>
        </p:nvSpPr>
        <p:spPr>
          <a:xfrm xmlns:a="http://schemas.openxmlformats.org/drawingml/2006/main">
            <a:off x="502920" y="585216"/>
            <a:ext cx="1115568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a:solidFill>
                  <a:srgbClr val="1A1A1A"/>
                </a:solidFill>
                <a:latin typeface="Georgia"/>
                <a:ea typeface="Georgia"/>
                <a:cs typeface="Georgia"/>
              </a:rPr>
              <a:t>Mục tiêu và phạm vi so sánh</a:t>
            </a:r>
            <a:endParaRPr sz="2800"/>
          </a:p>
        </p:txBody>
      </p:sp>
      <p:sp>
        <p:nvSpPr>
          <p:cNvPr id="5" name="Shape 3">
            <a:extLst xmlns:a="http://schemas.openxmlformats.org/drawingml/2006/main">
              <a:ext uri="{FF2B5EF4-FFF2-40B4-BE49-F238E27FC236}">
                <a16:creationId xmlns:a16="http://schemas.microsoft.com/office/drawing/2014/main" id="{4C0DD14A-A496-4560-950C-6DC55AC57E46}"/>
              </a:ext>
            </a:extLst>
          </p:cNvPr>
          <p:cNvSpPr>
            <a:spLocks xmlns:a="http://schemas.openxmlformats.org/drawingml/2006/main" noGrp="1"/>
          </p:cNvSpPr>
          <p:nvPr/>
        </p:nvSpPr>
        <p:spPr>
          <a:xfrm xmlns:a="http://schemas.openxmlformats.org/drawingml/2006/main">
            <a:off x="502920" y="1371600"/>
            <a:ext cx="11155680" cy="1965960"/>
          </a:xfrm>
          <a:prstGeom xmlns:a="http://schemas.openxmlformats.org/drawingml/2006/main" prst="rect">
            <a:avLst/>
          </a:prstGeom>
          <a:solidFill xmlns:a="http://schemas.openxmlformats.org/drawingml/2006/main">
            <a:srgbClr val="F2E5D0"/>
          </a:solidFill>
          <a:ln xmlns:a="http://schemas.openxmlformats.org/drawingml/2006/main" w="9525">
            <a:solidFill>
              <a:srgbClr val="C8C0AE"/>
            </a:solidFill>
            <a:prstDash val="solid"/>
          </a:ln>
        </p:spPr>
      </p:sp>
      <p:sp>
        <p:nvSpPr>
          <p:cNvPr id="6" name="Text 4">
            <a:extLst xmlns:a="http://schemas.openxmlformats.org/drawingml/2006/main">
              <a:ext uri="{FF2B5EF4-FFF2-40B4-BE49-F238E27FC236}">
                <a16:creationId xmlns:a16="http://schemas.microsoft.com/office/drawing/2014/main" id="{90EC7129-37B1-49F8-A73E-27D98E14CB4E}"/>
              </a:ext>
            </a:extLst>
          </p:cNvPr>
          <p:cNvSpPr>
            <a:spLocks xmlns:a="http://schemas.openxmlformats.org/drawingml/2006/main" noGrp="1"/>
          </p:cNvSpPr>
          <p:nvPr/>
        </p:nvSpPr>
        <p:spPr>
          <a:xfrm xmlns:a="http://schemas.openxmlformats.org/drawingml/2006/main">
            <a:off x="777240" y="1600200"/>
            <a:ext cx="10607040" cy="1508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400">
                <a:solidFill>
                  <a:srgbClr val="1A1A1A"/>
                </a:solidFill>
                <a:latin typeface="Georgia"/>
                <a:ea typeface="Georgia"/>
                <a:cs typeface="Georgia"/>
              </a:rPr>
              <a:t>Trên cùng tập test, Lead-3, TextRank và ViT5 khác nhau thế nào về ROUGE, và khi đọc tay thì mỗi hệ sai kiểu gì?</a:t>
            </a:r>
            <a:endParaRPr sz="2400"/>
          </a:p>
        </p:txBody>
      </p:sp>
      <p:sp>
        <p:nvSpPr>
          <p:cNvPr id="7" name="Shape 5">
            <a:extLst xmlns:a="http://schemas.openxmlformats.org/drawingml/2006/main">
              <a:ext uri="{FF2B5EF4-FFF2-40B4-BE49-F238E27FC236}">
                <a16:creationId xmlns:a16="http://schemas.microsoft.com/office/drawing/2014/main" id="{300580D7-CBD7-4D84-A731-CED539350883}"/>
              </a:ext>
            </a:extLst>
          </p:cNvPr>
          <p:cNvSpPr>
            <a:spLocks xmlns:a="http://schemas.openxmlformats.org/drawingml/2006/main" noGrp="1"/>
          </p:cNvSpPr>
          <p:nvPr/>
        </p:nvSpPr>
        <p:spPr>
          <a:xfrm xmlns:a="http://schemas.openxmlformats.org/drawingml/2006/main">
            <a:off x="502920" y="3566160"/>
            <a:ext cx="5577840" cy="2468880"/>
          </a:xfrm>
          <a:prstGeom xmlns:a="http://schemas.openxmlformats.org/drawingml/2006/main" prst="rect">
            <a:avLst/>
          </a:prstGeom>
          <a:solidFill xmlns:a="http://schemas.openxmlformats.org/drawingml/2006/main">
            <a:srgbClr val="F7F3E8"/>
          </a:solidFill>
          <a:ln xmlns:a="http://schemas.openxmlformats.org/drawingml/2006/main" w="9525">
            <a:solidFill>
              <a:srgbClr val="C8C0AE"/>
            </a:solidFill>
            <a:prstDash val="solid"/>
          </a:ln>
        </p:spPr>
      </p:sp>
      <p:sp>
        <p:nvSpPr>
          <p:cNvPr id="8" name="Text 6">
            <a:extLst xmlns:a="http://schemas.openxmlformats.org/drawingml/2006/main">
              <a:ext uri="{FF2B5EF4-FFF2-40B4-BE49-F238E27FC236}">
                <a16:creationId xmlns:a16="http://schemas.microsoft.com/office/drawing/2014/main" id="{4124F246-0F35-4583-B940-FBC30374BF1C}"/>
              </a:ext>
            </a:extLst>
          </p:cNvPr>
          <p:cNvSpPr>
            <a:spLocks xmlns:a="http://schemas.openxmlformats.org/drawingml/2006/main" noGrp="1"/>
          </p:cNvSpPr>
          <p:nvPr/>
        </p:nvSpPr>
        <p:spPr>
          <a:xfrm xmlns:a="http://schemas.openxmlformats.org/drawingml/2006/main">
            <a:off x="777240" y="3749040"/>
            <a:ext cx="50292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B8432A"/>
                </a:solidFill>
                <a:latin typeface="Calibri"/>
                <a:ea typeface="Calibri"/>
                <a:cs typeface="Calibri"/>
              </a:rPr>
              <a:t>Nhóm làm</a:t>
            </a:r>
            <a:endParaRPr sz="1600"/>
          </a:p>
        </p:txBody>
      </p:sp>
      <p:sp>
        <p:nvSpPr>
          <p:cNvPr id="9" name="Text 7">
            <a:extLst xmlns:a="http://schemas.openxmlformats.org/drawingml/2006/main">
              <a:ext uri="{FF2B5EF4-FFF2-40B4-BE49-F238E27FC236}">
                <a16:creationId xmlns:a16="http://schemas.microsoft.com/office/drawing/2014/main" id="{29B97A59-91AC-409F-AE6A-D573209DBD39}"/>
              </a:ext>
            </a:extLst>
          </p:cNvPr>
          <p:cNvSpPr>
            <a:spLocks xmlns:a="http://schemas.openxmlformats.org/drawingml/2006/main" noGrp="1"/>
          </p:cNvSpPr>
          <p:nvPr/>
        </p:nvSpPr>
        <p:spPr>
          <a:xfrm xmlns:a="http://schemas.openxmlformats.org/drawingml/2006/main">
            <a:off x="777240" y="4251960"/>
            <a:ext cx="5029200" cy="1463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a:solidFill>
                  <a:srgbClr val="2B2B2B"/>
                </a:solidFill>
                <a:latin typeface="Calibri"/>
                <a:ea typeface="Calibri"/>
                <a:cs typeface="Calibri"/>
              </a:rPr>
              <a:t>So sánh ROUGE trên 500 bài và rà soát lỗi trên 100 bài đầu.</a:t>
            </a:r>
            <a:endParaRPr sz="1800"/>
          </a:p>
        </p:txBody>
      </p:sp>
      <p:sp>
        <p:nvSpPr>
          <p:cNvPr id="10" name="Shape 8">
            <a:extLst xmlns:a="http://schemas.openxmlformats.org/drawingml/2006/main">
              <a:ext uri="{FF2B5EF4-FFF2-40B4-BE49-F238E27FC236}">
                <a16:creationId xmlns:a16="http://schemas.microsoft.com/office/drawing/2014/main" id="{F0F3BFD3-0BE5-4E1C-B6D3-78156A5BCEE2}"/>
              </a:ext>
            </a:extLst>
          </p:cNvPr>
          <p:cNvSpPr>
            <a:spLocks xmlns:a="http://schemas.openxmlformats.org/drawingml/2006/main" noGrp="1"/>
          </p:cNvSpPr>
          <p:nvPr/>
        </p:nvSpPr>
        <p:spPr>
          <a:xfrm xmlns:a="http://schemas.openxmlformats.org/drawingml/2006/main">
            <a:off x="6309360" y="3566160"/>
            <a:ext cx="5577840" cy="2468880"/>
          </a:xfrm>
          <a:prstGeom xmlns:a="http://schemas.openxmlformats.org/drawingml/2006/main" prst="rect">
            <a:avLst/>
          </a:prstGeom>
          <a:solidFill xmlns:a="http://schemas.openxmlformats.org/drawingml/2006/main">
            <a:srgbClr val="F7F3E8"/>
          </a:solidFill>
          <a:ln xmlns:a="http://schemas.openxmlformats.org/drawingml/2006/main" w="9525">
            <a:solidFill>
              <a:srgbClr val="C8C0AE"/>
            </a:solidFill>
            <a:prstDash val="solid"/>
          </a:ln>
        </p:spPr>
      </p:sp>
      <p:sp>
        <p:nvSpPr>
          <p:cNvPr id="11" name="Text 9">
            <a:extLst xmlns:a="http://schemas.openxmlformats.org/drawingml/2006/main">
              <a:ext uri="{FF2B5EF4-FFF2-40B4-BE49-F238E27FC236}">
                <a16:creationId xmlns:a16="http://schemas.microsoft.com/office/drawing/2014/main" id="{7847D179-6516-4CEE-9836-FD73FA5B6075}"/>
              </a:ext>
            </a:extLst>
          </p:cNvPr>
          <p:cNvSpPr>
            <a:spLocks xmlns:a="http://schemas.openxmlformats.org/drawingml/2006/main" noGrp="1"/>
          </p:cNvSpPr>
          <p:nvPr/>
        </p:nvSpPr>
        <p:spPr>
          <a:xfrm xmlns:a="http://schemas.openxmlformats.org/drawingml/2006/main">
            <a:off x="6583680" y="3749040"/>
            <a:ext cx="50292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B8432A"/>
                </a:solidFill>
                <a:latin typeface="Calibri"/>
                <a:ea typeface="Calibri"/>
                <a:cs typeface="Calibri"/>
              </a:rPr>
              <a:t>Giới hạn</a:t>
            </a:r>
            <a:endParaRPr sz="1600"/>
          </a:p>
        </p:txBody>
      </p:sp>
      <p:sp>
        <p:nvSpPr>
          <p:cNvPr id="12" name="Text 10">
            <a:extLst xmlns:a="http://schemas.openxmlformats.org/drawingml/2006/main">
              <a:ext uri="{FF2B5EF4-FFF2-40B4-BE49-F238E27FC236}">
                <a16:creationId xmlns:a16="http://schemas.microsoft.com/office/drawing/2014/main" id="{0B4682FC-B4A0-40E3-A31D-FFC3E9FCD81C}"/>
              </a:ext>
            </a:extLst>
          </p:cNvPr>
          <p:cNvSpPr>
            <a:spLocks xmlns:a="http://schemas.openxmlformats.org/drawingml/2006/main" noGrp="1"/>
          </p:cNvSpPr>
          <p:nvPr/>
        </p:nvSpPr>
        <p:spPr>
          <a:xfrm xmlns:a="http://schemas.openxmlformats.org/drawingml/2006/main">
            <a:off x="6583680" y="4251960"/>
            <a:ext cx="5029200" cy="1463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a:solidFill>
                  <a:srgbClr val="2B2B2B"/>
                </a:solidFill>
                <a:latin typeface="Calibri"/>
                <a:ea typeface="Calibri"/>
                <a:cs typeface="Calibri"/>
              </a:rPr>
              <a:t>Tóm tắt đơn văn bản. Dùng checkpoint ViT5 có sẵn, không huấn luyện thêm.</a:t>
            </a:r>
            <a:endParaRPr sz="1800"/>
          </a:p>
        </p:txBody>
      </p:sp>
      <p:sp>
        <p:nvSpPr>
          <p:cNvPr id="13" name="Text 11">
            <a:extLst xmlns:a="http://schemas.openxmlformats.org/drawingml/2006/main">
              <a:ext uri="{FF2B5EF4-FFF2-40B4-BE49-F238E27FC236}">
                <a16:creationId xmlns:a16="http://schemas.microsoft.com/office/drawing/2014/main" id="{687649D8-78FA-47E9-B626-0AD393A984D6}"/>
              </a:ext>
            </a:extLst>
          </p:cNvPr>
          <p:cNvSpPr>
            <a:spLocks xmlns:a="http://schemas.openxmlformats.org/drawingml/2006/main" noGrp="1"/>
          </p:cNvSpPr>
          <p:nvPr/>
        </p:nvSpPr>
        <p:spPr>
          <a:xfrm xmlns:a="http://schemas.openxmlformats.org/drawingml/2006/main">
            <a:off x="502920" y="6492240"/>
            <a:ext cx="73152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B5AFA0"/>
                </a:solidFill>
                <a:latin typeface="Calibri"/>
                <a:ea typeface="Calibri"/>
                <a:cs typeface="Calibri"/>
              </a:rPr>
              <a:t>CS221 · UIT · Nhóm 14</a:t>
            </a:r>
            <a:endParaRPr sz="1100"/>
          </a:p>
        </p:txBody>
      </p:sp>
      <p:sp>
        <p:nvSpPr>
          <p:cNvPr id="14" name="Text 12">
            <a:extLst xmlns:a="http://schemas.openxmlformats.org/drawingml/2006/main">
              <a:ext uri="{FF2B5EF4-FFF2-40B4-BE49-F238E27FC236}">
                <a16:creationId xmlns:a16="http://schemas.microsoft.com/office/drawing/2014/main" id="{8862440E-76D3-47C9-8169-FE3D6C4E425A}"/>
              </a:ext>
            </a:extLst>
          </p:cNvPr>
          <p:cNvSpPr>
            <a:spLocks xmlns:a="http://schemas.openxmlformats.org/drawingml/2006/main" noGrp="1"/>
          </p:cNvSpPr>
          <p:nvPr/>
        </p:nvSpPr>
        <p:spPr>
          <a:xfrm xmlns:a="http://schemas.openxmlformats.org/drawingml/2006/main">
            <a:off x="10424160" y="6492240"/>
            <a:ext cx="128016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100">
                <a:solidFill>
                  <a:srgbClr val="8A8578"/>
                </a:solidFill>
                <a:latin typeface="Calibri"/>
                <a:ea typeface="Calibri"/>
                <a:cs typeface="Calibri"/>
              </a:rPr>
              <a:t>3</a:t>
            </a:r>
            <a:endParaRPr sz="1100"/>
          </a:p>
        </p:txBody>
      </p:sp>
    </p:spTree>
    <p:extLst>
      <p:ext uri="{BB962C8B-B14F-4D97-AF65-F5344CB8AC3E}">
        <p14:creationId xmlns:p14="http://schemas.microsoft.com/office/powerpoint/2010/main" val="620576797"/>
      </p:ext>
    </p:extLst>
  </p:cSld>
</p:sld>
</file>

<file path=ppt/slides/slide4.xml><?xml version="1.0" encoding="utf-8"?>
<p:sld xmlns:p="http://schemas.openxmlformats.org/presentationml/2006/main">
  <p:cSld>
    <p:bg>
      <p:bgPr>
        <a:solidFill xmlns:a="http://schemas.openxmlformats.org/drawingml/2006/main">
          <a:srgbClr val="F0ECE0"/>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945F9C6B-2A90-490E-BAAF-6A9981F802AB}"/>
              </a:ext>
            </a:extLst>
          </p:cNvPr>
          <p:cNvSpPr>
            <a:spLocks xmlns:a="http://schemas.openxmlformats.org/drawingml/2006/main" noGrp="1"/>
          </p:cNvSpPr>
          <p:nvPr/>
        </p:nvSpPr>
        <p:spPr>
          <a:xfrm xmlns:a="http://schemas.openxmlformats.org/drawingml/2006/main">
            <a:off x="502920" y="256032"/>
            <a:ext cx="73152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spc="120">
                <a:solidFill>
                  <a:srgbClr val="8A8578"/>
                </a:solidFill>
                <a:latin typeface="Calibri"/>
                <a:ea typeface="Calibri"/>
                <a:cs typeface="Calibri"/>
              </a:rPr>
              <a:t>04   BÀI TOÁN</a:t>
            </a:r>
            <a:endParaRPr sz="1200"/>
          </a:p>
        </p:txBody>
      </p:sp>
      <p:sp>
        <p:nvSpPr>
          <p:cNvPr id="3" name="Text 1">
            <a:extLst xmlns:a="http://schemas.openxmlformats.org/drawingml/2006/main">
              <a:ext uri="{FF2B5EF4-FFF2-40B4-BE49-F238E27FC236}">
                <a16:creationId xmlns:a16="http://schemas.microsoft.com/office/drawing/2014/main" id="{7EE06A25-1ADE-4629-B572-3D2D7E625534}"/>
              </a:ext>
            </a:extLst>
          </p:cNvPr>
          <p:cNvSpPr>
            <a:spLocks xmlns:a="http://schemas.openxmlformats.org/drawingml/2006/main" noGrp="1"/>
          </p:cNvSpPr>
          <p:nvPr/>
        </p:nvSpPr>
        <p:spPr>
          <a:xfrm xmlns:a="http://schemas.openxmlformats.org/drawingml/2006/main">
            <a:off x="6675120" y="256032"/>
            <a:ext cx="50292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300">
                <a:solidFill>
                  <a:srgbClr val="8A8578"/>
                </a:solidFill>
                <a:latin typeface="Calibri"/>
                <a:ea typeface="Calibri"/>
                <a:cs typeface="Calibri"/>
              </a:rPr>
              <a:t>Đầu vào và đầu ra</a:t>
            </a:r>
            <a:endParaRPr sz="1300"/>
          </a:p>
        </p:txBody>
      </p:sp>
      <p:sp>
        <p:nvSpPr>
          <p:cNvPr id="4" name="Text 2">
            <a:extLst xmlns:a="http://schemas.openxmlformats.org/drawingml/2006/main">
              <a:ext uri="{FF2B5EF4-FFF2-40B4-BE49-F238E27FC236}">
                <a16:creationId xmlns:a16="http://schemas.microsoft.com/office/drawing/2014/main" id="{B5C01210-8C76-49E3-BA30-810D5935F3E1}"/>
              </a:ext>
            </a:extLst>
          </p:cNvPr>
          <p:cNvSpPr>
            <a:spLocks xmlns:a="http://schemas.openxmlformats.org/drawingml/2006/main" noGrp="1"/>
          </p:cNvSpPr>
          <p:nvPr/>
        </p:nvSpPr>
        <p:spPr>
          <a:xfrm xmlns:a="http://schemas.openxmlformats.org/drawingml/2006/main">
            <a:off x="502920" y="585216"/>
            <a:ext cx="1115568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a:solidFill>
                  <a:srgbClr val="1A1A1A"/>
                </a:solidFill>
                <a:latin typeface="Georgia"/>
                <a:ea typeface="Georgia"/>
                <a:cs typeface="Georgia"/>
              </a:rPr>
              <a:t>Đầu vào và đầu ra</a:t>
            </a:r>
            <a:endParaRPr sz="2800"/>
          </a:p>
        </p:txBody>
      </p:sp>
      <p:sp>
        <p:nvSpPr>
          <p:cNvPr id="5" name="Shape 3">
            <a:extLst xmlns:a="http://schemas.openxmlformats.org/drawingml/2006/main">
              <a:ext uri="{FF2B5EF4-FFF2-40B4-BE49-F238E27FC236}">
                <a16:creationId xmlns:a16="http://schemas.microsoft.com/office/drawing/2014/main" id="{CA31B7BD-8DBD-4225-A421-3CA673DCCFE8}"/>
              </a:ext>
            </a:extLst>
          </p:cNvPr>
          <p:cNvSpPr>
            <a:spLocks xmlns:a="http://schemas.openxmlformats.org/drawingml/2006/main" noGrp="1"/>
          </p:cNvSpPr>
          <p:nvPr/>
        </p:nvSpPr>
        <p:spPr>
          <a:xfrm xmlns:a="http://schemas.openxmlformats.org/drawingml/2006/main">
            <a:off x="502920" y="1417320"/>
            <a:ext cx="3611880" cy="4617720"/>
          </a:xfrm>
          <a:prstGeom xmlns:a="http://schemas.openxmlformats.org/drawingml/2006/main" prst="rect">
            <a:avLst/>
          </a:prstGeom>
          <a:solidFill xmlns:a="http://schemas.openxmlformats.org/drawingml/2006/main">
            <a:srgbClr val="F7F3E8"/>
          </a:solidFill>
          <a:ln xmlns:a="http://schemas.openxmlformats.org/drawingml/2006/main" w="9525">
            <a:solidFill>
              <a:srgbClr val="C8C0AE"/>
            </a:solidFill>
            <a:prstDash val="solid"/>
          </a:ln>
        </p:spPr>
      </p:sp>
      <p:sp>
        <p:nvSpPr>
          <p:cNvPr id="6" name="Text 4">
            <a:extLst xmlns:a="http://schemas.openxmlformats.org/drawingml/2006/main">
              <a:ext uri="{FF2B5EF4-FFF2-40B4-BE49-F238E27FC236}">
                <a16:creationId xmlns:a16="http://schemas.microsoft.com/office/drawing/2014/main" id="{7F6071A5-744C-4C7E-A2F9-32DD2042622C}"/>
              </a:ext>
            </a:extLst>
          </p:cNvPr>
          <p:cNvSpPr>
            <a:spLocks xmlns:a="http://schemas.openxmlformats.org/drawingml/2006/main" noGrp="1"/>
          </p:cNvSpPr>
          <p:nvPr/>
        </p:nvSpPr>
        <p:spPr>
          <a:xfrm xmlns:a="http://schemas.openxmlformats.org/drawingml/2006/main">
            <a:off x="731520" y="1645920"/>
            <a:ext cx="315468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a:solidFill>
                  <a:srgbClr val="B8432A"/>
                </a:solidFill>
                <a:latin typeface="Calibri"/>
                <a:ea typeface="Calibri"/>
                <a:cs typeface="Calibri"/>
              </a:rPr>
              <a:t>Đầu vào</a:t>
            </a:r>
            <a:endParaRPr sz="1400"/>
          </a:p>
        </p:txBody>
      </p:sp>
      <p:sp>
        <p:nvSpPr>
          <p:cNvPr id="7" name="Text 5">
            <a:extLst xmlns:a="http://schemas.openxmlformats.org/drawingml/2006/main">
              <a:ext uri="{FF2B5EF4-FFF2-40B4-BE49-F238E27FC236}">
                <a16:creationId xmlns:a16="http://schemas.microsoft.com/office/drawing/2014/main" id="{86ABC5C0-1150-4793-87C1-58FDCE3B6822}"/>
              </a:ext>
            </a:extLst>
          </p:cNvPr>
          <p:cNvSpPr>
            <a:spLocks xmlns:a="http://schemas.openxmlformats.org/drawingml/2006/main" noGrp="1"/>
          </p:cNvSpPr>
          <p:nvPr/>
        </p:nvSpPr>
        <p:spPr>
          <a:xfrm xmlns:a="http://schemas.openxmlformats.org/drawingml/2006/main">
            <a:off x="731520" y="2103120"/>
            <a:ext cx="3154680" cy="12344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a:solidFill>
                  <a:srgbClr val="1A1A1A"/>
                </a:solidFill>
                <a:latin typeface="Georgia"/>
                <a:ea typeface="Georgia"/>
                <a:cs typeface="Georgia"/>
              </a:rPr>
              <a:t>Thân bài tiếng Việt</a:t>
            </a:r>
            <a:endParaRPr sz="2600"/>
          </a:p>
        </p:txBody>
      </p:sp>
      <p:sp>
        <p:nvSpPr>
          <p:cNvPr id="8" name="Text 6">
            <a:extLst xmlns:a="http://schemas.openxmlformats.org/drawingml/2006/main">
              <a:ext uri="{FF2B5EF4-FFF2-40B4-BE49-F238E27FC236}">
                <a16:creationId xmlns:a16="http://schemas.microsoft.com/office/drawing/2014/main" id="{725BE55A-7E47-4BD0-B25C-15F623764D1B}"/>
              </a:ext>
            </a:extLst>
          </p:cNvPr>
          <p:cNvSpPr>
            <a:spLocks xmlns:a="http://schemas.openxmlformats.org/drawingml/2006/main" noGrp="1"/>
          </p:cNvSpPr>
          <p:nvPr/>
        </p:nvSpPr>
        <p:spPr>
          <a:xfrm xmlns:a="http://schemas.openxmlformats.org/drawingml/2006/main">
            <a:off x="731520" y="3566160"/>
            <a:ext cx="3154680" cy="2011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2B2B2B"/>
                </a:solidFill>
                <a:latin typeface="Calibri"/>
                <a:ea typeface="Calibri"/>
                <a:cs typeface="Calibri"/>
              </a:rPr>
              <a:t>Hệ chỉ đọc phần thân. Tiêu đề dùng để biết đó là bài nào.</a:t>
            </a:r>
            <a:endParaRPr sz="1600"/>
          </a:p>
        </p:txBody>
      </p:sp>
      <p:sp>
        <p:nvSpPr>
          <p:cNvPr id="9" name="Shape 7">
            <a:extLst xmlns:a="http://schemas.openxmlformats.org/drawingml/2006/main">
              <a:ext uri="{FF2B5EF4-FFF2-40B4-BE49-F238E27FC236}">
                <a16:creationId xmlns:a16="http://schemas.microsoft.com/office/drawing/2014/main" id="{3E42B7D9-17C9-49C6-A8D9-6B5C27548E85}"/>
              </a:ext>
            </a:extLst>
          </p:cNvPr>
          <p:cNvSpPr>
            <a:spLocks xmlns:a="http://schemas.openxmlformats.org/drawingml/2006/main" noGrp="1"/>
          </p:cNvSpPr>
          <p:nvPr/>
        </p:nvSpPr>
        <p:spPr>
          <a:xfrm xmlns:a="http://schemas.openxmlformats.org/drawingml/2006/main">
            <a:off x="4343400" y="1417320"/>
            <a:ext cx="3611880" cy="4617720"/>
          </a:xfrm>
          <a:prstGeom xmlns:a="http://schemas.openxmlformats.org/drawingml/2006/main" prst="rect">
            <a:avLst/>
          </a:prstGeom>
          <a:solidFill xmlns:a="http://schemas.openxmlformats.org/drawingml/2006/main">
            <a:srgbClr val="F7F3E8"/>
          </a:solidFill>
          <a:ln xmlns:a="http://schemas.openxmlformats.org/drawingml/2006/main" w="9525">
            <a:solidFill>
              <a:srgbClr val="C8C0AE"/>
            </a:solidFill>
            <a:prstDash val="solid"/>
          </a:ln>
        </p:spPr>
      </p:sp>
      <p:sp>
        <p:nvSpPr>
          <p:cNvPr id="10" name="Text 8">
            <a:extLst xmlns:a="http://schemas.openxmlformats.org/drawingml/2006/main">
              <a:ext uri="{FF2B5EF4-FFF2-40B4-BE49-F238E27FC236}">
                <a16:creationId xmlns:a16="http://schemas.microsoft.com/office/drawing/2014/main" id="{D72E6A33-53A0-4051-8579-E3D5C91F59F2}"/>
              </a:ext>
            </a:extLst>
          </p:cNvPr>
          <p:cNvSpPr>
            <a:spLocks xmlns:a="http://schemas.openxmlformats.org/drawingml/2006/main" noGrp="1"/>
          </p:cNvSpPr>
          <p:nvPr/>
        </p:nvSpPr>
        <p:spPr>
          <a:xfrm xmlns:a="http://schemas.openxmlformats.org/drawingml/2006/main">
            <a:off x="4572000" y="1645920"/>
            <a:ext cx="315468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a:solidFill>
                  <a:srgbClr val="B8432A"/>
                </a:solidFill>
                <a:latin typeface="Calibri"/>
                <a:ea typeface="Calibri"/>
                <a:cs typeface="Calibri"/>
              </a:rPr>
              <a:t>Đầu ra</a:t>
            </a:r>
            <a:endParaRPr sz="1400"/>
          </a:p>
        </p:txBody>
      </p:sp>
      <p:sp>
        <p:nvSpPr>
          <p:cNvPr id="11" name="Text 9">
            <a:extLst xmlns:a="http://schemas.openxmlformats.org/drawingml/2006/main">
              <a:ext uri="{FF2B5EF4-FFF2-40B4-BE49-F238E27FC236}">
                <a16:creationId xmlns:a16="http://schemas.microsoft.com/office/drawing/2014/main" id="{B20597C7-274A-48C7-BA25-E27DA9741227}"/>
              </a:ext>
            </a:extLst>
          </p:cNvPr>
          <p:cNvSpPr>
            <a:spLocks xmlns:a="http://schemas.openxmlformats.org/drawingml/2006/main" noGrp="1"/>
          </p:cNvSpPr>
          <p:nvPr/>
        </p:nvSpPr>
        <p:spPr>
          <a:xfrm xmlns:a="http://schemas.openxmlformats.org/drawingml/2006/main">
            <a:off x="4572000" y="2103120"/>
            <a:ext cx="3154680" cy="12344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a:solidFill>
                  <a:srgbClr val="1A1A1A"/>
                </a:solidFill>
                <a:latin typeface="Georgia"/>
                <a:ea typeface="Georgia"/>
                <a:cs typeface="Georgia"/>
              </a:rPr>
              <a:t>Bản tóm tắt ngắn</a:t>
            </a:r>
            <a:endParaRPr sz="2600"/>
          </a:p>
        </p:txBody>
      </p:sp>
      <p:sp>
        <p:nvSpPr>
          <p:cNvPr id="12" name="Text 10">
            <a:extLst xmlns:a="http://schemas.openxmlformats.org/drawingml/2006/main">
              <a:ext uri="{FF2B5EF4-FFF2-40B4-BE49-F238E27FC236}">
                <a16:creationId xmlns:a16="http://schemas.microsoft.com/office/drawing/2014/main" id="{1EF9DDB4-D458-4215-9E8A-C43901F171A7}"/>
              </a:ext>
            </a:extLst>
          </p:cNvPr>
          <p:cNvSpPr>
            <a:spLocks xmlns:a="http://schemas.openxmlformats.org/drawingml/2006/main" noGrp="1"/>
          </p:cNvSpPr>
          <p:nvPr/>
        </p:nvSpPr>
        <p:spPr>
          <a:xfrm xmlns:a="http://schemas.openxmlformats.org/drawingml/2006/main">
            <a:off x="4572000" y="3566160"/>
            <a:ext cx="3154680" cy="2011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2B2B2B"/>
                </a:solidFill>
                <a:latin typeface="Calibri"/>
                <a:ea typeface="Calibri"/>
                <a:cs typeface="Calibri"/>
              </a:rPr>
              <a:t>Lead-3 và TextRank lấy câu có sẵn. ViT5 viết câu mới.</a:t>
            </a:r>
            <a:endParaRPr sz="1600"/>
          </a:p>
        </p:txBody>
      </p:sp>
      <p:sp>
        <p:nvSpPr>
          <p:cNvPr id="13" name="Shape 11">
            <a:extLst xmlns:a="http://schemas.openxmlformats.org/drawingml/2006/main">
              <a:ext uri="{FF2B5EF4-FFF2-40B4-BE49-F238E27FC236}">
                <a16:creationId xmlns:a16="http://schemas.microsoft.com/office/drawing/2014/main" id="{0B6602BB-9916-4EAA-9A9B-AA6D5B5DED83}"/>
              </a:ext>
            </a:extLst>
          </p:cNvPr>
          <p:cNvSpPr>
            <a:spLocks xmlns:a="http://schemas.openxmlformats.org/drawingml/2006/main" noGrp="1"/>
          </p:cNvSpPr>
          <p:nvPr/>
        </p:nvSpPr>
        <p:spPr>
          <a:xfrm xmlns:a="http://schemas.openxmlformats.org/drawingml/2006/main">
            <a:off x="8183880" y="1417320"/>
            <a:ext cx="3611880" cy="4617720"/>
          </a:xfrm>
          <a:prstGeom xmlns:a="http://schemas.openxmlformats.org/drawingml/2006/main" prst="rect">
            <a:avLst/>
          </a:prstGeom>
          <a:solidFill xmlns:a="http://schemas.openxmlformats.org/drawingml/2006/main">
            <a:srgbClr val="F2E5D0"/>
          </a:solidFill>
          <a:ln xmlns:a="http://schemas.openxmlformats.org/drawingml/2006/main" w="9525">
            <a:solidFill>
              <a:srgbClr val="C8C0AE"/>
            </a:solidFill>
            <a:prstDash val="solid"/>
          </a:ln>
        </p:spPr>
      </p:sp>
      <p:sp>
        <p:nvSpPr>
          <p:cNvPr id="14" name="Text 12">
            <a:extLst xmlns:a="http://schemas.openxmlformats.org/drawingml/2006/main">
              <a:ext uri="{FF2B5EF4-FFF2-40B4-BE49-F238E27FC236}">
                <a16:creationId xmlns:a16="http://schemas.microsoft.com/office/drawing/2014/main" id="{E13AD6AB-8D06-4782-BE53-283BF6234403}"/>
              </a:ext>
            </a:extLst>
          </p:cNvPr>
          <p:cNvSpPr>
            <a:spLocks xmlns:a="http://schemas.openxmlformats.org/drawingml/2006/main" noGrp="1"/>
          </p:cNvSpPr>
          <p:nvPr/>
        </p:nvSpPr>
        <p:spPr>
          <a:xfrm xmlns:a="http://schemas.openxmlformats.org/drawingml/2006/main">
            <a:off x="8412480" y="1645920"/>
            <a:ext cx="315468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a:solidFill>
                  <a:srgbClr val="B8432A"/>
                </a:solidFill>
                <a:latin typeface="Calibri"/>
                <a:ea typeface="Calibri"/>
                <a:cs typeface="Calibri"/>
              </a:rPr>
              <a:t>Để chấm</a:t>
            </a:r>
            <a:endParaRPr sz="1400"/>
          </a:p>
        </p:txBody>
      </p:sp>
      <p:sp>
        <p:nvSpPr>
          <p:cNvPr id="15" name="Text 13">
            <a:extLst xmlns:a="http://schemas.openxmlformats.org/drawingml/2006/main">
              <a:ext uri="{FF2B5EF4-FFF2-40B4-BE49-F238E27FC236}">
                <a16:creationId xmlns:a16="http://schemas.microsoft.com/office/drawing/2014/main" id="{DF4283CC-BFB9-4612-B6CB-E20C35D980F4}"/>
              </a:ext>
            </a:extLst>
          </p:cNvPr>
          <p:cNvSpPr>
            <a:spLocks xmlns:a="http://schemas.openxmlformats.org/drawingml/2006/main" noGrp="1"/>
          </p:cNvSpPr>
          <p:nvPr/>
        </p:nvSpPr>
        <p:spPr>
          <a:xfrm xmlns:a="http://schemas.openxmlformats.org/drawingml/2006/main">
            <a:off x="8412480" y="2103120"/>
            <a:ext cx="3154680" cy="12344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a:solidFill>
                  <a:srgbClr val="1A1A1A"/>
                </a:solidFill>
                <a:latin typeface="Georgia"/>
                <a:ea typeface="Georgia"/>
                <a:cs typeface="Georgia"/>
              </a:rPr>
              <a:t>Sapo của bài</a:t>
            </a:r>
            <a:endParaRPr sz="2600"/>
          </a:p>
        </p:txBody>
      </p:sp>
      <p:sp>
        <p:nvSpPr>
          <p:cNvPr id="16" name="Text 14">
            <a:extLst xmlns:a="http://schemas.openxmlformats.org/drawingml/2006/main">
              <a:ext uri="{FF2B5EF4-FFF2-40B4-BE49-F238E27FC236}">
                <a16:creationId xmlns:a16="http://schemas.microsoft.com/office/drawing/2014/main" id="{C39ECD3C-A0C4-46D5-AA94-C062D56FB761}"/>
              </a:ext>
            </a:extLst>
          </p:cNvPr>
          <p:cNvSpPr>
            <a:spLocks xmlns:a="http://schemas.openxmlformats.org/drawingml/2006/main" noGrp="1"/>
          </p:cNvSpPr>
          <p:nvPr/>
        </p:nvSpPr>
        <p:spPr>
          <a:xfrm xmlns:a="http://schemas.openxmlformats.org/drawingml/2006/main">
            <a:off x="8412480" y="3566160"/>
            <a:ext cx="3154680" cy="2011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2B2B2B"/>
                </a:solidFill>
                <a:latin typeface="Calibri"/>
                <a:ea typeface="Calibri"/>
                <a:cs typeface="Calibri"/>
              </a:rPr>
              <a:t>Sapo là bản mẫu khi tính ROUGE. ViT5 không được đọc sapo.</a:t>
            </a:r>
            <a:endParaRPr sz="1600"/>
          </a:p>
        </p:txBody>
      </p:sp>
      <p:sp>
        <p:nvSpPr>
          <p:cNvPr id="17" name="Text 15">
            <a:extLst xmlns:a="http://schemas.openxmlformats.org/drawingml/2006/main">
              <a:ext uri="{FF2B5EF4-FFF2-40B4-BE49-F238E27FC236}">
                <a16:creationId xmlns:a16="http://schemas.microsoft.com/office/drawing/2014/main" id="{E51602F9-28B5-4295-912B-AEACDAAFEE34}"/>
              </a:ext>
            </a:extLst>
          </p:cNvPr>
          <p:cNvSpPr>
            <a:spLocks xmlns:a="http://schemas.openxmlformats.org/drawingml/2006/main" noGrp="1"/>
          </p:cNvSpPr>
          <p:nvPr/>
        </p:nvSpPr>
        <p:spPr>
          <a:xfrm xmlns:a="http://schemas.openxmlformats.org/drawingml/2006/main">
            <a:off x="502920" y="6492240"/>
            <a:ext cx="73152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B5AFA0"/>
                </a:solidFill>
                <a:latin typeface="Calibri"/>
                <a:ea typeface="Calibri"/>
                <a:cs typeface="Calibri"/>
              </a:rPr>
              <a:t>CS221 · UIT · Nhóm 14</a:t>
            </a:r>
            <a:endParaRPr sz="1100"/>
          </a:p>
        </p:txBody>
      </p:sp>
      <p:sp>
        <p:nvSpPr>
          <p:cNvPr id="18" name="Text 16">
            <a:extLst xmlns:a="http://schemas.openxmlformats.org/drawingml/2006/main">
              <a:ext uri="{FF2B5EF4-FFF2-40B4-BE49-F238E27FC236}">
                <a16:creationId xmlns:a16="http://schemas.microsoft.com/office/drawing/2014/main" id="{16B0CCAC-13B8-43CC-A0F6-BED52B2DCCCF}"/>
              </a:ext>
            </a:extLst>
          </p:cNvPr>
          <p:cNvSpPr>
            <a:spLocks xmlns:a="http://schemas.openxmlformats.org/drawingml/2006/main" noGrp="1"/>
          </p:cNvSpPr>
          <p:nvPr/>
        </p:nvSpPr>
        <p:spPr>
          <a:xfrm xmlns:a="http://schemas.openxmlformats.org/drawingml/2006/main">
            <a:off x="10424160" y="6492240"/>
            <a:ext cx="128016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100">
                <a:solidFill>
                  <a:srgbClr val="8A8578"/>
                </a:solidFill>
                <a:latin typeface="Calibri"/>
                <a:ea typeface="Calibri"/>
                <a:cs typeface="Calibri"/>
              </a:rPr>
              <a:t>4</a:t>
            </a:r>
            <a:endParaRPr sz="1100"/>
          </a:p>
        </p:txBody>
      </p:sp>
    </p:spTree>
    <p:extLst>
      <p:ext uri="{BB962C8B-B14F-4D97-AF65-F5344CB8AC3E}">
        <p14:creationId xmlns:p14="http://schemas.microsoft.com/office/powerpoint/2010/main" val="139714153"/>
      </p:ext>
    </p:extLst>
  </p:cSld>
</p:sld>
</file>

<file path=ppt/slides/slide5.xml><?xml version="1.0" encoding="utf-8"?>
<p:sld xmlns:p="http://schemas.openxmlformats.org/presentationml/2006/main">
  <p:cSld>
    <p:bg>
      <p:bgPr>
        <a:solidFill xmlns:a="http://schemas.openxmlformats.org/drawingml/2006/main">
          <a:srgbClr val="F0ECE0"/>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03A78A00-5EA9-447F-88AC-D2F55F92087A}"/>
              </a:ext>
            </a:extLst>
          </p:cNvPr>
          <p:cNvSpPr>
            <a:spLocks xmlns:a="http://schemas.openxmlformats.org/drawingml/2006/main" noGrp="1"/>
          </p:cNvSpPr>
          <p:nvPr/>
        </p:nvSpPr>
        <p:spPr>
          <a:xfrm xmlns:a="http://schemas.openxmlformats.org/drawingml/2006/main">
            <a:off x="502920" y="256032"/>
            <a:ext cx="73152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spc="120">
                <a:solidFill>
                  <a:srgbClr val="8A8578"/>
                </a:solidFill>
                <a:latin typeface="Calibri"/>
                <a:ea typeface="Calibri"/>
                <a:cs typeface="Calibri"/>
              </a:rPr>
              <a:t>05   HAI CÁCH</a:t>
            </a:r>
            <a:endParaRPr sz="1200"/>
          </a:p>
        </p:txBody>
      </p:sp>
      <p:sp>
        <p:nvSpPr>
          <p:cNvPr id="3" name="Text 1">
            <a:extLst xmlns:a="http://schemas.openxmlformats.org/drawingml/2006/main">
              <a:ext uri="{FF2B5EF4-FFF2-40B4-BE49-F238E27FC236}">
                <a16:creationId xmlns:a16="http://schemas.microsoft.com/office/drawing/2014/main" id="{F0E5E49C-7147-41BC-95E9-1241EFF74753}"/>
              </a:ext>
            </a:extLst>
          </p:cNvPr>
          <p:cNvSpPr>
            <a:spLocks xmlns:a="http://schemas.openxmlformats.org/drawingml/2006/main" noGrp="1"/>
          </p:cNvSpPr>
          <p:nvPr/>
        </p:nvSpPr>
        <p:spPr>
          <a:xfrm xmlns:a="http://schemas.openxmlformats.org/drawingml/2006/main">
            <a:off x="6675120" y="256032"/>
            <a:ext cx="50292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300">
                <a:solidFill>
                  <a:srgbClr val="8A8578"/>
                </a:solidFill>
                <a:latin typeface="Calibri"/>
                <a:ea typeface="Calibri"/>
                <a:cs typeface="Calibri"/>
              </a:rPr>
              <a:t>Một bài trong tập test</a:t>
            </a:r>
            <a:endParaRPr sz="1300"/>
          </a:p>
        </p:txBody>
      </p:sp>
      <p:sp>
        <p:nvSpPr>
          <p:cNvPr id="4" name="Text 2">
            <a:extLst xmlns:a="http://schemas.openxmlformats.org/drawingml/2006/main">
              <a:ext uri="{FF2B5EF4-FFF2-40B4-BE49-F238E27FC236}">
                <a16:creationId xmlns:a16="http://schemas.microsoft.com/office/drawing/2014/main" id="{78F657A5-8E01-44A0-9FFA-1E50E41E3ED7}"/>
              </a:ext>
            </a:extLst>
          </p:cNvPr>
          <p:cNvSpPr>
            <a:spLocks xmlns:a="http://schemas.openxmlformats.org/drawingml/2006/main" noGrp="1"/>
          </p:cNvSpPr>
          <p:nvPr/>
        </p:nvSpPr>
        <p:spPr>
          <a:xfrm xmlns:a="http://schemas.openxmlformats.org/drawingml/2006/main">
            <a:off x="502920" y="585216"/>
            <a:ext cx="1115568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a:solidFill>
                  <a:srgbClr val="1A1A1A"/>
                </a:solidFill>
                <a:latin typeface="Georgia"/>
                <a:ea typeface="Georgia"/>
                <a:cs typeface="Georgia"/>
              </a:rPr>
              <a:t>Lấy câu sẵn, hoặc viết câu mới</a:t>
            </a:r>
            <a:endParaRPr sz="2800"/>
          </a:p>
        </p:txBody>
      </p:sp>
      <p:sp>
        <p:nvSpPr>
          <p:cNvPr id="5" name="Shape 3">
            <a:extLst xmlns:a="http://schemas.openxmlformats.org/drawingml/2006/main">
              <a:ext uri="{FF2B5EF4-FFF2-40B4-BE49-F238E27FC236}">
                <a16:creationId xmlns:a16="http://schemas.microsoft.com/office/drawing/2014/main" id="{C473FF52-1726-4CCA-A7EC-293B53B48A2C}"/>
              </a:ext>
            </a:extLst>
          </p:cNvPr>
          <p:cNvSpPr>
            <a:spLocks xmlns:a="http://schemas.openxmlformats.org/drawingml/2006/main" noGrp="1"/>
          </p:cNvSpPr>
          <p:nvPr/>
        </p:nvSpPr>
        <p:spPr>
          <a:xfrm xmlns:a="http://schemas.openxmlformats.org/drawingml/2006/main">
            <a:off x="502920" y="1325880"/>
            <a:ext cx="5486400" cy="2331720"/>
          </a:xfrm>
          <a:prstGeom xmlns:a="http://schemas.openxmlformats.org/drawingml/2006/main" prst="rect">
            <a:avLst/>
          </a:prstGeom>
          <a:solidFill xmlns:a="http://schemas.openxmlformats.org/drawingml/2006/main">
            <a:srgbClr val="F7F3E8"/>
          </a:solidFill>
          <a:ln xmlns:a="http://schemas.openxmlformats.org/drawingml/2006/main" w="9525">
            <a:solidFill>
              <a:srgbClr val="C8C0AE"/>
            </a:solidFill>
            <a:prstDash val="solid"/>
          </a:ln>
        </p:spPr>
      </p:sp>
      <p:sp>
        <p:nvSpPr>
          <p:cNvPr id="6" name="Shape 4">
            <a:extLst xmlns:a="http://schemas.openxmlformats.org/drawingml/2006/main">
              <a:ext uri="{FF2B5EF4-FFF2-40B4-BE49-F238E27FC236}">
                <a16:creationId xmlns:a16="http://schemas.microsoft.com/office/drawing/2014/main" id="{44AE25FE-40E0-42B5-A489-E9BEF3E2C7E1}"/>
              </a:ext>
            </a:extLst>
          </p:cNvPr>
          <p:cNvSpPr>
            <a:spLocks xmlns:a="http://schemas.openxmlformats.org/drawingml/2006/main" noGrp="1"/>
          </p:cNvSpPr>
          <p:nvPr/>
        </p:nvSpPr>
        <p:spPr>
          <a:xfrm xmlns:a="http://schemas.openxmlformats.org/drawingml/2006/main">
            <a:off x="6217920" y="1325880"/>
            <a:ext cx="5486400" cy="2331720"/>
          </a:xfrm>
          <a:prstGeom xmlns:a="http://schemas.openxmlformats.org/drawingml/2006/main" prst="rect">
            <a:avLst/>
          </a:prstGeom>
          <a:solidFill xmlns:a="http://schemas.openxmlformats.org/drawingml/2006/main">
            <a:srgbClr val="F2E5D0"/>
          </a:solidFill>
          <a:ln xmlns:a="http://schemas.openxmlformats.org/drawingml/2006/main" w="9525">
            <a:solidFill>
              <a:srgbClr val="C8C0AE"/>
            </a:solidFill>
            <a:prstDash val="solid"/>
          </a:ln>
        </p:spPr>
      </p:sp>
      <p:sp>
        <p:nvSpPr>
          <p:cNvPr id="7" name="Text 5">
            <a:extLst xmlns:a="http://schemas.openxmlformats.org/drawingml/2006/main">
              <a:ext uri="{FF2B5EF4-FFF2-40B4-BE49-F238E27FC236}">
                <a16:creationId xmlns:a16="http://schemas.microsoft.com/office/drawing/2014/main" id="{C296CF59-D2CE-4795-904A-83CB16AFAED1}"/>
              </a:ext>
            </a:extLst>
          </p:cNvPr>
          <p:cNvSpPr>
            <a:spLocks xmlns:a="http://schemas.openxmlformats.org/drawingml/2006/main" noGrp="1"/>
          </p:cNvSpPr>
          <p:nvPr/>
        </p:nvSpPr>
        <p:spPr>
          <a:xfrm xmlns:a="http://schemas.openxmlformats.org/drawingml/2006/main">
            <a:off x="731520" y="1463040"/>
            <a:ext cx="50292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B8432A"/>
                </a:solidFill>
                <a:latin typeface="Calibri"/>
                <a:ea typeface="Calibri"/>
                <a:cs typeface="Calibri"/>
              </a:rPr>
              <a:t>Rút trích</a:t>
            </a:r>
            <a:endParaRPr sz="1600"/>
          </a:p>
        </p:txBody>
      </p:sp>
      <p:sp>
        <p:nvSpPr>
          <p:cNvPr id="8" name="Text 6">
            <a:extLst xmlns:a="http://schemas.openxmlformats.org/drawingml/2006/main">
              <a:ext uri="{FF2B5EF4-FFF2-40B4-BE49-F238E27FC236}">
                <a16:creationId xmlns:a16="http://schemas.microsoft.com/office/drawing/2014/main" id="{BEA882CB-F727-4174-A7B8-86264BD62A27}"/>
              </a:ext>
            </a:extLst>
          </p:cNvPr>
          <p:cNvSpPr>
            <a:spLocks xmlns:a="http://schemas.openxmlformats.org/drawingml/2006/main" noGrp="1"/>
          </p:cNvSpPr>
          <p:nvPr/>
        </p:nvSpPr>
        <p:spPr>
          <a:xfrm xmlns:a="http://schemas.openxmlformats.org/drawingml/2006/main">
            <a:off x="731520" y="1920240"/>
            <a:ext cx="5029200" cy="1417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a:solidFill>
                  <a:srgbClr val="2B2B2B"/>
                </a:solidFill>
                <a:latin typeface="Calibri"/>
                <a:ea typeface="Calibri"/>
                <a:cs typeface="Calibri"/>
              </a:rPr>
              <a:t>Giữ nguyên câu trong bài. Ít bịa chữ. Có thể cụt hoặc lệch sapo.</a:t>
            </a:r>
            <a:endParaRPr sz="1800"/>
          </a:p>
        </p:txBody>
      </p:sp>
      <p:sp>
        <p:nvSpPr>
          <p:cNvPr id="9" name="Text 7">
            <a:extLst xmlns:a="http://schemas.openxmlformats.org/drawingml/2006/main">
              <a:ext uri="{FF2B5EF4-FFF2-40B4-BE49-F238E27FC236}">
                <a16:creationId xmlns:a16="http://schemas.microsoft.com/office/drawing/2014/main" id="{37D42873-46B4-4490-B940-BC0ADDC206D6}"/>
              </a:ext>
            </a:extLst>
          </p:cNvPr>
          <p:cNvSpPr>
            <a:spLocks xmlns:a="http://schemas.openxmlformats.org/drawingml/2006/main" noGrp="1"/>
          </p:cNvSpPr>
          <p:nvPr/>
        </p:nvSpPr>
        <p:spPr>
          <a:xfrm xmlns:a="http://schemas.openxmlformats.org/drawingml/2006/main">
            <a:off x="6446520" y="1463040"/>
            <a:ext cx="50292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B8432A"/>
                </a:solidFill>
                <a:latin typeface="Calibri"/>
                <a:ea typeface="Calibri"/>
                <a:cs typeface="Calibri"/>
              </a:rPr>
              <a:t>Tóm lược</a:t>
            </a:r>
            <a:endParaRPr sz="1600"/>
          </a:p>
        </p:txBody>
      </p:sp>
      <p:sp>
        <p:nvSpPr>
          <p:cNvPr id="10" name="Text 8">
            <a:extLst xmlns:a="http://schemas.openxmlformats.org/drawingml/2006/main">
              <a:ext uri="{FF2B5EF4-FFF2-40B4-BE49-F238E27FC236}">
                <a16:creationId xmlns:a16="http://schemas.microsoft.com/office/drawing/2014/main" id="{3B04B93E-4184-4F1F-BD1E-DA11D750BEF7}"/>
              </a:ext>
            </a:extLst>
          </p:cNvPr>
          <p:cNvSpPr>
            <a:spLocks xmlns:a="http://schemas.openxmlformats.org/drawingml/2006/main" noGrp="1"/>
          </p:cNvSpPr>
          <p:nvPr/>
        </p:nvSpPr>
        <p:spPr>
          <a:xfrm xmlns:a="http://schemas.openxmlformats.org/drawingml/2006/main">
            <a:off x="6446520" y="1920240"/>
            <a:ext cx="5029200" cy="1417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a:solidFill>
                  <a:srgbClr val="2B2B2B"/>
                </a:solidFill>
                <a:latin typeface="Calibri"/>
                <a:ea typeface="Calibri"/>
                <a:cs typeface="Calibri"/>
              </a:rPr>
              <a:t>Viết câu mới. Đọc có thể mượt hơn. Có thể sai tên, sai số, đảo người làm việc.</a:t>
            </a:r>
            <a:endParaRPr sz="1800"/>
          </a:p>
        </p:txBody>
      </p:sp>
      <p:sp>
        <p:nvSpPr>
          <p:cNvPr id="11" name="Shape 9">
            <a:extLst xmlns:a="http://schemas.openxmlformats.org/drawingml/2006/main">
              <a:ext uri="{FF2B5EF4-FFF2-40B4-BE49-F238E27FC236}">
                <a16:creationId xmlns:a16="http://schemas.microsoft.com/office/drawing/2014/main" id="{A30A2248-3101-4CCB-B677-3D03D8F8B0BE}"/>
              </a:ext>
            </a:extLst>
          </p:cNvPr>
          <p:cNvSpPr>
            <a:spLocks xmlns:a="http://schemas.openxmlformats.org/drawingml/2006/main" noGrp="1"/>
          </p:cNvSpPr>
          <p:nvPr/>
        </p:nvSpPr>
        <p:spPr>
          <a:xfrm xmlns:a="http://schemas.openxmlformats.org/drawingml/2006/main">
            <a:off x="502920" y="3840480"/>
            <a:ext cx="11201400" cy="2240280"/>
          </a:xfrm>
          <a:prstGeom xmlns:a="http://schemas.openxmlformats.org/drawingml/2006/main" prst="rect">
            <a:avLst/>
          </a:prstGeom>
          <a:solidFill xmlns:a="http://schemas.openxmlformats.org/drawingml/2006/main">
            <a:srgbClr val="F7F3E8"/>
          </a:solidFill>
          <a:ln xmlns:a="http://schemas.openxmlformats.org/drawingml/2006/main" w="9525">
            <a:solidFill>
              <a:srgbClr val="C8C0AE"/>
            </a:solidFill>
            <a:prstDash val="solid"/>
          </a:ln>
        </p:spPr>
      </p:sp>
      <p:sp>
        <p:nvSpPr>
          <p:cNvPr id="12" name="Text 10">
            <a:extLst xmlns:a="http://schemas.openxmlformats.org/drawingml/2006/main">
              <a:ext uri="{FF2B5EF4-FFF2-40B4-BE49-F238E27FC236}">
                <a16:creationId xmlns:a16="http://schemas.microsoft.com/office/drawing/2014/main" id="{25D3359F-3DC2-4417-B264-077CDE003DAD}"/>
              </a:ext>
            </a:extLst>
          </p:cNvPr>
          <p:cNvSpPr>
            <a:spLocks xmlns:a="http://schemas.openxmlformats.org/drawingml/2006/main" noGrp="1"/>
          </p:cNvSpPr>
          <p:nvPr/>
        </p:nvSpPr>
        <p:spPr>
          <a:xfrm xmlns:a="http://schemas.openxmlformats.org/drawingml/2006/main">
            <a:off x="731520" y="4005072"/>
            <a:ext cx="106984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a:solidFill>
                  <a:srgbClr val="B8432A"/>
                </a:solidFill>
                <a:latin typeface="Calibri"/>
                <a:ea typeface="Calibri"/>
                <a:cs typeface="Calibri"/>
              </a:rPr>
              <a:t>Bài 000011 trong tập test</a:t>
            </a:r>
            <a:endParaRPr sz="1400"/>
          </a:p>
        </p:txBody>
      </p:sp>
      <p:sp>
        <p:nvSpPr>
          <p:cNvPr id="13" name="Text 11">
            <a:extLst xmlns:a="http://schemas.openxmlformats.org/drawingml/2006/main">
              <a:ext uri="{FF2B5EF4-FFF2-40B4-BE49-F238E27FC236}">
                <a16:creationId xmlns:a16="http://schemas.microsoft.com/office/drawing/2014/main" id="{0DC36F7D-36E2-48D5-9390-1F16EDE8FEB3}"/>
              </a:ext>
            </a:extLst>
          </p:cNvPr>
          <p:cNvSpPr>
            <a:spLocks xmlns:a="http://schemas.openxmlformats.org/drawingml/2006/main" noGrp="1"/>
          </p:cNvSpPr>
          <p:nvPr/>
        </p:nvSpPr>
        <p:spPr>
          <a:xfrm xmlns:a="http://schemas.openxmlformats.org/drawingml/2006/main">
            <a:off x="731520" y="4434840"/>
            <a:ext cx="10698480" cy="1325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a:solidFill>
                  <a:srgbClr val="2B2B2B"/>
                </a:solidFill>
                <a:latin typeface="Calibri"/>
                <a:ea typeface="Calibri"/>
                <a:cs typeface="Calibri"/>
              </a:rPr>
              <a:t>Bài 000011 kể việc thuê xe chở máy ủi. Rút trích giữ nguyên câu ấy. ViT5 đổi thành trộm xe bồn.</a:t>
            </a:r>
            <a:endParaRPr sz="1800"/>
          </a:p>
        </p:txBody>
      </p:sp>
      <p:sp>
        <p:nvSpPr>
          <p:cNvPr id="14" name="Text 12">
            <a:extLst xmlns:a="http://schemas.openxmlformats.org/drawingml/2006/main">
              <a:ext uri="{FF2B5EF4-FFF2-40B4-BE49-F238E27FC236}">
                <a16:creationId xmlns:a16="http://schemas.microsoft.com/office/drawing/2014/main" id="{7A063520-05E4-4F90-AA2D-7B215BDBBA09}"/>
              </a:ext>
            </a:extLst>
          </p:cNvPr>
          <p:cNvSpPr>
            <a:spLocks xmlns:a="http://schemas.openxmlformats.org/drawingml/2006/main" noGrp="1"/>
          </p:cNvSpPr>
          <p:nvPr/>
        </p:nvSpPr>
        <p:spPr>
          <a:xfrm xmlns:a="http://schemas.openxmlformats.org/drawingml/2006/main">
            <a:off x="502920" y="6492240"/>
            <a:ext cx="73152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B5AFA0"/>
                </a:solidFill>
                <a:latin typeface="Calibri"/>
                <a:ea typeface="Calibri"/>
                <a:cs typeface="Calibri"/>
              </a:rPr>
              <a:t>CS221 · UIT · Nhóm 14</a:t>
            </a:r>
            <a:endParaRPr sz="1100"/>
          </a:p>
        </p:txBody>
      </p:sp>
      <p:sp>
        <p:nvSpPr>
          <p:cNvPr id="15" name="Text 13">
            <a:extLst xmlns:a="http://schemas.openxmlformats.org/drawingml/2006/main">
              <a:ext uri="{FF2B5EF4-FFF2-40B4-BE49-F238E27FC236}">
                <a16:creationId xmlns:a16="http://schemas.microsoft.com/office/drawing/2014/main" id="{DBD00878-17DF-472C-8089-38141598FB5B}"/>
              </a:ext>
            </a:extLst>
          </p:cNvPr>
          <p:cNvSpPr>
            <a:spLocks xmlns:a="http://schemas.openxmlformats.org/drawingml/2006/main" noGrp="1"/>
          </p:cNvSpPr>
          <p:nvPr/>
        </p:nvSpPr>
        <p:spPr>
          <a:xfrm xmlns:a="http://schemas.openxmlformats.org/drawingml/2006/main">
            <a:off x="10424160" y="6492240"/>
            <a:ext cx="128016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100">
                <a:solidFill>
                  <a:srgbClr val="8A8578"/>
                </a:solidFill>
                <a:latin typeface="Calibri"/>
                <a:ea typeface="Calibri"/>
                <a:cs typeface="Calibri"/>
              </a:rPr>
              <a:t>5</a:t>
            </a:r>
            <a:endParaRPr sz="1100"/>
          </a:p>
        </p:txBody>
      </p:sp>
    </p:spTree>
    <p:extLst>
      <p:ext uri="{BB962C8B-B14F-4D97-AF65-F5344CB8AC3E}">
        <p14:creationId xmlns:p14="http://schemas.microsoft.com/office/powerpoint/2010/main" val="1589445603"/>
      </p:ext>
    </p:extLst>
  </p:cSld>
</p:sld>
</file>

<file path=ppt/slides/slide6.xml><?xml version="1.0" encoding="utf-8"?>
<p:sld xmlns:p="http://schemas.openxmlformats.org/presentationml/2006/main">
  <p:cSld>
    <p:bg>
      <p:bgPr>
        <a:solidFill xmlns:a="http://schemas.openxmlformats.org/drawingml/2006/main">
          <a:srgbClr val="F0ECE0"/>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738488A6-1565-4035-AA77-FF216074131C}"/>
              </a:ext>
            </a:extLst>
          </p:cNvPr>
          <p:cNvSpPr>
            <a:spLocks xmlns:a="http://schemas.openxmlformats.org/drawingml/2006/main" noGrp="1"/>
          </p:cNvSpPr>
          <p:nvPr/>
        </p:nvSpPr>
        <p:spPr>
          <a:xfrm xmlns:a="http://schemas.openxmlformats.org/drawingml/2006/main">
            <a:off x="502920" y="256032"/>
            <a:ext cx="73152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spc="120">
                <a:solidFill>
                  <a:srgbClr val="8A8578"/>
                </a:solidFill>
                <a:latin typeface="Calibri"/>
                <a:ea typeface="Calibri"/>
                <a:cs typeface="Calibri"/>
              </a:rPr>
              <a:t>06   CÔNG TRÌNH</a:t>
            </a:r>
            <a:endParaRPr sz="1200"/>
          </a:p>
        </p:txBody>
      </p:sp>
      <p:sp>
        <p:nvSpPr>
          <p:cNvPr id="3" name="Text 1">
            <a:extLst xmlns:a="http://schemas.openxmlformats.org/drawingml/2006/main">
              <a:ext uri="{FF2B5EF4-FFF2-40B4-BE49-F238E27FC236}">
                <a16:creationId xmlns:a16="http://schemas.microsoft.com/office/drawing/2014/main" id="{CC53CE77-B37E-4B7D-86F2-E33AF31BEC56}"/>
              </a:ext>
            </a:extLst>
          </p:cNvPr>
          <p:cNvSpPr>
            <a:spLocks xmlns:a="http://schemas.openxmlformats.org/drawingml/2006/main" noGrp="1"/>
          </p:cNvSpPr>
          <p:nvPr/>
        </p:nvSpPr>
        <p:spPr>
          <a:xfrm xmlns:a="http://schemas.openxmlformats.org/drawingml/2006/main">
            <a:off x="6675120" y="256032"/>
            <a:ext cx="50292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300">
                <a:solidFill>
                  <a:srgbClr val="8A8578"/>
                </a:solidFill>
                <a:latin typeface="Calibri"/>
                <a:ea typeface="Calibri"/>
                <a:cs typeface="Calibri"/>
              </a:rPr>
              <a:t>Và dữ liệu</a:t>
            </a:r>
            <a:endParaRPr sz="1300"/>
          </a:p>
        </p:txBody>
      </p:sp>
      <p:sp>
        <p:nvSpPr>
          <p:cNvPr id="4" name="Text 2">
            <a:extLst xmlns:a="http://schemas.openxmlformats.org/drawingml/2006/main">
              <a:ext uri="{FF2B5EF4-FFF2-40B4-BE49-F238E27FC236}">
                <a16:creationId xmlns:a16="http://schemas.microsoft.com/office/drawing/2014/main" id="{B45F9293-E783-4085-9DF3-529A3B1D1EC6}"/>
              </a:ext>
            </a:extLst>
          </p:cNvPr>
          <p:cNvSpPr>
            <a:spLocks xmlns:a="http://schemas.openxmlformats.org/drawingml/2006/main" noGrp="1"/>
          </p:cNvSpPr>
          <p:nvPr/>
        </p:nvSpPr>
        <p:spPr>
          <a:xfrm xmlns:a="http://schemas.openxmlformats.org/drawingml/2006/main">
            <a:off x="502920" y="585216"/>
            <a:ext cx="1115568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a:solidFill>
                  <a:srgbClr val="1A1A1A"/>
                </a:solidFill>
                <a:latin typeface="Georgia"/>
                <a:ea typeface="Georgia"/>
                <a:cs typeface="Georgia"/>
              </a:rPr>
              <a:t>Dùng Vietnews và checkpoint ViT5 đã công bố</a:t>
            </a:r>
            <a:endParaRPr sz="2800"/>
          </a:p>
        </p:txBody>
      </p:sp>
      <p:sp>
        <p:nvSpPr>
          <p:cNvPr id="5" name="Shape 3">
            <a:extLst xmlns:a="http://schemas.openxmlformats.org/drawingml/2006/main">
              <a:ext uri="{FF2B5EF4-FFF2-40B4-BE49-F238E27FC236}">
                <a16:creationId xmlns:a16="http://schemas.microsoft.com/office/drawing/2014/main" id="{4B93C7D9-5E74-4589-81E9-095DD53AF0A4}"/>
              </a:ext>
            </a:extLst>
          </p:cNvPr>
          <p:cNvSpPr>
            <a:spLocks xmlns:a="http://schemas.openxmlformats.org/drawingml/2006/main" noGrp="1"/>
          </p:cNvSpPr>
          <p:nvPr/>
        </p:nvSpPr>
        <p:spPr>
          <a:xfrm xmlns:a="http://schemas.openxmlformats.org/drawingml/2006/main">
            <a:off x="502920" y="1371600"/>
            <a:ext cx="11155680" cy="1051560"/>
          </a:xfrm>
          <a:prstGeom xmlns:a="http://schemas.openxmlformats.org/drawingml/2006/main" prst="rect">
            <a:avLst/>
          </a:prstGeom>
          <a:solidFill xmlns:a="http://schemas.openxmlformats.org/drawingml/2006/main">
            <a:srgbClr val="F7F3E8"/>
          </a:solidFill>
          <a:ln xmlns:a="http://schemas.openxmlformats.org/drawingml/2006/main" w="9525">
            <a:solidFill>
              <a:srgbClr val="C8C0AE"/>
            </a:solidFill>
            <a:prstDash val="solid"/>
          </a:ln>
        </p:spPr>
      </p:sp>
      <p:sp>
        <p:nvSpPr>
          <p:cNvPr id="6" name="Text 4">
            <a:extLst xmlns:a="http://schemas.openxmlformats.org/drawingml/2006/main">
              <a:ext uri="{FF2B5EF4-FFF2-40B4-BE49-F238E27FC236}">
                <a16:creationId xmlns:a16="http://schemas.microsoft.com/office/drawing/2014/main" id="{9179090E-1E63-4A78-937C-A93B24851103}"/>
              </a:ext>
            </a:extLst>
          </p:cNvPr>
          <p:cNvSpPr>
            <a:spLocks xmlns:a="http://schemas.openxmlformats.org/drawingml/2006/main" noGrp="1"/>
          </p:cNvSpPr>
          <p:nvPr/>
        </p:nvSpPr>
        <p:spPr>
          <a:xfrm xmlns:a="http://schemas.openxmlformats.org/drawingml/2006/main">
            <a:off x="731520" y="1664208"/>
            <a:ext cx="228600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a:solidFill>
                  <a:srgbClr val="B8432A"/>
                </a:solidFill>
                <a:latin typeface="Calibri"/>
                <a:ea typeface="Calibri"/>
                <a:cs typeface="Calibri"/>
              </a:rPr>
              <a:t>Dữ liệu</a:t>
            </a:r>
            <a:endParaRPr sz="1800"/>
          </a:p>
        </p:txBody>
      </p:sp>
      <p:sp>
        <p:nvSpPr>
          <p:cNvPr id="7" name="Text 5">
            <a:extLst xmlns:a="http://schemas.openxmlformats.org/drawingml/2006/main">
              <a:ext uri="{FF2B5EF4-FFF2-40B4-BE49-F238E27FC236}">
                <a16:creationId xmlns:a16="http://schemas.microsoft.com/office/drawing/2014/main" id="{5C383912-56DE-44A7-890E-29CE0A473B26}"/>
              </a:ext>
            </a:extLst>
          </p:cNvPr>
          <p:cNvSpPr>
            <a:spLocks xmlns:a="http://schemas.openxmlformats.org/drawingml/2006/main" noGrp="1"/>
          </p:cNvSpPr>
          <p:nvPr/>
        </p:nvSpPr>
        <p:spPr>
          <a:xfrm xmlns:a="http://schemas.openxmlformats.org/drawingml/2006/main">
            <a:off x="3108960" y="1664208"/>
            <a:ext cx="822960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a:solidFill>
                  <a:srgbClr val="1A1A1A"/>
                </a:solidFill>
                <a:latin typeface="Calibri"/>
                <a:ea typeface="Calibri"/>
                <a:cs typeface="Calibri"/>
              </a:rPr>
              <a:t>github.com/ThanhChinhBK/vietnews</a:t>
            </a:r>
            <a:endParaRPr sz="1800"/>
          </a:p>
        </p:txBody>
      </p:sp>
      <p:sp>
        <p:nvSpPr>
          <p:cNvPr id="8" name="Shape 6">
            <a:extLst xmlns:a="http://schemas.openxmlformats.org/drawingml/2006/main">
              <a:ext uri="{FF2B5EF4-FFF2-40B4-BE49-F238E27FC236}">
                <a16:creationId xmlns:a16="http://schemas.microsoft.com/office/drawing/2014/main" id="{A12A4AE8-F1BF-4546-BB0D-1A7E9AB45160}"/>
              </a:ext>
            </a:extLst>
          </p:cNvPr>
          <p:cNvSpPr>
            <a:spLocks xmlns:a="http://schemas.openxmlformats.org/drawingml/2006/main" noGrp="1"/>
          </p:cNvSpPr>
          <p:nvPr/>
        </p:nvSpPr>
        <p:spPr>
          <a:xfrm xmlns:a="http://schemas.openxmlformats.org/drawingml/2006/main">
            <a:off x="502920" y="2560320"/>
            <a:ext cx="11155680" cy="1051560"/>
          </a:xfrm>
          <a:prstGeom xmlns:a="http://schemas.openxmlformats.org/drawingml/2006/main" prst="rect">
            <a:avLst/>
          </a:prstGeom>
          <a:solidFill xmlns:a="http://schemas.openxmlformats.org/drawingml/2006/main">
            <a:srgbClr val="F7F3E8"/>
          </a:solidFill>
          <a:ln xmlns:a="http://schemas.openxmlformats.org/drawingml/2006/main" w="9525">
            <a:solidFill>
              <a:srgbClr val="C8C0AE"/>
            </a:solidFill>
            <a:prstDash val="solid"/>
          </a:ln>
        </p:spPr>
      </p:sp>
      <p:sp>
        <p:nvSpPr>
          <p:cNvPr id="9" name="Text 7">
            <a:extLst xmlns:a="http://schemas.openxmlformats.org/drawingml/2006/main">
              <a:ext uri="{FF2B5EF4-FFF2-40B4-BE49-F238E27FC236}">
                <a16:creationId xmlns:a16="http://schemas.microsoft.com/office/drawing/2014/main" id="{6BD22239-F885-414D-9C10-006F85CE3A45}"/>
              </a:ext>
            </a:extLst>
          </p:cNvPr>
          <p:cNvSpPr>
            <a:spLocks xmlns:a="http://schemas.openxmlformats.org/drawingml/2006/main" noGrp="1"/>
          </p:cNvSpPr>
          <p:nvPr/>
        </p:nvSpPr>
        <p:spPr>
          <a:xfrm xmlns:a="http://schemas.openxmlformats.org/drawingml/2006/main">
            <a:off x="731520" y="2852928"/>
            <a:ext cx="228600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a:solidFill>
                  <a:srgbClr val="B8432A"/>
                </a:solidFill>
                <a:latin typeface="Calibri"/>
                <a:ea typeface="Calibri"/>
                <a:cs typeface="Calibri"/>
              </a:rPr>
              <a:t>Model</a:t>
            </a:r>
            <a:endParaRPr sz="1800"/>
          </a:p>
        </p:txBody>
      </p:sp>
      <p:sp>
        <p:nvSpPr>
          <p:cNvPr id="10" name="Text 8">
            <a:extLst xmlns:a="http://schemas.openxmlformats.org/drawingml/2006/main">
              <a:ext uri="{FF2B5EF4-FFF2-40B4-BE49-F238E27FC236}">
                <a16:creationId xmlns:a16="http://schemas.microsoft.com/office/drawing/2014/main" id="{1FDFFA5A-7364-43E9-A3BA-94CABF9CDE0A}"/>
              </a:ext>
            </a:extLst>
          </p:cNvPr>
          <p:cNvSpPr>
            <a:spLocks xmlns:a="http://schemas.openxmlformats.org/drawingml/2006/main" noGrp="1"/>
          </p:cNvSpPr>
          <p:nvPr/>
        </p:nvSpPr>
        <p:spPr>
          <a:xfrm xmlns:a="http://schemas.openxmlformats.org/drawingml/2006/main">
            <a:off x="3108960" y="2852928"/>
            <a:ext cx="822960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a:solidFill>
                  <a:srgbClr val="1A1A1A"/>
                </a:solidFill>
                <a:latin typeface="Calibri"/>
                <a:ea typeface="Calibri"/>
                <a:cs typeface="Calibri"/>
              </a:rPr>
              <a:t>VietAI/vit5-base-vietnews-summarization, bài NAACL 2022</a:t>
            </a:r>
            <a:endParaRPr sz="1800"/>
          </a:p>
        </p:txBody>
      </p:sp>
      <p:sp>
        <p:nvSpPr>
          <p:cNvPr id="11" name="Shape 9">
            <a:extLst xmlns:a="http://schemas.openxmlformats.org/drawingml/2006/main">
              <a:ext uri="{FF2B5EF4-FFF2-40B4-BE49-F238E27FC236}">
                <a16:creationId xmlns:a16="http://schemas.microsoft.com/office/drawing/2014/main" id="{1A224035-11F5-496A-BFB8-31AB16522E55}"/>
              </a:ext>
            </a:extLst>
          </p:cNvPr>
          <p:cNvSpPr>
            <a:spLocks xmlns:a="http://schemas.openxmlformats.org/drawingml/2006/main" noGrp="1"/>
          </p:cNvSpPr>
          <p:nvPr/>
        </p:nvSpPr>
        <p:spPr>
          <a:xfrm xmlns:a="http://schemas.openxmlformats.org/drawingml/2006/main">
            <a:off x="502920" y="3749040"/>
            <a:ext cx="11155680" cy="1051560"/>
          </a:xfrm>
          <a:prstGeom xmlns:a="http://schemas.openxmlformats.org/drawingml/2006/main" prst="rect">
            <a:avLst/>
          </a:prstGeom>
          <a:solidFill xmlns:a="http://schemas.openxmlformats.org/drawingml/2006/main">
            <a:srgbClr val="F7F3E8"/>
          </a:solidFill>
          <a:ln xmlns:a="http://schemas.openxmlformats.org/drawingml/2006/main" w="9525">
            <a:solidFill>
              <a:srgbClr val="C8C0AE"/>
            </a:solidFill>
            <a:prstDash val="solid"/>
          </a:ln>
        </p:spPr>
      </p:sp>
      <p:sp>
        <p:nvSpPr>
          <p:cNvPr id="12" name="Text 10">
            <a:extLst xmlns:a="http://schemas.openxmlformats.org/drawingml/2006/main">
              <a:ext uri="{FF2B5EF4-FFF2-40B4-BE49-F238E27FC236}">
                <a16:creationId xmlns:a16="http://schemas.microsoft.com/office/drawing/2014/main" id="{0094B4BE-2068-47E9-A248-8B5029FD02D6}"/>
              </a:ext>
            </a:extLst>
          </p:cNvPr>
          <p:cNvSpPr>
            <a:spLocks xmlns:a="http://schemas.openxmlformats.org/drawingml/2006/main" noGrp="1"/>
          </p:cNvSpPr>
          <p:nvPr/>
        </p:nvSpPr>
        <p:spPr>
          <a:xfrm xmlns:a="http://schemas.openxmlformats.org/drawingml/2006/main">
            <a:off x="731520" y="4041648"/>
            <a:ext cx="228600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a:solidFill>
                  <a:srgbClr val="B8432A"/>
                </a:solidFill>
                <a:latin typeface="Calibri"/>
                <a:ea typeface="Calibri"/>
                <a:cs typeface="Calibri"/>
              </a:rPr>
              <a:t>Phần dùng</a:t>
            </a:r>
            <a:endParaRPr sz="1800"/>
          </a:p>
        </p:txBody>
      </p:sp>
      <p:sp>
        <p:nvSpPr>
          <p:cNvPr id="13" name="Text 11">
            <a:extLst xmlns:a="http://schemas.openxmlformats.org/drawingml/2006/main">
              <a:ext uri="{FF2B5EF4-FFF2-40B4-BE49-F238E27FC236}">
                <a16:creationId xmlns:a16="http://schemas.microsoft.com/office/drawing/2014/main" id="{709F1F3B-B029-4607-9136-D31EFC95B108}"/>
              </a:ext>
            </a:extLst>
          </p:cNvPr>
          <p:cNvSpPr>
            <a:spLocks xmlns:a="http://schemas.openxmlformats.org/drawingml/2006/main" noGrp="1"/>
          </p:cNvSpPr>
          <p:nvPr/>
        </p:nvSpPr>
        <p:spPr>
          <a:xfrm xmlns:a="http://schemas.openxmlformats.org/drawingml/2006/main">
            <a:off x="3108960" y="4041648"/>
            <a:ext cx="822960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a:solidFill>
                  <a:srgbClr val="1A1A1A"/>
                </a:solidFill>
                <a:latin typeface="Calibri"/>
                <a:ea typeface="Calibri"/>
                <a:cs typeface="Calibri"/>
              </a:rPr>
              <a:t>Tập test, các file đã tách từ bằng dấu gạch dưới</a:t>
            </a:r>
            <a:endParaRPr sz="1800"/>
          </a:p>
        </p:txBody>
      </p:sp>
      <p:sp>
        <p:nvSpPr>
          <p:cNvPr id="14" name="Shape 12">
            <a:extLst xmlns:a="http://schemas.openxmlformats.org/drawingml/2006/main">
              <a:ext uri="{FF2B5EF4-FFF2-40B4-BE49-F238E27FC236}">
                <a16:creationId xmlns:a16="http://schemas.microsoft.com/office/drawing/2014/main" id="{0F67624F-9BDE-4FAB-A031-CCFA8CA6D737}"/>
              </a:ext>
            </a:extLst>
          </p:cNvPr>
          <p:cNvSpPr>
            <a:spLocks xmlns:a="http://schemas.openxmlformats.org/drawingml/2006/main" noGrp="1"/>
          </p:cNvSpPr>
          <p:nvPr/>
        </p:nvSpPr>
        <p:spPr>
          <a:xfrm xmlns:a="http://schemas.openxmlformats.org/drawingml/2006/main">
            <a:off x="502920" y="4937760"/>
            <a:ext cx="11155680" cy="1051560"/>
          </a:xfrm>
          <a:prstGeom xmlns:a="http://schemas.openxmlformats.org/drawingml/2006/main" prst="rect">
            <a:avLst/>
          </a:prstGeom>
          <a:solidFill xmlns:a="http://schemas.openxmlformats.org/drawingml/2006/main">
            <a:srgbClr val="F7F3E8"/>
          </a:solidFill>
          <a:ln xmlns:a="http://schemas.openxmlformats.org/drawingml/2006/main" w="9525">
            <a:solidFill>
              <a:srgbClr val="C8C0AE"/>
            </a:solidFill>
            <a:prstDash val="solid"/>
          </a:ln>
        </p:spPr>
      </p:sp>
      <p:sp>
        <p:nvSpPr>
          <p:cNvPr id="15" name="Text 13">
            <a:extLst xmlns:a="http://schemas.openxmlformats.org/drawingml/2006/main">
              <a:ext uri="{FF2B5EF4-FFF2-40B4-BE49-F238E27FC236}">
                <a16:creationId xmlns:a16="http://schemas.microsoft.com/office/drawing/2014/main" id="{2DBF6D09-E664-4109-AC6B-C7A7FD4D9E62}"/>
              </a:ext>
            </a:extLst>
          </p:cNvPr>
          <p:cNvSpPr>
            <a:spLocks xmlns:a="http://schemas.openxmlformats.org/drawingml/2006/main" noGrp="1"/>
          </p:cNvSpPr>
          <p:nvPr/>
        </p:nvSpPr>
        <p:spPr>
          <a:xfrm xmlns:a="http://schemas.openxmlformats.org/drawingml/2006/main">
            <a:off x="731520" y="5230368"/>
            <a:ext cx="228600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a:solidFill>
                  <a:srgbClr val="B8432A"/>
                </a:solidFill>
                <a:latin typeface="Calibri"/>
                <a:ea typeface="Calibri"/>
                <a:cs typeface="Calibri"/>
              </a:rPr>
              <a:t>Số bài</a:t>
            </a:r>
            <a:endParaRPr sz="1800"/>
          </a:p>
        </p:txBody>
      </p:sp>
      <p:sp>
        <p:nvSpPr>
          <p:cNvPr id="16" name="Text 14">
            <a:extLst xmlns:a="http://schemas.openxmlformats.org/drawingml/2006/main">
              <a:ext uri="{FF2B5EF4-FFF2-40B4-BE49-F238E27FC236}">
                <a16:creationId xmlns:a16="http://schemas.microsoft.com/office/drawing/2014/main" id="{1750198B-C47E-4CB5-A5D2-5CB44AF3C108}"/>
              </a:ext>
            </a:extLst>
          </p:cNvPr>
          <p:cNvSpPr>
            <a:spLocks xmlns:a="http://schemas.openxmlformats.org/drawingml/2006/main" noGrp="1"/>
          </p:cNvSpPr>
          <p:nvPr/>
        </p:nvSpPr>
        <p:spPr>
          <a:xfrm xmlns:a="http://schemas.openxmlformats.org/drawingml/2006/main">
            <a:off x="3108960" y="5230368"/>
            <a:ext cx="822960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a:solidFill>
                  <a:srgbClr val="1A1A1A"/>
                </a:solidFill>
                <a:latin typeface="Calibri"/>
                <a:ea typeface="Calibri"/>
                <a:cs typeface="Calibri"/>
              </a:rPr>
              <a:t>Làm thử 100 bài đầu. Số báo cáo là 500 bài đầu, lấy theo tên file.</a:t>
            </a:r>
            <a:endParaRPr sz="1800"/>
          </a:p>
        </p:txBody>
      </p:sp>
      <p:sp>
        <p:nvSpPr>
          <p:cNvPr id="17" name="Text 15">
            <a:extLst xmlns:a="http://schemas.openxmlformats.org/drawingml/2006/main">
              <a:ext uri="{FF2B5EF4-FFF2-40B4-BE49-F238E27FC236}">
                <a16:creationId xmlns:a16="http://schemas.microsoft.com/office/drawing/2014/main" id="{6FBD5745-607F-4391-8893-9872AB00787C}"/>
              </a:ext>
            </a:extLst>
          </p:cNvPr>
          <p:cNvSpPr>
            <a:spLocks xmlns:a="http://schemas.openxmlformats.org/drawingml/2006/main" noGrp="1"/>
          </p:cNvSpPr>
          <p:nvPr/>
        </p:nvSpPr>
        <p:spPr>
          <a:xfrm xmlns:a="http://schemas.openxmlformats.org/drawingml/2006/main">
            <a:off x="502920" y="6492240"/>
            <a:ext cx="73152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B5AFA0"/>
                </a:solidFill>
                <a:latin typeface="Calibri"/>
                <a:ea typeface="Calibri"/>
                <a:cs typeface="Calibri"/>
              </a:rPr>
              <a:t>CS221 · UIT · Nhóm 14</a:t>
            </a:r>
            <a:endParaRPr sz="1100"/>
          </a:p>
        </p:txBody>
      </p:sp>
      <p:sp>
        <p:nvSpPr>
          <p:cNvPr id="18" name="Text 16">
            <a:extLst xmlns:a="http://schemas.openxmlformats.org/drawingml/2006/main">
              <a:ext uri="{FF2B5EF4-FFF2-40B4-BE49-F238E27FC236}">
                <a16:creationId xmlns:a16="http://schemas.microsoft.com/office/drawing/2014/main" id="{F25B7800-3409-4129-BFED-3985E76A01AC}"/>
              </a:ext>
            </a:extLst>
          </p:cNvPr>
          <p:cNvSpPr>
            <a:spLocks xmlns:a="http://schemas.openxmlformats.org/drawingml/2006/main" noGrp="1"/>
          </p:cNvSpPr>
          <p:nvPr/>
        </p:nvSpPr>
        <p:spPr>
          <a:xfrm xmlns:a="http://schemas.openxmlformats.org/drawingml/2006/main">
            <a:off x="10424160" y="6492240"/>
            <a:ext cx="128016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100">
                <a:solidFill>
                  <a:srgbClr val="8A8578"/>
                </a:solidFill>
                <a:latin typeface="Calibri"/>
                <a:ea typeface="Calibri"/>
                <a:cs typeface="Calibri"/>
              </a:rPr>
              <a:t>6</a:t>
            </a:r>
            <a:endParaRPr sz="1100"/>
          </a:p>
        </p:txBody>
      </p:sp>
    </p:spTree>
    <p:extLst>
      <p:ext uri="{BB962C8B-B14F-4D97-AF65-F5344CB8AC3E}">
        <p14:creationId xmlns:p14="http://schemas.microsoft.com/office/powerpoint/2010/main" val="772541425"/>
      </p:ext>
    </p:extLst>
  </p:cSld>
</p:sld>
</file>

<file path=ppt/slides/slide7.xml><?xml version="1.0" encoding="utf-8"?>
<p:sld xmlns:p="http://schemas.openxmlformats.org/presentationml/2006/main">
  <p:cSld>
    <p:bg>
      <p:bgPr>
        <a:solidFill xmlns:a="http://schemas.openxmlformats.org/drawingml/2006/main">
          <a:srgbClr val="F0ECE0"/>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38E8B89B-57F7-4839-8D21-D0E4A2807BFC}"/>
              </a:ext>
            </a:extLst>
          </p:cNvPr>
          <p:cNvSpPr>
            <a:spLocks xmlns:a="http://schemas.openxmlformats.org/drawingml/2006/main" noGrp="1"/>
          </p:cNvSpPr>
          <p:nvPr/>
        </p:nvSpPr>
        <p:spPr>
          <a:xfrm xmlns:a="http://schemas.openxmlformats.org/drawingml/2006/main">
            <a:off x="502920" y="256032"/>
            <a:ext cx="73152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spc="120">
                <a:solidFill>
                  <a:srgbClr val="8A8578"/>
                </a:solidFill>
                <a:latin typeface="Calibri"/>
                <a:ea typeface="Calibri"/>
                <a:cs typeface="Calibri"/>
              </a:rPr>
              <a:t>07   CÁCH CHẠY</a:t>
            </a:r>
            <a:endParaRPr sz="1200"/>
          </a:p>
        </p:txBody>
      </p:sp>
      <p:sp>
        <p:nvSpPr>
          <p:cNvPr id="3" name="Text 1">
            <a:extLst xmlns:a="http://schemas.openxmlformats.org/drawingml/2006/main">
              <a:ext uri="{FF2B5EF4-FFF2-40B4-BE49-F238E27FC236}">
                <a16:creationId xmlns:a16="http://schemas.microsoft.com/office/drawing/2014/main" id="{40E7EE2E-D029-4788-8483-AF16A290729C}"/>
              </a:ext>
            </a:extLst>
          </p:cNvPr>
          <p:cNvSpPr>
            <a:spLocks xmlns:a="http://schemas.openxmlformats.org/drawingml/2006/main" noGrp="1"/>
          </p:cNvSpPr>
          <p:nvPr/>
        </p:nvSpPr>
        <p:spPr>
          <a:xfrm xmlns:a="http://schemas.openxmlformats.org/drawingml/2006/main">
            <a:off x="6675120" y="256032"/>
            <a:ext cx="50292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300">
                <a:solidFill>
                  <a:srgbClr val="8A8578"/>
                </a:solidFill>
                <a:latin typeface="Calibri"/>
                <a:ea typeface="Calibri"/>
                <a:cs typeface="Calibri"/>
              </a:rPr>
              <a:t>Bốn bước</a:t>
            </a:r>
            <a:endParaRPr sz="1300"/>
          </a:p>
        </p:txBody>
      </p:sp>
      <p:sp>
        <p:nvSpPr>
          <p:cNvPr id="4" name="Text 2">
            <a:extLst xmlns:a="http://schemas.openxmlformats.org/drawingml/2006/main">
              <a:ext uri="{FF2B5EF4-FFF2-40B4-BE49-F238E27FC236}">
                <a16:creationId xmlns:a16="http://schemas.microsoft.com/office/drawing/2014/main" id="{D17E0752-8C1B-4A95-B276-F47F248618C1}"/>
              </a:ext>
            </a:extLst>
          </p:cNvPr>
          <p:cNvSpPr>
            <a:spLocks xmlns:a="http://schemas.openxmlformats.org/drawingml/2006/main" noGrp="1"/>
          </p:cNvSpPr>
          <p:nvPr/>
        </p:nvSpPr>
        <p:spPr>
          <a:xfrm xmlns:a="http://schemas.openxmlformats.org/drawingml/2006/main">
            <a:off x="502920" y="585216"/>
            <a:ext cx="1115568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a:solidFill>
                  <a:srgbClr val="1A1A1A"/>
                </a:solidFill>
                <a:latin typeface="Georgia"/>
                <a:ea typeface="Georgia"/>
                <a:cs typeface="Georgia"/>
              </a:rPr>
              <a:t>Từ file bài báo đến điểm ROUGE</a:t>
            </a:r>
            <a:endParaRPr sz="2800"/>
          </a:p>
        </p:txBody>
      </p:sp>
      <p:sp>
        <p:nvSpPr>
          <p:cNvPr id="5" name="Shape 3">
            <a:extLst xmlns:a="http://schemas.openxmlformats.org/drawingml/2006/main">
              <a:ext uri="{FF2B5EF4-FFF2-40B4-BE49-F238E27FC236}">
                <a16:creationId xmlns:a16="http://schemas.microsoft.com/office/drawing/2014/main" id="{3DA688AF-F18A-4C2C-85CB-FFBFDCEB36FF}"/>
              </a:ext>
            </a:extLst>
          </p:cNvPr>
          <p:cNvSpPr>
            <a:spLocks xmlns:a="http://schemas.openxmlformats.org/drawingml/2006/main" noGrp="1"/>
          </p:cNvSpPr>
          <p:nvPr/>
        </p:nvSpPr>
        <p:spPr>
          <a:xfrm xmlns:a="http://schemas.openxmlformats.org/drawingml/2006/main">
            <a:off x="502920" y="1463040"/>
            <a:ext cx="2743200" cy="4526280"/>
          </a:xfrm>
          <a:prstGeom xmlns:a="http://schemas.openxmlformats.org/drawingml/2006/main" prst="rect">
            <a:avLst/>
          </a:prstGeom>
          <a:solidFill xmlns:a="http://schemas.openxmlformats.org/drawingml/2006/main">
            <a:srgbClr val="F7F3E8"/>
          </a:solidFill>
          <a:ln xmlns:a="http://schemas.openxmlformats.org/drawingml/2006/main" w="9525">
            <a:solidFill>
              <a:srgbClr val="C8C0AE"/>
            </a:solidFill>
            <a:prstDash val="solid"/>
          </a:ln>
        </p:spPr>
      </p:sp>
      <p:sp>
        <p:nvSpPr>
          <p:cNvPr id="6" name="Text 4">
            <a:extLst xmlns:a="http://schemas.openxmlformats.org/drawingml/2006/main">
              <a:ext uri="{FF2B5EF4-FFF2-40B4-BE49-F238E27FC236}">
                <a16:creationId xmlns:a16="http://schemas.microsoft.com/office/drawing/2014/main" id="{3FA58C33-4A4B-464E-BA0F-99590BF91C8A}"/>
              </a:ext>
            </a:extLst>
          </p:cNvPr>
          <p:cNvSpPr>
            <a:spLocks xmlns:a="http://schemas.openxmlformats.org/drawingml/2006/main" noGrp="1"/>
          </p:cNvSpPr>
          <p:nvPr/>
        </p:nvSpPr>
        <p:spPr>
          <a:xfrm xmlns:a="http://schemas.openxmlformats.org/drawingml/2006/main">
            <a:off x="685800" y="1691640"/>
            <a:ext cx="23774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200">
                <a:solidFill>
                  <a:srgbClr val="B8432A"/>
                </a:solidFill>
                <a:latin typeface="Georgia"/>
                <a:ea typeface="Georgia"/>
                <a:cs typeface="Georgia"/>
              </a:rPr>
              <a:t>1</a:t>
            </a:r>
            <a:endParaRPr sz="3200"/>
          </a:p>
        </p:txBody>
      </p:sp>
      <p:sp>
        <p:nvSpPr>
          <p:cNvPr id="7" name="Text 5">
            <a:extLst xmlns:a="http://schemas.openxmlformats.org/drawingml/2006/main">
              <a:ext uri="{FF2B5EF4-FFF2-40B4-BE49-F238E27FC236}">
                <a16:creationId xmlns:a16="http://schemas.microsoft.com/office/drawing/2014/main" id="{4D371681-1E8D-4D33-A730-685D41D325F4}"/>
              </a:ext>
            </a:extLst>
          </p:cNvPr>
          <p:cNvSpPr>
            <a:spLocks xmlns:a="http://schemas.openxmlformats.org/drawingml/2006/main" noGrp="1"/>
          </p:cNvSpPr>
          <p:nvPr/>
        </p:nvSpPr>
        <p:spPr>
          <a:xfrm xmlns:a="http://schemas.openxmlformats.org/drawingml/2006/main">
            <a:off x="685800" y="2468880"/>
            <a:ext cx="237744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b="1">
                <a:solidFill>
                  <a:srgbClr val="1A1A1A"/>
                </a:solidFill>
                <a:latin typeface="Calibri"/>
                <a:ea typeface="Calibri"/>
                <a:cs typeface="Calibri"/>
              </a:rPr>
              <a:t>Đọc file</a:t>
            </a:r>
            <a:endParaRPr sz="2000"/>
          </a:p>
        </p:txBody>
      </p:sp>
      <p:sp>
        <p:nvSpPr>
          <p:cNvPr id="8" name="Text 6">
            <a:extLst xmlns:a="http://schemas.openxmlformats.org/drawingml/2006/main">
              <a:ext uri="{FF2B5EF4-FFF2-40B4-BE49-F238E27FC236}">
                <a16:creationId xmlns:a16="http://schemas.microsoft.com/office/drawing/2014/main" id="{256ADA0B-0636-415F-B267-2D3D89581ADA}"/>
              </a:ext>
            </a:extLst>
          </p:cNvPr>
          <p:cNvSpPr>
            <a:spLocks xmlns:a="http://schemas.openxmlformats.org/drawingml/2006/main" noGrp="1"/>
          </p:cNvSpPr>
          <p:nvPr/>
        </p:nvSpPr>
        <p:spPr>
          <a:xfrm xmlns:a="http://schemas.openxmlformats.org/drawingml/2006/main">
            <a:off x="685800" y="3383280"/>
            <a:ext cx="2377440" cy="2011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2B2B2B"/>
                </a:solidFill>
                <a:latin typeface="Calibri"/>
                <a:ea typeface="Calibri"/>
                <a:cs typeface="Calibri"/>
              </a:rPr>
              <a:t>Lấy tiêu đề, sapo và thân bài.</a:t>
            </a:r>
            <a:endParaRPr sz="1600"/>
          </a:p>
        </p:txBody>
      </p:sp>
      <p:sp>
        <p:nvSpPr>
          <p:cNvPr id="9" name="Shape 7">
            <a:extLst xmlns:a="http://schemas.openxmlformats.org/drawingml/2006/main">
              <a:ext uri="{FF2B5EF4-FFF2-40B4-BE49-F238E27FC236}">
                <a16:creationId xmlns:a16="http://schemas.microsoft.com/office/drawing/2014/main" id="{6AA51D72-2E09-431D-A005-B10DB5F1B22D}"/>
              </a:ext>
            </a:extLst>
          </p:cNvPr>
          <p:cNvSpPr>
            <a:spLocks xmlns:a="http://schemas.openxmlformats.org/drawingml/2006/main" noGrp="1"/>
          </p:cNvSpPr>
          <p:nvPr/>
        </p:nvSpPr>
        <p:spPr>
          <a:xfrm xmlns:a="http://schemas.openxmlformats.org/drawingml/2006/main">
            <a:off x="3383280" y="1463040"/>
            <a:ext cx="2743200" cy="4526280"/>
          </a:xfrm>
          <a:prstGeom xmlns:a="http://schemas.openxmlformats.org/drawingml/2006/main" prst="rect">
            <a:avLst/>
          </a:prstGeom>
          <a:solidFill xmlns:a="http://schemas.openxmlformats.org/drawingml/2006/main">
            <a:srgbClr val="F7F3E8"/>
          </a:solidFill>
          <a:ln xmlns:a="http://schemas.openxmlformats.org/drawingml/2006/main" w="9525">
            <a:solidFill>
              <a:srgbClr val="C8C0AE"/>
            </a:solidFill>
            <a:prstDash val="solid"/>
          </a:ln>
        </p:spPr>
      </p:sp>
      <p:sp>
        <p:nvSpPr>
          <p:cNvPr id="10" name="Text 8">
            <a:extLst xmlns:a="http://schemas.openxmlformats.org/drawingml/2006/main">
              <a:ext uri="{FF2B5EF4-FFF2-40B4-BE49-F238E27FC236}">
                <a16:creationId xmlns:a16="http://schemas.microsoft.com/office/drawing/2014/main" id="{5B2DB3E7-C442-42DA-9495-90692D33922B}"/>
              </a:ext>
            </a:extLst>
          </p:cNvPr>
          <p:cNvSpPr>
            <a:spLocks xmlns:a="http://schemas.openxmlformats.org/drawingml/2006/main" noGrp="1"/>
          </p:cNvSpPr>
          <p:nvPr/>
        </p:nvSpPr>
        <p:spPr>
          <a:xfrm xmlns:a="http://schemas.openxmlformats.org/drawingml/2006/main">
            <a:off x="3566160" y="1691640"/>
            <a:ext cx="23774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200">
                <a:solidFill>
                  <a:srgbClr val="B8432A"/>
                </a:solidFill>
                <a:latin typeface="Georgia"/>
                <a:ea typeface="Georgia"/>
                <a:cs typeface="Georgia"/>
              </a:rPr>
              <a:t>2</a:t>
            </a:r>
            <a:endParaRPr sz="3200"/>
          </a:p>
        </p:txBody>
      </p:sp>
      <p:sp>
        <p:nvSpPr>
          <p:cNvPr id="11" name="Text 9">
            <a:extLst xmlns:a="http://schemas.openxmlformats.org/drawingml/2006/main">
              <a:ext uri="{FF2B5EF4-FFF2-40B4-BE49-F238E27FC236}">
                <a16:creationId xmlns:a16="http://schemas.microsoft.com/office/drawing/2014/main" id="{392D1ECC-9526-4B6B-B937-CEDC1F928F76}"/>
              </a:ext>
            </a:extLst>
          </p:cNvPr>
          <p:cNvSpPr>
            <a:spLocks xmlns:a="http://schemas.openxmlformats.org/drawingml/2006/main" noGrp="1"/>
          </p:cNvSpPr>
          <p:nvPr/>
        </p:nvSpPr>
        <p:spPr>
          <a:xfrm xmlns:a="http://schemas.openxmlformats.org/drawingml/2006/main">
            <a:off x="3566160" y="2468880"/>
            <a:ext cx="237744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b="1">
                <a:solidFill>
                  <a:srgbClr val="1A1A1A"/>
                </a:solidFill>
                <a:latin typeface="Calibri"/>
                <a:ea typeface="Calibri"/>
                <a:cs typeface="Calibri"/>
              </a:rPr>
              <a:t>Tách câu</a:t>
            </a:r>
            <a:endParaRPr sz="2000"/>
          </a:p>
        </p:txBody>
      </p:sp>
      <p:sp>
        <p:nvSpPr>
          <p:cNvPr id="12" name="Text 10">
            <a:extLst xmlns:a="http://schemas.openxmlformats.org/drawingml/2006/main">
              <a:ext uri="{FF2B5EF4-FFF2-40B4-BE49-F238E27FC236}">
                <a16:creationId xmlns:a16="http://schemas.microsoft.com/office/drawing/2014/main" id="{77C83036-3931-4F4F-A003-6D1285DBAEFA}"/>
              </a:ext>
            </a:extLst>
          </p:cNvPr>
          <p:cNvSpPr>
            <a:spLocks xmlns:a="http://schemas.openxmlformats.org/drawingml/2006/main" noGrp="1"/>
          </p:cNvSpPr>
          <p:nvPr/>
        </p:nvSpPr>
        <p:spPr>
          <a:xfrm xmlns:a="http://schemas.openxmlformats.org/drawingml/2006/main">
            <a:off x="3566160" y="3383280"/>
            <a:ext cx="2377440" cy="2011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2B2B2B"/>
                </a:solidFill>
                <a:latin typeface="Calibri"/>
                <a:ea typeface="Calibri"/>
                <a:cs typeface="Calibri"/>
              </a:rPr>
              <a:t>Lead-3 và TextRank chạy trên máy.</a:t>
            </a:r>
            <a:endParaRPr sz="1600"/>
          </a:p>
        </p:txBody>
      </p:sp>
      <p:sp>
        <p:nvSpPr>
          <p:cNvPr id="13" name="Shape 11">
            <a:extLst xmlns:a="http://schemas.openxmlformats.org/drawingml/2006/main">
              <a:ext uri="{FF2B5EF4-FFF2-40B4-BE49-F238E27FC236}">
                <a16:creationId xmlns:a16="http://schemas.microsoft.com/office/drawing/2014/main" id="{E857E1CC-750C-45A8-85D9-006304C303A7}"/>
              </a:ext>
            </a:extLst>
          </p:cNvPr>
          <p:cNvSpPr>
            <a:spLocks xmlns:a="http://schemas.openxmlformats.org/drawingml/2006/main" noGrp="1"/>
          </p:cNvSpPr>
          <p:nvPr/>
        </p:nvSpPr>
        <p:spPr>
          <a:xfrm xmlns:a="http://schemas.openxmlformats.org/drawingml/2006/main">
            <a:off x="6263640" y="1463040"/>
            <a:ext cx="2743200" cy="4526280"/>
          </a:xfrm>
          <a:prstGeom xmlns:a="http://schemas.openxmlformats.org/drawingml/2006/main" prst="rect">
            <a:avLst/>
          </a:prstGeom>
          <a:solidFill xmlns:a="http://schemas.openxmlformats.org/drawingml/2006/main">
            <a:srgbClr val="F7F3E8"/>
          </a:solidFill>
          <a:ln xmlns:a="http://schemas.openxmlformats.org/drawingml/2006/main" w="9525">
            <a:solidFill>
              <a:srgbClr val="C8C0AE"/>
            </a:solidFill>
            <a:prstDash val="solid"/>
          </a:ln>
        </p:spPr>
      </p:sp>
      <p:sp>
        <p:nvSpPr>
          <p:cNvPr id="14" name="Text 12">
            <a:extLst xmlns:a="http://schemas.openxmlformats.org/drawingml/2006/main">
              <a:ext uri="{FF2B5EF4-FFF2-40B4-BE49-F238E27FC236}">
                <a16:creationId xmlns:a16="http://schemas.microsoft.com/office/drawing/2014/main" id="{3F19B7BA-C970-4E31-9066-B75D6BCF52C1}"/>
              </a:ext>
            </a:extLst>
          </p:cNvPr>
          <p:cNvSpPr>
            <a:spLocks xmlns:a="http://schemas.openxmlformats.org/drawingml/2006/main" noGrp="1"/>
          </p:cNvSpPr>
          <p:nvPr/>
        </p:nvSpPr>
        <p:spPr>
          <a:xfrm xmlns:a="http://schemas.openxmlformats.org/drawingml/2006/main">
            <a:off x="6446520" y="1691640"/>
            <a:ext cx="23774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200">
                <a:solidFill>
                  <a:srgbClr val="B8432A"/>
                </a:solidFill>
                <a:latin typeface="Georgia"/>
                <a:ea typeface="Georgia"/>
                <a:cs typeface="Georgia"/>
              </a:rPr>
              <a:t>3</a:t>
            </a:r>
            <a:endParaRPr sz="3200"/>
          </a:p>
        </p:txBody>
      </p:sp>
      <p:sp>
        <p:nvSpPr>
          <p:cNvPr id="15" name="Text 13">
            <a:extLst xmlns:a="http://schemas.openxmlformats.org/drawingml/2006/main">
              <a:ext uri="{FF2B5EF4-FFF2-40B4-BE49-F238E27FC236}">
                <a16:creationId xmlns:a16="http://schemas.microsoft.com/office/drawing/2014/main" id="{EC54CA3F-AAE3-4B42-8744-44FFA6E3416B}"/>
              </a:ext>
            </a:extLst>
          </p:cNvPr>
          <p:cNvSpPr>
            <a:spLocks xmlns:a="http://schemas.openxmlformats.org/drawingml/2006/main" noGrp="1"/>
          </p:cNvSpPr>
          <p:nvPr/>
        </p:nvSpPr>
        <p:spPr>
          <a:xfrm xmlns:a="http://schemas.openxmlformats.org/drawingml/2006/main">
            <a:off x="6446520" y="2468880"/>
            <a:ext cx="237744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b="1">
                <a:solidFill>
                  <a:srgbClr val="1A1A1A"/>
                </a:solidFill>
                <a:latin typeface="Calibri"/>
                <a:ea typeface="Calibri"/>
                <a:cs typeface="Calibri"/>
              </a:rPr>
              <a:t>ViT5</a:t>
            </a:r>
            <a:endParaRPr sz="2000"/>
          </a:p>
        </p:txBody>
      </p:sp>
      <p:sp>
        <p:nvSpPr>
          <p:cNvPr id="16" name="Text 14">
            <a:extLst xmlns:a="http://schemas.openxmlformats.org/drawingml/2006/main">
              <a:ext uri="{FF2B5EF4-FFF2-40B4-BE49-F238E27FC236}">
                <a16:creationId xmlns:a16="http://schemas.microsoft.com/office/drawing/2014/main" id="{7B059935-2FDA-4563-BD75-A32C19FE9E59}"/>
              </a:ext>
            </a:extLst>
          </p:cNvPr>
          <p:cNvSpPr>
            <a:spLocks xmlns:a="http://schemas.openxmlformats.org/drawingml/2006/main" noGrp="1"/>
          </p:cNvSpPr>
          <p:nvPr/>
        </p:nvSpPr>
        <p:spPr>
          <a:xfrm xmlns:a="http://schemas.openxmlformats.org/drawingml/2006/main">
            <a:off x="6446520" y="3383280"/>
            <a:ext cx="2377440" cy="2011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2B2B2B"/>
                </a:solidFill>
                <a:latin typeface="Calibri"/>
                <a:ea typeface="Calibri"/>
                <a:cs typeface="Calibri"/>
              </a:rPr>
              <a:t>Dùng câu đã viết sẵn và lưu lại.</a:t>
            </a:r>
            <a:endParaRPr sz="1600"/>
          </a:p>
        </p:txBody>
      </p:sp>
      <p:sp>
        <p:nvSpPr>
          <p:cNvPr id="17" name="Shape 15">
            <a:extLst xmlns:a="http://schemas.openxmlformats.org/drawingml/2006/main">
              <a:ext uri="{FF2B5EF4-FFF2-40B4-BE49-F238E27FC236}">
                <a16:creationId xmlns:a16="http://schemas.microsoft.com/office/drawing/2014/main" id="{58663C09-4DEC-4E93-8913-681D5DFC6AA3}"/>
              </a:ext>
            </a:extLst>
          </p:cNvPr>
          <p:cNvSpPr>
            <a:spLocks xmlns:a="http://schemas.openxmlformats.org/drawingml/2006/main" noGrp="1"/>
          </p:cNvSpPr>
          <p:nvPr/>
        </p:nvSpPr>
        <p:spPr>
          <a:xfrm xmlns:a="http://schemas.openxmlformats.org/drawingml/2006/main">
            <a:off x="9144000" y="1463040"/>
            <a:ext cx="2743200" cy="4526280"/>
          </a:xfrm>
          <a:prstGeom xmlns:a="http://schemas.openxmlformats.org/drawingml/2006/main" prst="rect">
            <a:avLst/>
          </a:prstGeom>
          <a:solidFill xmlns:a="http://schemas.openxmlformats.org/drawingml/2006/main">
            <a:srgbClr val="F7F3E8"/>
          </a:solidFill>
          <a:ln xmlns:a="http://schemas.openxmlformats.org/drawingml/2006/main" w="9525">
            <a:solidFill>
              <a:srgbClr val="C8C0AE"/>
            </a:solidFill>
            <a:prstDash val="solid"/>
          </a:ln>
        </p:spPr>
      </p:sp>
      <p:sp>
        <p:nvSpPr>
          <p:cNvPr id="18" name="Text 16">
            <a:extLst xmlns:a="http://schemas.openxmlformats.org/drawingml/2006/main">
              <a:ext uri="{FF2B5EF4-FFF2-40B4-BE49-F238E27FC236}">
                <a16:creationId xmlns:a16="http://schemas.microsoft.com/office/drawing/2014/main" id="{94BA0467-E79C-422F-ABD6-554D06BAA1AE}"/>
              </a:ext>
            </a:extLst>
          </p:cNvPr>
          <p:cNvSpPr>
            <a:spLocks xmlns:a="http://schemas.openxmlformats.org/drawingml/2006/main" noGrp="1"/>
          </p:cNvSpPr>
          <p:nvPr/>
        </p:nvSpPr>
        <p:spPr>
          <a:xfrm xmlns:a="http://schemas.openxmlformats.org/drawingml/2006/main">
            <a:off x="9326880" y="1691640"/>
            <a:ext cx="23774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200">
                <a:solidFill>
                  <a:srgbClr val="B8432A"/>
                </a:solidFill>
                <a:latin typeface="Georgia"/>
                <a:ea typeface="Georgia"/>
                <a:cs typeface="Georgia"/>
              </a:rPr>
              <a:t>4</a:t>
            </a:r>
            <a:endParaRPr sz="3200"/>
          </a:p>
        </p:txBody>
      </p:sp>
      <p:sp>
        <p:nvSpPr>
          <p:cNvPr id="19" name="Text 17">
            <a:extLst xmlns:a="http://schemas.openxmlformats.org/drawingml/2006/main">
              <a:ext uri="{FF2B5EF4-FFF2-40B4-BE49-F238E27FC236}">
                <a16:creationId xmlns:a16="http://schemas.microsoft.com/office/drawing/2014/main" id="{105678EE-1F0C-46C4-95C1-4865FC0DCA8A}"/>
              </a:ext>
            </a:extLst>
          </p:cNvPr>
          <p:cNvSpPr>
            <a:spLocks xmlns:a="http://schemas.openxmlformats.org/drawingml/2006/main" noGrp="1"/>
          </p:cNvSpPr>
          <p:nvPr/>
        </p:nvSpPr>
        <p:spPr>
          <a:xfrm xmlns:a="http://schemas.openxmlformats.org/drawingml/2006/main">
            <a:off x="9326880" y="2468880"/>
            <a:ext cx="237744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b="1">
                <a:solidFill>
                  <a:srgbClr val="1A1A1A"/>
                </a:solidFill>
                <a:latin typeface="Calibri"/>
                <a:ea typeface="Calibri"/>
                <a:cs typeface="Calibri"/>
              </a:rPr>
              <a:t>ROUGE</a:t>
            </a:r>
            <a:endParaRPr sz="2000"/>
          </a:p>
        </p:txBody>
      </p:sp>
      <p:sp>
        <p:nvSpPr>
          <p:cNvPr id="20" name="Text 18">
            <a:extLst xmlns:a="http://schemas.openxmlformats.org/drawingml/2006/main">
              <a:ext uri="{FF2B5EF4-FFF2-40B4-BE49-F238E27FC236}">
                <a16:creationId xmlns:a16="http://schemas.microsoft.com/office/drawing/2014/main" id="{E74A70A9-2454-4B0C-8E8E-FBD447C84ABF}"/>
              </a:ext>
            </a:extLst>
          </p:cNvPr>
          <p:cNvSpPr>
            <a:spLocks xmlns:a="http://schemas.openxmlformats.org/drawingml/2006/main" noGrp="1"/>
          </p:cNvSpPr>
          <p:nvPr/>
        </p:nvSpPr>
        <p:spPr>
          <a:xfrm xmlns:a="http://schemas.openxmlformats.org/drawingml/2006/main">
            <a:off x="9326880" y="3383280"/>
            <a:ext cx="2377440" cy="2011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2B2B2B"/>
                </a:solidFill>
                <a:latin typeface="Calibri"/>
                <a:ea typeface="Calibri"/>
                <a:cs typeface="Calibri"/>
              </a:rPr>
              <a:t>So bản tóm tắt với sapo bằng ROUGE-1, 2 và L.</a:t>
            </a:r>
            <a:endParaRPr sz="1600"/>
          </a:p>
        </p:txBody>
      </p:sp>
      <p:sp>
        <p:nvSpPr>
          <p:cNvPr id="21" name="Text 19">
            <a:extLst xmlns:a="http://schemas.openxmlformats.org/drawingml/2006/main">
              <a:ext uri="{FF2B5EF4-FFF2-40B4-BE49-F238E27FC236}">
                <a16:creationId xmlns:a16="http://schemas.microsoft.com/office/drawing/2014/main" id="{F4A5042E-6D98-42E5-8357-B6A32C5108DE}"/>
              </a:ext>
            </a:extLst>
          </p:cNvPr>
          <p:cNvSpPr>
            <a:spLocks xmlns:a="http://schemas.openxmlformats.org/drawingml/2006/main" noGrp="1"/>
          </p:cNvSpPr>
          <p:nvPr/>
        </p:nvSpPr>
        <p:spPr>
          <a:xfrm xmlns:a="http://schemas.openxmlformats.org/drawingml/2006/main">
            <a:off x="502920" y="6492240"/>
            <a:ext cx="73152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B5AFA0"/>
                </a:solidFill>
                <a:latin typeface="Calibri"/>
                <a:ea typeface="Calibri"/>
                <a:cs typeface="Calibri"/>
              </a:rPr>
              <a:t>CS221 · UIT · Nhóm 14</a:t>
            </a:r>
            <a:endParaRPr sz="1100"/>
          </a:p>
        </p:txBody>
      </p:sp>
      <p:sp>
        <p:nvSpPr>
          <p:cNvPr id="22" name="Text 20">
            <a:extLst xmlns:a="http://schemas.openxmlformats.org/drawingml/2006/main">
              <a:ext uri="{FF2B5EF4-FFF2-40B4-BE49-F238E27FC236}">
                <a16:creationId xmlns:a16="http://schemas.microsoft.com/office/drawing/2014/main" id="{6EFE487E-39EC-47CE-8AFF-A5CA2E5875E3}"/>
              </a:ext>
            </a:extLst>
          </p:cNvPr>
          <p:cNvSpPr>
            <a:spLocks xmlns:a="http://schemas.openxmlformats.org/drawingml/2006/main" noGrp="1"/>
          </p:cNvSpPr>
          <p:nvPr/>
        </p:nvSpPr>
        <p:spPr>
          <a:xfrm xmlns:a="http://schemas.openxmlformats.org/drawingml/2006/main">
            <a:off x="10424160" y="6492240"/>
            <a:ext cx="128016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100">
                <a:solidFill>
                  <a:srgbClr val="8A8578"/>
                </a:solidFill>
                <a:latin typeface="Calibri"/>
                <a:ea typeface="Calibri"/>
                <a:cs typeface="Calibri"/>
              </a:rPr>
              <a:t>7</a:t>
            </a:r>
            <a:endParaRPr sz="1100"/>
          </a:p>
        </p:txBody>
      </p:sp>
    </p:spTree>
    <p:extLst>
      <p:ext uri="{BB962C8B-B14F-4D97-AF65-F5344CB8AC3E}">
        <p14:creationId xmlns:p14="http://schemas.microsoft.com/office/powerpoint/2010/main" val="1601517150"/>
      </p:ext>
    </p:extLst>
  </p:cSld>
</p:sld>
</file>

<file path=ppt/slides/slide8.xml><?xml version="1.0" encoding="utf-8"?>
<p:sld xmlns:p="http://schemas.openxmlformats.org/presentationml/2006/main">
  <p:cSld>
    <p:bg>
      <p:bgPr>
        <a:solidFill xmlns:a="http://schemas.openxmlformats.org/drawingml/2006/main">
          <a:srgbClr val="F0ECE0"/>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E7DB402-DB63-4C1D-83EA-0DD1821987A4}"/>
              </a:ext>
            </a:extLst>
          </p:cNvPr>
          <p:cNvSpPr>
            <a:spLocks xmlns:a="http://schemas.openxmlformats.org/drawingml/2006/main" noGrp="1"/>
          </p:cNvSpPr>
          <p:nvPr/>
        </p:nvSpPr>
        <p:spPr>
          <a:xfrm xmlns:a="http://schemas.openxmlformats.org/drawingml/2006/main">
            <a:off x="502920" y="256032"/>
            <a:ext cx="73152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spc="120">
                <a:solidFill>
                  <a:srgbClr val="8A8578"/>
                </a:solidFill>
                <a:latin typeface="Calibri"/>
                <a:ea typeface="Calibri"/>
                <a:cs typeface="Calibri"/>
              </a:rPr>
              <a:t>08   TIỀN XỬ LÝ</a:t>
            </a:r>
            <a:endParaRPr sz="1200"/>
          </a:p>
        </p:txBody>
      </p:sp>
      <p:sp>
        <p:nvSpPr>
          <p:cNvPr id="3" name="Text 1">
            <a:extLst xmlns:a="http://schemas.openxmlformats.org/drawingml/2006/main">
              <a:ext uri="{FF2B5EF4-FFF2-40B4-BE49-F238E27FC236}">
                <a16:creationId xmlns:a16="http://schemas.microsoft.com/office/drawing/2014/main" id="{04CD512E-BE7C-4CCF-AE8E-864CC5111117}"/>
              </a:ext>
            </a:extLst>
          </p:cNvPr>
          <p:cNvSpPr>
            <a:spLocks xmlns:a="http://schemas.openxmlformats.org/drawingml/2006/main" noGrp="1"/>
          </p:cNvSpPr>
          <p:nvPr/>
        </p:nvSpPr>
        <p:spPr>
          <a:xfrm xmlns:a="http://schemas.openxmlformats.org/drawingml/2006/main">
            <a:off x="6675120" y="256032"/>
            <a:ext cx="50292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300">
                <a:solidFill>
                  <a:srgbClr val="8A8578"/>
                </a:solidFill>
                <a:latin typeface="Calibri"/>
                <a:ea typeface="Calibri"/>
                <a:cs typeface="Calibri"/>
              </a:rPr>
              <a:t>Tiếng Việt</a:t>
            </a:r>
            <a:endParaRPr sz="1300"/>
          </a:p>
        </p:txBody>
      </p:sp>
      <p:sp>
        <p:nvSpPr>
          <p:cNvPr id="4" name="Text 2">
            <a:extLst xmlns:a="http://schemas.openxmlformats.org/drawingml/2006/main">
              <a:ext uri="{FF2B5EF4-FFF2-40B4-BE49-F238E27FC236}">
                <a16:creationId xmlns:a16="http://schemas.microsoft.com/office/drawing/2014/main" id="{5079581A-220A-466B-BCA8-D2225098F9B5}"/>
              </a:ext>
            </a:extLst>
          </p:cNvPr>
          <p:cNvSpPr>
            <a:spLocks xmlns:a="http://schemas.openxmlformats.org/drawingml/2006/main" noGrp="1"/>
          </p:cNvSpPr>
          <p:nvPr/>
        </p:nvSpPr>
        <p:spPr>
          <a:xfrm xmlns:a="http://schemas.openxmlformats.org/drawingml/2006/main">
            <a:off x="502920" y="585216"/>
            <a:ext cx="1115568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a:solidFill>
                  <a:srgbClr val="1A1A1A"/>
                </a:solidFill>
                <a:latin typeface="Georgia"/>
                <a:ea typeface="Georgia"/>
                <a:cs typeface="Georgia"/>
              </a:rPr>
              <a:t>Tiền xử lý và chuẩn hóa khi chấm ROUGE</a:t>
            </a:r>
            <a:endParaRPr sz="2800"/>
          </a:p>
        </p:txBody>
      </p:sp>
      <p:sp>
        <p:nvSpPr>
          <p:cNvPr id="5" name="Shape 3">
            <a:extLst xmlns:a="http://schemas.openxmlformats.org/drawingml/2006/main">
              <a:ext uri="{FF2B5EF4-FFF2-40B4-BE49-F238E27FC236}">
                <a16:creationId xmlns:a16="http://schemas.microsoft.com/office/drawing/2014/main" id="{52543524-A377-4CA6-BED5-2AD9A6D770D5}"/>
              </a:ext>
            </a:extLst>
          </p:cNvPr>
          <p:cNvSpPr>
            <a:spLocks xmlns:a="http://schemas.openxmlformats.org/drawingml/2006/main" noGrp="1"/>
          </p:cNvSpPr>
          <p:nvPr/>
        </p:nvSpPr>
        <p:spPr>
          <a:xfrm xmlns:a="http://schemas.openxmlformats.org/drawingml/2006/main">
            <a:off x="502920" y="1417320"/>
            <a:ext cx="11155680" cy="1417320"/>
          </a:xfrm>
          <a:prstGeom xmlns:a="http://schemas.openxmlformats.org/drawingml/2006/main" prst="rect">
            <a:avLst/>
          </a:prstGeom>
          <a:solidFill xmlns:a="http://schemas.openxmlformats.org/drawingml/2006/main">
            <a:srgbClr val="F7F3E8"/>
          </a:solidFill>
          <a:ln xmlns:a="http://schemas.openxmlformats.org/drawingml/2006/main" w="9525">
            <a:solidFill>
              <a:srgbClr val="C8C0AE"/>
            </a:solidFill>
            <a:prstDash val="solid"/>
          </a:ln>
        </p:spPr>
      </p:sp>
      <p:sp>
        <p:nvSpPr>
          <p:cNvPr id="6" name="Text 4">
            <a:extLst xmlns:a="http://schemas.openxmlformats.org/drawingml/2006/main">
              <a:ext uri="{FF2B5EF4-FFF2-40B4-BE49-F238E27FC236}">
                <a16:creationId xmlns:a16="http://schemas.microsoft.com/office/drawing/2014/main" id="{48A58305-9047-4A21-BCBF-969B025D7F97}"/>
              </a:ext>
            </a:extLst>
          </p:cNvPr>
          <p:cNvSpPr>
            <a:spLocks xmlns:a="http://schemas.openxmlformats.org/drawingml/2006/main" noGrp="1"/>
          </p:cNvSpPr>
          <p:nvPr/>
        </p:nvSpPr>
        <p:spPr>
          <a:xfrm xmlns:a="http://schemas.openxmlformats.org/drawingml/2006/main">
            <a:off x="731520" y="1581912"/>
            <a:ext cx="283464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a:solidFill>
                  <a:srgbClr val="B8432A"/>
                </a:solidFill>
                <a:latin typeface="Calibri"/>
                <a:ea typeface="Calibri"/>
                <a:cs typeface="Calibri"/>
              </a:rPr>
              <a:t>Dấu gạch dưới</a:t>
            </a:r>
            <a:endParaRPr sz="1800"/>
          </a:p>
        </p:txBody>
      </p:sp>
      <p:sp>
        <p:nvSpPr>
          <p:cNvPr id="7" name="Text 5">
            <a:extLst xmlns:a="http://schemas.openxmlformats.org/drawingml/2006/main">
              <a:ext uri="{FF2B5EF4-FFF2-40B4-BE49-F238E27FC236}">
                <a16:creationId xmlns:a16="http://schemas.microsoft.com/office/drawing/2014/main" id="{1D123685-18BA-441E-BD20-7A6396F0E683}"/>
              </a:ext>
            </a:extLst>
          </p:cNvPr>
          <p:cNvSpPr>
            <a:spLocks xmlns:a="http://schemas.openxmlformats.org/drawingml/2006/main" noGrp="1"/>
          </p:cNvSpPr>
          <p:nvPr/>
        </p:nvSpPr>
        <p:spPr>
          <a:xfrm xmlns:a="http://schemas.openxmlformats.org/drawingml/2006/main">
            <a:off x="3657600" y="1581912"/>
            <a:ext cx="768096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a:solidFill>
                  <a:srgbClr val="2B2B2B"/>
                </a:solidFill>
                <a:latin typeface="Calibri"/>
                <a:ea typeface="Calibri"/>
                <a:cs typeface="Calibri"/>
              </a:rPr>
              <a:t>học_sinh là một từ có sẵn trong file Vietnews.</a:t>
            </a:r>
            <a:endParaRPr sz="1800"/>
          </a:p>
        </p:txBody>
      </p:sp>
      <p:sp>
        <p:nvSpPr>
          <p:cNvPr id="8" name="Shape 6">
            <a:extLst xmlns:a="http://schemas.openxmlformats.org/drawingml/2006/main">
              <a:ext uri="{FF2B5EF4-FFF2-40B4-BE49-F238E27FC236}">
                <a16:creationId xmlns:a16="http://schemas.microsoft.com/office/drawing/2014/main" id="{F8205CD9-5F0B-494B-B53D-C354F5116AFC}"/>
              </a:ext>
            </a:extLst>
          </p:cNvPr>
          <p:cNvSpPr>
            <a:spLocks xmlns:a="http://schemas.openxmlformats.org/drawingml/2006/main" noGrp="1"/>
          </p:cNvSpPr>
          <p:nvPr/>
        </p:nvSpPr>
        <p:spPr>
          <a:xfrm xmlns:a="http://schemas.openxmlformats.org/drawingml/2006/main">
            <a:off x="502920" y="3017520"/>
            <a:ext cx="11155680" cy="1417320"/>
          </a:xfrm>
          <a:prstGeom xmlns:a="http://schemas.openxmlformats.org/drawingml/2006/main" prst="rect">
            <a:avLst/>
          </a:prstGeom>
          <a:solidFill xmlns:a="http://schemas.openxmlformats.org/drawingml/2006/main">
            <a:srgbClr val="F7F3E8"/>
          </a:solidFill>
          <a:ln xmlns:a="http://schemas.openxmlformats.org/drawingml/2006/main" w="9525">
            <a:solidFill>
              <a:srgbClr val="C8C0AE"/>
            </a:solidFill>
            <a:prstDash val="solid"/>
          </a:ln>
        </p:spPr>
      </p:sp>
      <p:sp>
        <p:nvSpPr>
          <p:cNvPr id="9" name="Text 7">
            <a:extLst xmlns:a="http://schemas.openxmlformats.org/drawingml/2006/main">
              <a:ext uri="{FF2B5EF4-FFF2-40B4-BE49-F238E27FC236}">
                <a16:creationId xmlns:a16="http://schemas.microsoft.com/office/drawing/2014/main" id="{16CEC991-5977-4B65-ABA0-7D8799E203BF}"/>
              </a:ext>
            </a:extLst>
          </p:cNvPr>
          <p:cNvSpPr>
            <a:spLocks xmlns:a="http://schemas.openxmlformats.org/drawingml/2006/main" noGrp="1"/>
          </p:cNvSpPr>
          <p:nvPr/>
        </p:nvSpPr>
        <p:spPr>
          <a:xfrm xmlns:a="http://schemas.openxmlformats.org/drawingml/2006/main">
            <a:off x="731520" y="3182112"/>
            <a:ext cx="283464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a:solidFill>
                  <a:srgbClr val="B8432A"/>
                </a:solidFill>
                <a:latin typeface="Calibri"/>
                <a:ea typeface="Calibri"/>
                <a:cs typeface="Calibri"/>
              </a:rPr>
              <a:t>Câu</a:t>
            </a:r>
            <a:endParaRPr sz="1800"/>
          </a:p>
        </p:txBody>
      </p:sp>
      <p:sp>
        <p:nvSpPr>
          <p:cNvPr id="10" name="Text 8">
            <a:extLst xmlns:a="http://schemas.openxmlformats.org/drawingml/2006/main">
              <a:ext uri="{FF2B5EF4-FFF2-40B4-BE49-F238E27FC236}">
                <a16:creationId xmlns:a16="http://schemas.microsoft.com/office/drawing/2014/main" id="{74FF1F4E-9306-42D1-B176-1398EEFB6E44}"/>
              </a:ext>
            </a:extLst>
          </p:cNvPr>
          <p:cNvSpPr>
            <a:spLocks xmlns:a="http://schemas.openxmlformats.org/drawingml/2006/main" noGrp="1"/>
          </p:cNvSpPr>
          <p:nvPr/>
        </p:nvSpPr>
        <p:spPr>
          <a:xfrm xmlns:a="http://schemas.openxmlformats.org/drawingml/2006/main">
            <a:off x="3657600" y="3182112"/>
            <a:ext cx="768096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a:solidFill>
                  <a:srgbClr val="2B2B2B"/>
                </a:solidFill>
                <a:latin typeface="Calibri"/>
                <a:ea typeface="Calibri"/>
                <a:cs typeface="Calibri"/>
              </a:rPr>
              <a:t>Nối các dòng đến dấu kết thúc câu: dấu chấm, chấm than hoặc chấm hỏi.</a:t>
            </a:r>
            <a:endParaRPr sz="1800"/>
          </a:p>
        </p:txBody>
      </p:sp>
      <p:sp>
        <p:nvSpPr>
          <p:cNvPr id="11" name="Shape 9">
            <a:extLst xmlns:a="http://schemas.openxmlformats.org/drawingml/2006/main">
              <a:ext uri="{FF2B5EF4-FFF2-40B4-BE49-F238E27FC236}">
                <a16:creationId xmlns:a16="http://schemas.microsoft.com/office/drawing/2014/main" id="{558BFCA2-076D-4A22-A826-24BFF9158587}"/>
              </a:ext>
            </a:extLst>
          </p:cNvPr>
          <p:cNvSpPr>
            <a:spLocks xmlns:a="http://schemas.openxmlformats.org/drawingml/2006/main" noGrp="1"/>
          </p:cNvSpPr>
          <p:nvPr/>
        </p:nvSpPr>
        <p:spPr>
          <a:xfrm xmlns:a="http://schemas.openxmlformats.org/drawingml/2006/main">
            <a:off x="502920" y="4617720"/>
            <a:ext cx="11155680" cy="1417320"/>
          </a:xfrm>
          <a:prstGeom xmlns:a="http://schemas.openxmlformats.org/drawingml/2006/main" prst="rect">
            <a:avLst/>
          </a:prstGeom>
          <a:solidFill xmlns:a="http://schemas.openxmlformats.org/drawingml/2006/main">
            <a:srgbClr val="F7F3E8"/>
          </a:solidFill>
          <a:ln xmlns:a="http://schemas.openxmlformats.org/drawingml/2006/main" w="9525">
            <a:solidFill>
              <a:srgbClr val="C8C0AE"/>
            </a:solidFill>
            <a:prstDash val="solid"/>
          </a:ln>
        </p:spPr>
      </p:sp>
      <p:sp>
        <p:nvSpPr>
          <p:cNvPr id="12" name="Text 10">
            <a:extLst xmlns:a="http://schemas.openxmlformats.org/drawingml/2006/main">
              <a:ext uri="{FF2B5EF4-FFF2-40B4-BE49-F238E27FC236}">
                <a16:creationId xmlns:a16="http://schemas.microsoft.com/office/drawing/2014/main" id="{86C0035F-E3CD-4201-ABE4-A3E45A9CEEB3}"/>
              </a:ext>
            </a:extLst>
          </p:cNvPr>
          <p:cNvSpPr>
            <a:spLocks xmlns:a="http://schemas.openxmlformats.org/drawingml/2006/main" noGrp="1"/>
          </p:cNvSpPr>
          <p:nvPr/>
        </p:nvSpPr>
        <p:spPr>
          <a:xfrm xmlns:a="http://schemas.openxmlformats.org/drawingml/2006/main">
            <a:off x="731520" y="4782312"/>
            <a:ext cx="283464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a:solidFill>
                  <a:srgbClr val="B8432A"/>
                </a:solidFill>
                <a:latin typeface="Calibri"/>
                <a:ea typeface="Calibri"/>
                <a:cs typeface="Calibri"/>
              </a:rPr>
              <a:t>Lúc chấm</a:t>
            </a:r>
            <a:endParaRPr sz="1800"/>
          </a:p>
        </p:txBody>
      </p:sp>
      <p:sp>
        <p:nvSpPr>
          <p:cNvPr id="13" name="Text 11">
            <a:extLst xmlns:a="http://schemas.openxmlformats.org/drawingml/2006/main">
              <a:ext uri="{FF2B5EF4-FFF2-40B4-BE49-F238E27FC236}">
                <a16:creationId xmlns:a16="http://schemas.microsoft.com/office/drawing/2014/main" id="{5D203A8A-39DC-412E-B406-024250D57F8F}"/>
              </a:ext>
            </a:extLst>
          </p:cNvPr>
          <p:cNvSpPr>
            <a:spLocks xmlns:a="http://schemas.openxmlformats.org/drawingml/2006/main" noGrp="1"/>
          </p:cNvSpPr>
          <p:nvPr/>
        </p:nvSpPr>
        <p:spPr>
          <a:xfrm xmlns:a="http://schemas.openxmlformats.org/drawingml/2006/main">
            <a:off x="3657600" y="4782312"/>
            <a:ext cx="768096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a:solidFill>
                  <a:srgbClr val="2B2B2B"/>
                </a:solidFill>
                <a:latin typeface="Calibri"/>
                <a:ea typeface="Calibri"/>
                <a:cs typeface="Calibri"/>
              </a:rPr>
              <a:t>Đổi gạch dưới thành khoảng trắng ở bản tóm tắt và sapo, rồi tách theo khoảng trắng.</a:t>
            </a:r>
            <a:endParaRPr sz="1800"/>
          </a:p>
        </p:txBody>
      </p:sp>
      <p:sp>
        <p:nvSpPr>
          <p:cNvPr id="14" name="Text 12">
            <a:extLst xmlns:a="http://schemas.openxmlformats.org/drawingml/2006/main">
              <a:ext uri="{FF2B5EF4-FFF2-40B4-BE49-F238E27FC236}">
                <a16:creationId xmlns:a16="http://schemas.microsoft.com/office/drawing/2014/main" id="{6E8AEFEA-4B5F-4F40-91CF-B66933F9D980}"/>
              </a:ext>
            </a:extLst>
          </p:cNvPr>
          <p:cNvSpPr>
            <a:spLocks xmlns:a="http://schemas.openxmlformats.org/drawingml/2006/main" noGrp="1"/>
          </p:cNvSpPr>
          <p:nvPr/>
        </p:nvSpPr>
        <p:spPr>
          <a:xfrm xmlns:a="http://schemas.openxmlformats.org/drawingml/2006/main">
            <a:off x="502920" y="6492240"/>
            <a:ext cx="73152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B5AFA0"/>
                </a:solidFill>
                <a:latin typeface="Calibri"/>
                <a:ea typeface="Calibri"/>
                <a:cs typeface="Calibri"/>
              </a:rPr>
              <a:t>CS221 · UIT · Nhóm 14</a:t>
            </a:r>
            <a:endParaRPr sz="1100"/>
          </a:p>
        </p:txBody>
      </p:sp>
      <p:sp>
        <p:nvSpPr>
          <p:cNvPr id="15" name="Text 13">
            <a:extLst xmlns:a="http://schemas.openxmlformats.org/drawingml/2006/main">
              <a:ext uri="{FF2B5EF4-FFF2-40B4-BE49-F238E27FC236}">
                <a16:creationId xmlns:a16="http://schemas.microsoft.com/office/drawing/2014/main" id="{2E6C7C25-1424-49CC-8E9A-AF575029D574}"/>
              </a:ext>
            </a:extLst>
          </p:cNvPr>
          <p:cNvSpPr>
            <a:spLocks xmlns:a="http://schemas.openxmlformats.org/drawingml/2006/main" noGrp="1"/>
          </p:cNvSpPr>
          <p:nvPr/>
        </p:nvSpPr>
        <p:spPr>
          <a:xfrm xmlns:a="http://schemas.openxmlformats.org/drawingml/2006/main">
            <a:off x="10424160" y="6492240"/>
            <a:ext cx="128016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100">
                <a:solidFill>
                  <a:srgbClr val="8A8578"/>
                </a:solidFill>
                <a:latin typeface="Calibri"/>
                <a:ea typeface="Calibri"/>
                <a:cs typeface="Calibri"/>
              </a:rPr>
              <a:t>8</a:t>
            </a:r>
            <a:endParaRPr sz="1100"/>
          </a:p>
        </p:txBody>
      </p:sp>
    </p:spTree>
    <p:extLst>
      <p:ext uri="{BB962C8B-B14F-4D97-AF65-F5344CB8AC3E}">
        <p14:creationId xmlns:p14="http://schemas.microsoft.com/office/powerpoint/2010/main" val="921893262"/>
      </p:ext>
    </p:extLst>
  </p:cSld>
</p:sld>
</file>

<file path=ppt/slides/slide9.xml><?xml version="1.0" encoding="utf-8"?>
<p:sld xmlns:p="http://schemas.openxmlformats.org/presentationml/2006/main">
  <p:cSld>
    <p:bg>
      <p:bgPr>
        <a:solidFill xmlns:a="http://schemas.openxmlformats.org/drawingml/2006/main">
          <a:srgbClr val="F0ECE0"/>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0D6F8A0-90D7-4FAC-A488-2920DD008716}"/>
              </a:ext>
            </a:extLst>
          </p:cNvPr>
          <p:cNvSpPr>
            <a:spLocks xmlns:a="http://schemas.openxmlformats.org/drawingml/2006/main" noGrp="1"/>
          </p:cNvSpPr>
          <p:nvPr/>
        </p:nvSpPr>
        <p:spPr>
          <a:xfrm xmlns:a="http://schemas.openxmlformats.org/drawingml/2006/main">
            <a:off x="502920" y="256032"/>
            <a:ext cx="73152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spc="120">
                <a:solidFill>
                  <a:srgbClr val="8A8578"/>
                </a:solidFill>
                <a:latin typeface="Calibri"/>
                <a:ea typeface="Calibri"/>
                <a:cs typeface="Calibri"/>
              </a:rPr>
              <a:t>09   LEAD-3</a:t>
            </a:r>
            <a:endParaRPr sz="1200"/>
          </a:p>
        </p:txBody>
      </p:sp>
      <p:sp>
        <p:nvSpPr>
          <p:cNvPr id="3" name="Text 1">
            <a:extLst xmlns:a="http://schemas.openxmlformats.org/drawingml/2006/main">
              <a:ext uri="{FF2B5EF4-FFF2-40B4-BE49-F238E27FC236}">
                <a16:creationId xmlns:a16="http://schemas.microsoft.com/office/drawing/2014/main" id="{F99FA20C-E27F-4E22-B0BC-52ED25AB1163}"/>
              </a:ext>
            </a:extLst>
          </p:cNvPr>
          <p:cNvSpPr>
            <a:spLocks xmlns:a="http://schemas.openxmlformats.org/drawingml/2006/main" noGrp="1"/>
          </p:cNvSpPr>
          <p:nvPr/>
        </p:nvSpPr>
        <p:spPr>
          <a:xfrm xmlns:a="http://schemas.openxmlformats.org/drawingml/2006/main">
            <a:off x="6675120" y="256032"/>
            <a:ext cx="50292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300">
                <a:solidFill>
                  <a:srgbClr val="8A8578"/>
                </a:solidFill>
                <a:latin typeface="Calibri"/>
                <a:ea typeface="Calibri"/>
                <a:cs typeface="Calibri"/>
              </a:rPr>
              <a:t>Baseline</a:t>
            </a:r>
            <a:endParaRPr sz="1300"/>
          </a:p>
        </p:txBody>
      </p:sp>
      <p:sp>
        <p:nvSpPr>
          <p:cNvPr id="4" name="Text 2">
            <a:extLst xmlns:a="http://schemas.openxmlformats.org/drawingml/2006/main">
              <a:ext uri="{FF2B5EF4-FFF2-40B4-BE49-F238E27FC236}">
                <a16:creationId xmlns:a16="http://schemas.microsoft.com/office/drawing/2014/main" id="{13757730-299A-4AF6-A22F-44E5708563B1}"/>
              </a:ext>
            </a:extLst>
          </p:cNvPr>
          <p:cNvSpPr>
            <a:spLocks xmlns:a="http://schemas.openxmlformats.org/drawingml/2006/main" noGrp="1"/>
          </p:cNvSpPr>
          <p:nvPr/>
        </p:nvSpPr>
        <p:spPr>
          <a:xfrm xmlns:a="http://schemas.openxmlformats.org/drawingml/2006/main">
            <a:off x="502920" y="585216"/>
            <a:ext cx="1115568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a:solidFill>
                  <a:srgbClr val="1A1A1A"/>
                </a:solidFill>
                <a:latin typeface="Georgia"/>
                <a:ea typeface="Georgia"/>
                <a:cs typeface="Georgia"/>
              </a:rPr>
              <a:t>Lấy ba câu đầu thân bài</a:t>
            </a:r>
            <a:endParaRPr sz="2800"/>
          </a:p>
        </p:txBody>
      </p:sp>
      <p:sp>
        <p:nvSpPr>
          <p:cNvPr id="5" name="Shape 3">
            <a:extLst xmlns:a="http://schemas.openxmlformats.org/drawingml/2006/main">
              <a:ext uri="{FF2B5EF4-FFF2-40B4-BE49-F238E27FC236}">
                <a16:creationId xmlns:a16="http://schemas.microsoft.com/office/drawing/2014/main" id="{F1DE2736-85B1-45A8-B905-689BD50B0150}"/>
              </a:ext>
            </a:extLst>
          </p:cNvPr>
          <p:cNvSpPr>
            <a:spLocks xmlns:a="http://schemas.openxmlformats.org/drawingml/2006/main" noGrp="1"/>
          </p:cNvSpPr>
          <p:nvPr/>
        </p:nvSpPr>
        <p:spPr>
          <a:xfrm xmlns:a="http://schemas.openxmlformats.org/drawingml/2006/main">
            <a:off x="502920" y="1371600"/>
            <a:ext cx="6766560" cy="4663440"/>
          </a:xfrm>
          <a:prstGeom xmlns:a="http://schemas.openxmlformats.org/drawingml/2006/main" prst="rect">
            <a:avLst/>
          </a:prstGeom>
          <a:solidFill xmlns:a="http://schemas.openxmlformats.org/drawingml/2006/main">
            <a:srgbClr val="F7F3E8"/>
          </a:solidFill>
          <a:ln xmlns:a="http://schemas.openxmlformats.org/drawingml/2006/main" w="9525">
            <a:solidFill>
              <a:srgbClr val="C8C0AE"/>
            </a:solidFill>
            <a:prstDash val="solid"/>
          </a:ln>
        </p:spPr>
      </p:sp>
      <p:sp>
        <p:nvSpPr>
          <p:cNvPr id="6" name="Text 4">
            <a:extLst xmlns:a="http://schemas.openxmlformats.org/drawingml/2006/main">
              <a:ext uri="{FF2B5EF4-FFF2-40B4-BE49-F238E27FC236}">
                <a16:creationId xmlns:a16="http://schemas.microsoft.com/office/drawing/2014/main" id="{99412541-F820-404D-97DF-8BED11D825A4}"/>
              </a:ext>
            </a:extLst>
          </p:cNvPr>
          <p:cNvSpPr>
            <a:spLocks xmlns:a="http://schemas.openxmlformats.org/drawingml/2006/main" noGrp="1"/>
          </p:cNvSpPr>
          <p:nvPr/>
        </p:nvSpPr>
        <p:spPr>
          <a:xfrm xmlns:a="http://schemas.openxmlformats.org/drawingml/2006/main">
            <a:off x="777240" y="1600200"/>
            <a:ext cx="62179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B8432A"/>
                </a:solidFill>
                <a:latin typeface="Calibri"/>
                <a:ea typeface="Calibri"/>
                <a:cs typeface="Calibri"/>
              </a:rPr>
              <a:t>Cách làm</a:t>
            </a:r>
            <a:endParaRPr sz="1600"/>
          </a:p>
        </p:txBody>
      </p:sp>
      <p:sp>
        <p:nvSpPr>
          <p:cNvPr id="7" name="Text 5">
            <a:extLst xmlns:a="http://schemas.openxmlformats.org/drawingml/2006/main">
              <a:ext uri="{FF2B5EF4-FFF2-40B4-BE49-F238E27FC236}">
                <a16:creationId xmlns:a16="http://schemas.microsoft.com/office/drawing/2014/main" id="{FF524013-B438-4DD1-82E0-D162B15337A3}"/>
              </a:ext>
            </a:extLst>
          </p:cNvPr>
          <p:cNvSpPr>
            <a:spLocks xmlns:a="http://schemas.openxmlformats.org/drawingml/2006/main" noGrp="1"/>
          </p:cNvSpPr>
          <p:nvPr/>
        </p:nvSpPr>
        <p:spPr>
          <a:xfrm xmlns:a="http://schemas.openxmlformats.org/drawingml/2006/main">
            <a:off x="777240" y="2103120"/>
            <a:ext cx="6217920" cy="3291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200">
                <a:solidFill>
                  <a:srgbClr val="2B2B2B"/>
                </a:solidFill>
                <a:latin typeface="Calibri"/>
                <a:ea typeface="Calibri"/>
                <a:cs typeface="Calibri"/>
              </a:rPr>
              <a:t>Lấy tối đa ba câu đứng đầu bài.</a:t>
            </a:r>
            <a:endParaRPr sz="2200"/>
          </a:p>
          <a:p xmlns:a="http://schemas.openxmlformats.org/drawingml/2006/main">
            <a:pPr marL="0" indent="0">
              <a:buNone/>
            </a:pPr>
            <a:endParaRPr sz="2200"/>
          </a:p>
          <a:p xmlns:a="http://schemas.openxmlformats.org/drawingml/2006/main">
            <a:pPr marL="0" indent="0">
              <a:buNone/>
            </a:pPr>
            <a:r>
              <a:rPr sz="2200">
                <a:solidFill>
                  <a:srgbClr val="2B2B2B"/>
                </a:solidFill>
                <a:latin typeface="Calibri"/>
                <a:ea typeface="Calibri"/>
                <a:cs typeface="Calibri"/>
              </a:rPr>
              <a:t>Bài chỉ có hai câu thì giữ hai câu.</a:t>
            </a:r>
            <a:endParaRPr sz="2200"/>
          </a:p>
          <a:p xmlns:a="http://schemas.openxmlformats.org/drawingml/2006/main">
            <a:pPr marL="0" indent="0">
              <a:buNone/>
            </a:pPr>
            <a:endParaRPr sz="2200"/>
          </a:p>
          <a:p xmlns:a="http://schemas.openxmlformats.org/drawingml/2006/main">
            <a:pPr marL="0" indent="0">
              <a:buNone/>
            </a:pPr>
            <a:r>
              <a:rPr sz="2200">
                <a:solidFill>
                  <a:srgbClr val="2B2B2B"/>
                </a:solidFill>
                <a:latin typeface="Calibri"/>
                <a:ea typeface="Calibri"/>
                <a:cs typeface="Calibri"/>
              </a:rPr>
              <a:t>Không sắp xếp lại, không chấm câu nào quan trọng hơn.</a:t>
            </a:r>
            <a:endParaRPr sz="2200"/>
          </a:p>
        </p:txBody>
      </p:sp>
      <p:sp>
        <p:nvSpPr>
          <p:cNvPr id="8" name="Shape 6">
            <a:extLst xmlns:a="http://schemas.openxmlformats.org/drawingml/2006/main">
              <a:ext uri="{FF2B5EF4-FFF2-40B4-BE49-F238E27FC236}">
                <a16:creationId xmlns:a16="http://schemas.microsoft.com/office/drawing/2014/main" id="{3C2CD0D1-1FFE-49D9-8DB3-9FBDED716780}"/>
              </a:ext>
            </a:extLst>
          </p:cNvPr>
          <p:cNvSpPr>
            <a:spLocks xmlns:a="http://schemas.openxmlformats.org/drawingml/2006/main" noGrp="1"/>
          </p:cNvSpPr>
          <p:nvPr/>
        </p:nvSpPr>
        <p:spPr>
          <a:xfrm xmlns:a="http://schemas.openxmlformats.org/drawingml/2006/main">
            <a:off x="7498080" y="1371600"/>
            <a:ext cx="4160520" cy="4663440"/>
          </a:xfrm>
          <a:prstGeom xmlns:a="http://schemas.openxmlformats.org/drawingml/2006/main" prst="rect">
            <a:avLst/>
          </a:prstGeom>
          <a:solidFill xmlns:a="http://schemas.openxmlformats.org/drawingml/2006/main">
            <a:srgbClr val="F2E5D0"/>
          </a:solidFill>
          <a:ln xmlns:a="http://schemas.openxmlformats.org/drawingml/2006/main" w="9525">
            <a:solidFill>
              <a:srgbClr val="C8C0AE"/>
            </a:solidFill>
            <a:prstDash val="solid"/>
          </a:ln>
        </p:spPr>
      </p:sp>
      <p:sp>
        <p:nvSpPr>
          <p:cNvPr id="9" name="Text 7">
            <a:extLst xmlns:a="http://schemas.openxmlformats.org/drawingml/2006/main">
              <a:ext uri="{FF2B5EF4-FFF2-40B4-BE49-F238E27FC236}">
                <a16:creationId xmlns:a16="http://schemas.microsoft.com/office/drawing/2014/main" id="{7E541BA6-CB84-4873-906E-50F813D565CC}"/>
              </a:ext>
            </a:extLst>
          </p:cNvPr>
          <p:cNvSpPr>
            <a:spLocks xmlns:a="http://schemas.openxmlformats.org/drawingml/2006/main" noGrp="1"/>
          </p:cNvSpPr>
          <p:nvPr/>
        </p:nvSpPr>
        <p:spPr>
          <a:xfrm xmlns:a="http://schemas.openxmlformats.org/drawingml/2006/main">
            <a:off x="7726680" y="1600200"/>
            <a:ext cx="37490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B8432A"/>
                </a:solidFill>
                <a:latin typeface="Calibri"/>
                <a:ea typeface="Calibri"/>
                <a:cs typeface="Calibri"/>
              </a:rPr>
              <a:t>Vì sao cần</a:t>
            </a:r>
            <a:endParaRPr sz="1600"/>
          </a:p>
        </p:txBody>
      </p:sp>
      <p:sp>
        <p:nvSpPr>
          <p:cNvPr id="10" name="Text 8">
            <a:extLst xmlns:a="http://schemas.openxmlformats.org/drawingml/2006/main">
              <a:ext uri="{FF2B5EF4-FFF2-40B4-BE49-F238E27FC236}">
                <a16:creationId xmlns:a16="http://schemas.microsoft.com/office/drawing/2014/main" id="{381CCF07-F897-4BF0-B6DB-5E6B2EC18B63}"/>
              </a:ext>
            </a:extLst>
          </p:cNvPr>
          <p:cNvSpPr>
            <a:spLocks xmlns:a="http://schemas.openxmlformats.org/drawingml/2006/main" noGrp="1"/>
          </p:cNvSpPr>
          <p:nvPr/>
        </p:nvSpPr>
        <p:spPr>
          <a:xfrm xmlns:a="http://schemas.openxmlformats.org/drawingml/2006/main">
            <a:off x="7726680" y="2194560"/>
            <a:ext cx="3749040" cy="3200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a:solidFill>
                  <a:srgbClr val="2B2B2B"/>
                </a:solidFill>
                <a:latin typeface="Calibri"/>
                <a:ea typeface="Calibri"/>
                <a:cs typeface="Calibri"/>
              </a:rPr>
              <a:t>Tin thường nêu việc chính ngay câu đầu.</a:t>
            </a:r>
            <a:endParaRPr sz="1800"/>
          </a:p>
          <a:p xmlns:a="http://schemas.openxmlformats.org/drawingml/2006/main">
            <a:pPr marL="0" indent="0">
              <a:buNone/>
            </a:pPr>
            <a:endParaRPr sz="1800"/>
          </a:p>
          <a:p xmlns:a="http://schemas.openxmlformats.org/drawingml/2006/main">
            <a:pPr marL="0" indent="0">
              <a:buNone/>
            </a:pPr>
            <a:r>
              <a:rPr sz="1800">
                <a:solidFill>
                  <a:srgbClr val="2B2B2B"/>
                </a:solidFill>
                <a:latin typeface="Calibri"/>
                <a:ea typeface="Calibri"/>
                <a:cs typeface="Calibri"/>
              </a:rPr>
              <a:t>Lấy ba câu đầu giúp thấy TextRank và ViT5 có hơn cách đơn giản này hay không.</a:t>
            </a:r>
            <a:endParaRPr sz="1800"/>
          </a:p>
        </p:txBody>
      </p:sp>
      <p:sp>
        <p:nvSpPr>
          <p:cNvPr id="11" name="Text 9">
            <a:extLst xmlns:a="http://schemas.openxmlformats.org/drawingml/2006/main">
              <a:ext uri="{FF2B5EF4-FFF2-40B4-BE49-F238E27FC236}">
                <a16:creationId xmlns:a16="http://schemas.microsoft.com/office/drawing/2014/main" id="{C2603413-938B-454D-8E0E-6674C4300C3E}"/>
              </a:ext>
            </a:extLst>
          </p:cNvPr>
          <p:cNvSpPr>
            <a:spLocks xmlns:a="http://schemas.openxmlformats.org/drawingml/2006/main" noGrp="1"/>
          </p:cNvSpPr>
          <p:nvPr/>
        </p:nvSpPr>
        <p:spPr>
          <a:xfrm xmlns:a="http://schemas.openxmlformats.org/drawingml/2006/main">
            <a:off x="502920" y="6492240"/>
            <a:ext cx="73152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B5AFA0"/>
                </a:solidFill>
                <a:latin typeface="Calibri"/>
                <a:ea typeface="Calibri"/>
                <a:cs typeface="Calibri"/>
              </a:rPr>
              <a:t>CS221 · UIT · Nhóm 14</a:t>
            </a:r>
            <a:endParaRPr sz="1100"/>
          </a:p>
        </p:txBody>
      </p:sp>
      <p:sp>
        <p:nvSpPr>
          <p:cNvPr id="12" name="Text 10">
            <a:extLst xmlns:a="http://schemas.openxmlformats.org/drawingml/2006/main">
              <a:ext uri="{FF2B5EF4-FFF2-40B4-BE49-F238E27FC236}">
                <a16:creationId xmlns:a16="http://schemas.microsoft.com/office/drawing/2014/main" id="{D3745042-44B7-405B-B1FF-3475F3E591B3}"/>
              </a:ext>
            </a:extLst>
          </p:cNvPr>
          <p:cNvSpPr>
            <a:spLocks xmlns:a="http://schemas.openxmlformats.org/drawingml/2006/main" noGrp="1"/>
          </p:cNvSpPr>
          <p:nvPr/>
        </p:nvSpPr>
        <p:spPr>
          <a:xfrm xmlns:a="http://schemas.openxmlformats.org/drawingml/2006/main">
            <a:off x="10424160" y="6492240"/>
            <a:ext cx="128016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100">
                <a:solidFill>
                  <a:srgbClr val="8A8578"/>
                </a:solidFill>
                <a:latin typeface="Calibri"/>
                <a:ea typeface="Calibri"/>
                <a:cs typeface="Calibri"/>
              </a:rPr>
              <a:t>9</a:t>
            </a:r>
            <a:endParaRPr sz="1100"/>
          </a:p>
        </p:txBody>
      </p:sp>
    </p:spTree>
    <p:extLst>
      <p:ext uri="{BB962C8B-B14F-4D97-AF65-F5344CB8AC3E}">
        <p14:creationId xmlns:p14="http://schemas.microsoft.com/office/powerpoint/2010/main" val="1820031243"/>
      </p:ext>
    </p:extLst>
  </p:cSld>
</p:sld>
</file>

<file path=ppt/slides/slide10.xml><?xml version="1.0" encoding="utf-8"?>
<p:sld xmlns:p="http://schemas.openxmlformats.org/presentationml/2006/main">
  <p:cSld>
    <p:bg>
      <p:bgPr>
        <a:solidFill xmlns:a="http://schemas.openxmlformats.org/drawingml/2006/main">
          <a:srgbClr val="F0ECE0"/>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9ED04D32-C2B6-4049-A152-4743528CE4B2}"/>
              </a:ext>
            </a:extLst>
          </p:cNvPr>
          <p:cNvSpPr>
            <a:spLocks xmlns:a="http://schemas.openxmlformats.org/drawingml/2006/main" noGrp="1"/>
          </p:cNvSpPr>
          <p:nvPr/>
        </p:nvSpPr>
        <p:spPr>
          <a:xfrm xmlns:a="http://schemas.openxmlformats.org/drawingml/2006/main">
            <a:off x="502920" y="256032"/>
            <a:ext cx="73152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spc="120">
                <a:solidFill>
                  <a:srgbClr val="8A8578"/>
                </a:solidFill>
                <a:latin typeface="Calibri"/>
                <a:ea typeface="Calibri"/>
                <a:cs typeface="Calibri"/>
              </a:rPr>
              <a:t>10   TEXTRANK</a:t>
            </a:r>
            <a:endParaRPr sz="1200"/>
          </a:p>
        </p:txBody>
      </p:sp>
      <p:sp>
        <p:nvSpPr>
          <p:cNvPr id="3" name="Text 1">
            <a:extLst xmlns:a="http://schemas.openxmlformats.org/drawingml/2006/main">
              <a:ext uri="{FF2B5EF4-FFF2-40B4-BE49-F238E27FC236}">
                <a16:creationId xmlns:a16="http://schemas.microsoft.com/office/drawing/2014/main" id="{9D0E8676-A1CA-4C52-BA4D-DC7A94BED8BC}"/>
              </a:ext>
            </a:extLst>
          </p:cNvPr>
          <p:cNvSpPr>
            <a:spLocks xmlns:a="http://schemas.openxmlformats.org/drawingml/2006/main" noGrp="1"/>
          </p:cNvSpPr>
          <p:nvPr/>
        </p:nvSpPr>
        <p:spPr>
          <a:xfrm xmlns:a="http://schemas.openxmlformats.org/drawingml/2006/main">
            <a:off x="6675120" y="256032"/>
            <a:ext cx="50292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300">
                <a:solidFill>
                  <a:srgbClr val="8A8578"/>
                </a:solidFill>
                <a:latin typeface="Calibri"/>
                <a:ea typeface="Calibri"/>
                <a:cs typeface="Calibri"/>
              </a:rPr>
              <a:t>Chọn câu trong một bài</a:t>
            </a:r>
            <a:endParaRPr sz="1300"/>
          </a:p>
        </p:txBody>
      </p:sp>
      <p:sp>
        <p:nvSpPr>
          <p:cNvPr id="4" name="Text 2">
            <a:extLst xmlns:a="http://schemas.openxmlformats.org/drawingml/2006/main">
              <a:ext uri="{FF2B5EF4-FFF2-40B4-BE49-F238E27FC236}">
                <a16:creationId xmlns:a16="http://schemas.microsoft.com/office/drawing/2014/main" id="{F1F3B660-E299-43B4-A6F3-055E4B80B802}"/>
              </a:ext>
            </a:extLst>
          </p:cNvPr>
          <p:cNvSpPr>
            <a:spLocks xmlns:a="http://schemas.openxmlformats.org/drawingml/2006/main" noGrp="1"/>
          </p:cNvSpPr>
          <p:nvPr/>
        </p:nvSpPr>
        <p:spPr>
          <a:xfrm xmlns:a="http://schemas.openxmlformats.org/drawingml/2006/main">
            <a:off x="502920" y="585216"/>
            <a:ext cx="1115568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a:solidFill>
                  <a:srgbClr val="1A1A1A"/>
                </a:solidFill>
                <a:latin typeface="Georgia"/>
                <a:ea typeface="Georgia"/>
                <a:cs typeface="Georgia"/>
              </a:rPr>
              <a:t>Chọn ba câu có điểm PageRank cao nhất</a:t>
            </a:r>
            <a:endParaRPr sz="2800"/>
          </a:p>
        </p:txBody>
      </p:sp>
      <p:sp>
        <p:nvSpPr>
          <p:cNvPr id="5" name="Shape 3">
            <a:extLst xmlns:a="http://schemas.openxmlformats.org/drawingml/2006/main">
              <a:ext uri="{FF2B5EF4-FFF2-40B4-BE49-F238E27FC236}">
                <a16:creationId xmlns:a16="http://schemas.microsoft.com/office/drawing/2014/main" id="{857C3C35-53C7-4A99-9E65-EC5772CBE957}"/>
              </a:ext>
            </a:extLst>
          </p:cNvPr>
          <p:cNvSpPr>
            <a:spLocks xmlns:a="http://schemas.openxmlformats.org/drawingml/2006/main" noGrp="1"/>
          </p:cNvSpPr>
          <p:nvPr/>
        </p:nvSpPr>
        <p:spPr>
          <a:xfrm xmlns:a="http://schemas.openxmlformats.org/drawingml/2006/main">
            <a:off x="502920" y="1325880"/>
            <a:ext cx="11155680" cy="1115568"/>
          </a:xfrm>
          <a:prstGeom xmlns:a="http://schemas.openxmlformats.org/drawingml/2006/main" prst="rect">
            <a:avLst/>
          </a:prstGeom>
          <a:solidFill xmlns:a="http://schemas.openxmlformats.org/drawingml/2006/main">
            <a:srgbClr val="F7F3E8"/>
          </a:solidFill>
          <a:ln xmlns:a="http://schemas.openxmlformats.org/drawingml/2006/main" w="9525">
            <a:solidFill>
              <a:srgbClr val="C8C0AE"/>
            </a:solidFill>
            <a:prstDash val="solid"/>
          </a:ln>
        </p:spPr>
      </p:sp>
      <p:sp>
        <p:nvSpPr>
          <p:cNvPr id="6" name="Text 4">
            <a:extLst xmlns:a="http://schemas.openxmlformats.org/drawingml/2006/main">
              <a:ext uri="{FF2B5EF4-FFF2-40B4-BE49-F238E27FC236}">
                <a16:creationId xmlns:a16="http://schemas.microsoft.com/office/drawing/2014/main" id="{F4BAF8E4-D472-4A6C-B9E9-72A6AA280C64}"/>
              </a:ext>
            </a:extLst>
          </p:cNvPr>
          <p:cNvSpPr>
            <a:spLocks xmlns:a="http://schemas.openxmlformats.org/drawingml/2006/main" noGrp="1"/>
          </p:cNvSpPr>
          <p:nvPr/>
        </p:nvSpPr>
        <p:spPr>
          <a:xfrm xmlns:a="http://schemas.openxmlformats.org/drawingml/2006/main">
            <a:off x="731520" y="1618488"/>
            <a:ext cx="6400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400">
                <a:solidFill>
                  <a:srgbClr val="B8432A"/>
                </a:solidFill>
                <a:latin typeface="Georgia"/>
                <a:ea typeface="Georgia"/>
                <a:cs typeface="Georgia"/>
              </a:rPr>
              <a:t>1</a:t>
            </a:r>
            <a:endParaRPr sz="2400"/>
          </a:p>
        </p:txBody>
      </p:sp>
      <p:sp>
        <p:nvSpPr>
          <p:cNvPr id="7" name="Text 5">
            <a:extLst xmlns:a="http://schemas.openxmlformats.org/drawingml/2006/main">
              <a:ext uri="{FF2B5EF4-FFF2-40B4-BE49-F238E27FC236}">
                <a16:creationId xmlns:a16="http://schemas.microsoft.com/office/drawing/2014/main" id="{69F54159-1DB9-40FA-A31D-032556864AB1}"/>
              </a:ext>
            </a:extLst>
          </p:cNvPr>
          <p:cNvSpPr>
            <a:spLocks xmlns:a="http://schemas.openxmlformats.org/drawingml/2006/main" noGrp="1"/>
          </p:cNvSpPr>
          <p:nvPr/>
        </p:nvSpPr>
        <p:spPr>
          <a:xfrm xmlns:a="http://schemas.openxmlformats.org/drawingml/2006/main">
            <a:off x="1554480" y="1618488"/>
            <a:ext cx="25603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b="1">
                <a:solidFill>
                  <a:srgbClr val="1A1A1A"/>
                </a:solidFill>
                <a:latin typeface="Calibri"/>
                <a:ea typeface="Calibri"/>
                <a:cs typeface="Calibri"/>
              </a:rPr>
              <a:t>TF-IDF</a:t>
            </a:r>
            <a:endParaRPr sz="2000"/>
          </a:p>
        </p:txBody>
      </p:sp>
      <p:sp>
        <p:nvSpPr>
          <p:cNvPr id="8" name="Text 6">
            <a:extLst xmlns:a="http://schemas.openxmlformats.org/drawingml/2006/main">
              <a:ext uri="{FF2B5EF4-FFF2-40B4-BE49-F238E27FC236}">
                <a16:creationId xmlns:a16="http://schemas.microsoft.com/office/drawing/2014/main" id="{5C3C4B89-30D7-46C8-B17A-9F655EEFE534}"/>
              </a:ext>
            </a:extLst>
          </p:cNvPr>
          <p:cNvSpPr>
            <a:spLocks xmlns:a="http://schemas.openxmlformats.org/drawingml/2006/main" noGrp="1"/>
          </p:cNvSpPr>
          <p:nvPr/>
        </p:nvSpPr>
        <p:spPr>
          <a:xfrm xmlns:a="http://schemas.openxmlformats.org/drawingml/2006/main">
            <a:off x="4297680" y="1636776"/>
            <a:ext cx="69494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a:solidFill>
                  <a:srgbClr val="2B2B2B"/>
                </a:solidFill>
                <a:latin typeface="Calibri"/>
                <a:ea typeface="Calibri"/>
                <a:cs typeface="Calibri"/>
              </a:rPr>
              <a:t>Mỗi câu thành một vector, chỉ trong bài đó.</a:t>
            </a:r>
            <a:endParaRPr sz="1800"/>
          </a:p>
        </p:txBody>
      </p:sp>
      <p:sp>
        <p:nvSpPr>
          <p:cNvPr id="9" name="Shape 7">
            <a:extLst xmlns:a="http://schemas.openxmlformats.org/drawingml/2006/main">
              <a:ext uri="{FF2B5EF4-FFF2-40B4-BE49-F238E27FC236}">
                <a16:creationId xmlns:a16="http://schemas.microsoft.com/office/drawing/2014/main" id="{80EA4C3C-A44F-4125-82AD-C8CC6F9E20AA}"/>
              </a:ext>
            </a:extLst>
          </p:cNvPr>
          <p:cNvSpPr>
            <a:spLocks xmlns:a="http://schemas.openxmlformats.org/drawingml/2006/main" noGrp="1"/>
          </p:cNvSpPr>
          <p:nvPr/>
        </p:nvSpPr>
        <p:spPr>
          <a:xfrm xmlns:a="http://schemas.openxmlformats.org/drawingml/2006/main">
            <a:off x="502920" y="2560320"/>
            <a:ext cx="11155680" cy="1115568"/>
          </a:xfrm>
          <a:prstGeom xmlns:a="http://schemas.openxmlformats.org/drawingml/2006/main" prst="rect">
            <a:avLst/>
          </a:prstGeom>
          <a:solidFill xmlns:a="http://schemas.openxmlformats.org/drawingml/2006/main">
            <a:srgbClr val="F7F3E8"/>
          </a:solidFill>
          <a:ln xmlns:a="http://schemas.openxmlformats.org/drawingml/2006/main" w="9525">
            <a:solidFill>
              <a:srgbClr val="C8C0AE"/>
            </a:solidFill>
            <a:prstDash val="solid"/>
          </a:ln>
        </p:spPr>
      </p:sp>
      <p:sp>
        <p:nvSpPr>
          <p:cNvPr id="10" name="Text 8">
            <a:extLst xmlns:a="http://schemas.openxmlformats.org/drawingml/2006/main">
              <a:ext uri="{FF2B5EF4-FFF2-40B4-BE49-F238E27FC236}">
                <a16:creationId xmlns:a16="http://schemas.microsoft.com/office/drawing/2014/main" id="{7DA31202-F150-4AD6-B5FA-5AD1CFC2BC46}"/>
              </a:ext>
            </a:extLst>
          </p:cNvPr>
          <p:cNvSpPr>
            <a:spLocks xmlns:a="http://schemas.openxmlformats.org/drawingml/2006/main" noGrp="1"/>
          </p:cNvSpPr>
          <p:nvPr/>
        </p:nvSpPr>
        <p:spPr>
          <a:xfrm xmlns:a="http://schemas.openxmlformats.org/drawingml/2006/main">
            <a:off x="731520" y="2852928"/>
            <a:ext cx="6400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400">
                <a:solidFill>
                  <a:srgbClr val="B8432A"/>
                </a:solidFill>
                <a:latin typeface="Georgia"/>
                <a:ea typeface="Georgia"/>
                <a:cs typeface="Georgia"/>
              </a:rPr>
              <a:t>2</a:t>
            </a:r>
            <a:endParaRPr sz="2400"/>
          </a:p>
        </p:txBody>
      </p:sp>
      <p:sp>
        <p:nvSpPr>
          <p:cNvPr id="11" name="Text 9">
            <a:extLst xmlns:a="http://schemas.openxmlformats.org/drawingml/2006/main">
              <a:ext uri="{FF2B5EF4-FFF2-40B4-BE49-F238E27FC236}">
                <a16:creationId xmlns:a16="http://schemas.microsoft.com/office/drawing/2014/main" id="{DFF98F6F-CF1A-4857-9E60-A95FAD95E0EA}"/>
              </a:ext>
            </a:extLst>
          </p:cNvPr>
          <p:cNvSpPr>
            <a:spLocks xmlns:a="http://schemas.openxmlformats.org/drawingml/2006/main" noGrp="1"/>
          </p:cNvSpPr>
          <p:nvPr/>
        </p:nvSpPr>
        <p:spPr>
          <a:xfrm xmlns:a="http://schemas.openxmlformats.org/drawingml/2006/main">
            <a:off x="1554480" y="2852928"/>
            <a:ext cx="25603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b="1">
                <a:solidFill>
                  <a:srgbClr val="1A1A1A"/>
                </a:solidFill>
                <a:latin typeface="Calibri"/>
                <a:ea typeface="Calibri"/>
                <a:cs typeface="Calibri"/>
              </a:rPr>
              <a:t>Cosine</a:t>
            </a:r>
            <a:endParaRPr sz="2000"/>
          </a:p>
        </p:txBody>
      </p:sp>
      <p:sp>
        <p:nvSpPr>
          <p:cNvPr id="12" name="Text 10">
            <a:extLst xmlns:a="http://schemas.openxmlformats.org/drawingml/2006/main">
              <a:ext uri="{FF2B5EF4-FFF2-40B4-BE49-F238E27FC236}">
                <a16:creationId xmlns:a16="http://schemas.microsoft.com/office/drawing/2014/main" id="{CD66A276-ADF4-4B3A-8FD0-6D80A11769F4}"/>
              </a:ext>
            </a:extLst>
          </p:cNvPr>
          <p:cNvSpPr>
            <a:spLocks xmlns:a="http://schemas.openxmlformats.org/drawingml/2006/main" noGrp="1"/>
          </p:cNvSpPr>
          <p:nvPr/>
        </p:nvSpPr>
        <p:spPr>
          <a:xfrm xmlns:a="http://schemas.openxmlformats.org/drawingml/2006/main">
            <a:off x="4297680" y="2871216"/>
            <a:ext cx="69494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a:solidFill>
                  <a:srgbClr val="2B2B2B"/>
                </a:solidFill>
                <a:latin typeface="Calibri"/>
                <a:ea typeface="Calibri"/>
                <a:cs typeface="Calibri"/>
              </a:rPr>
              <a:t>Đo hai câu giống nhau đến đâu.</a:t>
            </a:r>
            <a:endParaRPr sz="1800"/>
          </a:p>
        </p:txBody>
      </p:sp>
      <p:sp>
        <p:nvSpPr>
          <p:cNvPr id="13" name="Shape 11">
            <a:extLst xmlns:a="http://schemas.openxmlformats.org/drawingml/2006/main">
              <a:ext uri="{FF2B5EF4-FFF2-40B4-BE49-F238E27FC236}">
                <a16:creationId xmlns:a16="http://schemas.microsoft.com/office/drawing/2014/main" id="{A1909571-D531-4061-980E-D0FEEC8A4DFE}"/>
              </a:ext>
            </a:extLst>
          </p:cNvPr>
          <p:cNvSpPr>
            <a:spLocks xmlns:a="http://schemas.openxmlformats.org/drawingml/2006/main" noGrp="1"/>
          </p:cNvSpPr>
          <p:nvPr/>
        </p:nvSpPr>
        <p:spPr>
          <a:xfrm xmlns:a="http://schemas.openxmlformats.org/drawingml/2006/main">
            <a:off x="502920" y="3794760"/>
            <a:ext cx="11155680" cy="1115568"/>
          </a:xfrm>
          <a:prstGeom xmlns:a="http://schemas.openxmlformats.org/drawingml/2006/main" prst="rect">
            <a:avLst/>
          </a:prstGeom>
          <a:solidFill xmlns:a="http://schemas.openxmlformats.org/drawingml/2006/main">
            <a:srgbClr val="F7F3E8"/>
          </a:solidFill>
          <a:ln xmlns:a="http://schemas.openxmlformats.org/drawingml/2006/main" w="9525">
            <a:solidFill>
              <a:srgbClr val="C8C0AE"/>
            </a:solidFill>
            <a:prstDash val="solid"/>
          </a:ln>
        </p:spPr>
      </p:sp>
      <p:sp>
        <p:nvSpPr>
          <p:cNvPr id="14" name="Text 12">
            <a:extLst xmlns:a="http://schemas.openxmlformats.org/drawingml/2006/main">
              <a:ext uri="{FF2B5EF4-FFF2-40B4-BE49-F238E27FC236}">
                <a16:creationId xmlns:a16="http://schemas.microsoft.com/office/drawing/2014/main" id="{F7D793C3-E3E3-4C04-9FFB-CF95E170C45A}"/>
              </a:ext>
            </a:extLst>
          </p:cNvPr>
          <p:cNvSpPr>
            <a:spLocks xmlns:a="http://schemas.openxmlformats.org/drawingml/2006/main" noGrp="1"/>
          </p:cNvSpPr>
          <p:nvPr/>
        </p:nvSpPr>
        <p:spPr>
          <a:xfrm xmlns:a="http://schemas.openxmlformats.org/drawingml/2006/main">
            <a:off x="731520" y="4087368"/>
            <a:ext cx="6400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400">
                <a:solidFill>
                  <a:srgbClr val="B8432A"/>
                </a:solidFill>
                <a:latin typeface="Georgia"/>
                <a:ea typeface="Georgia"/>
                <a:cs typeface="Georgia"/>
              </a:rPr>
              <a:t>3</a:t>
            </a:r>
            <a:endParaRPr sz="2400"/>
          </a:p>
        </p:txBody>
      </p:sp>
      <p:sp>
        <p:nvSpPr>
          <p:cNvPr id="15" name="Text 13">
            <a:extLst xmlns:a="http://schemas.openxmlformats.org/drawingml/2006/main">
              <a:ext uri="{FF2B5EF4-FFF2-40B4-BE49-F238E27FC236}">
                <a16:creationId xmlns:a16="http://schemas.microsoft.com/office/drawing/2014/main" id="{61EFAD31-F7AC-4369-99F1-2CDEA364EDD7}"/>
              </a:ext>
            </a:extLst>
          </p:cNvPr>
          <p:cNvSpPr>
            <a:spLocks xmlns:a="http://schemas.openxmlformats.org/drawingml/2006/main" noGrp="1"/>
          </p:cNvSpPr>
          <p:nvPr/>
        </p:nvSpPr>
        <p:spPr>
          <a:xfrm xmlns:a="http://schemas.openxmlformats.org/drawingml/2006/main">
            <a:off x="1554480" y="4087368"/>
            <a:ext cx="25603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b="1">
                <a:solidFill>
                  <a:srgbClr val="1A1A1A"/>
                </a:solidFill>
                <a:latin typeface="Calibri"/>
                <a:ea typeface="Calibri"/>
                <a:cs typeface="Calibri"/>
              </a:rPr>
              <a:t>PageRank</a:t>
            </a:r>
            <a:endParaRPr sz="2000"/>
          </a:p>
        </p:txBody>
      </p:sp>
      <p:sp>
        <p:nvSpPr>
          <p:cNvPr id="16" name="Text 14">
            <a:extLst xmlns:a="http://schemas.openxmlformats.org/drawingml/2006/main">
              <a:ext uri="{FF2B5EF4-FFF2-40B4-BE49-F238E27FC236}">
                <a16:creationId xmlns:a16="http://schemas.microsoft.com/office/drawing/2014/main" id="{AA4F8E3F-FA79-4757-A2F0-16B527992686}"/>
              </a:ext>
            </a:extLst>
          </p:cNvPr>
          <p:cNvSpPr>
            <a:spLocks xmlns:a="http://schemas.openxmlformats.org/drawingml/2006/main" noGrp="1"/>
          </p:cNvSpPr>
          <p:nvPr/>
        </p:nvSpPr>
        <p:spPr>
          <a:xfrm xmlns:a="http://schemas.openxmlformats.org/drawingml/2006/main">
            <a:off x="4297680" y="4105656"/>
            <a:ext cx="69494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a:solidFill>
                  <a:srgbClr val="2B2B2B"/>
                </a:solidFill>
                <a:latin typeface="Calibri"/>
                <a:ea typeface="Calibri"/>
                <a:cs typeface="Calibri"/>
              </a:rPr>
              <a:t>40 vòng, damping 0.85.</a:t>
            </a:r>
            <a:endParaRPr sz="1800"/>
          </a:p>
        </p:txBody>
      </p:sp>
      <p:sp>
        <p:nvSpPr>
          <p:cNvPr id="17" name="Shape 15">
            <a:extLst xmlns:a="http://schemas.openxmlformats.org/drawingml/2006/main">
              <a:ext uri="{FF2B5EF4-FFF2-40B4-BE49-F238E27FC236}">
                <a16:creationId xmlns:a16="http://schemas.microsoft.com/office/drawing/2014/main" id="{44A1FE5D-9B2B-4069-9C5B-2AA7B1C323AC}"/>
              </a:ext>
            </a:extLst>
          </p:cNvPr>
          <p:cNvSpPr>
            <a:spLocks xmlns:a="http://schemas.openxmlformats.org/drawingml/2006/main" noGrp="1"/>
          </p:cNvSpPr>
          <p:nvPr/>
        </p:nvSpPr>
        <p:spPr>
          <a:xfrm xmlns:a="http://schemas.openxmlformats.org/drawingml/2006/main">
            <a:off x="502920" y="5029200"/>
            <a:ext cx="11155680" cy="1115568"/>
          </a:xfrm>
          <a:prstGeom xmlns:a="http://schemas.openxmlformats.org/drawingml/2006/main" prst="rect">
            <a:avLst/>
          </a:prstGeom>
          <a:solidFill xmlns:a="http://schemas.openxmlformats.org/drawingml/2006/main">
            <a:srgbClr val="F7F3E8"/>
          </a:solidFill>
          <a:ln xmlns:a="http://schemas.openxmlformats.org/drawingml/2006/main" w="9525">
            <a:solidFill>
              <a:srgbClr val="C8C0AE"/>
            </a:solidFill>
            <a:prstDash val="solid"/>
          </a:ln>
        </p:spPr>
      </p:sp>
      <p:sp>
        <p:nvSpPr>
          <p:cNvPr id="18" name="Text 16">
            <a:extLst xmlns:a="http://schemas.openxmlformats.org/drawingml/2006/main">
              <a:ext uri="{FF2B5EF4-FFF2-40B4-BE49-F238E27FC236}">
                <a16:creationId xmlns:a16="http://schemas.microsoft.com/office/drawing/2014/main" id="{31E6F304-88C7-4E85-8A85-A2F671770032}"/>
              </a:ext>
            </a:extLst>
          </p:cNvPr>
          <p:cNvSpPr>
            <a:spLocks xmlns:a="http://schemas.openxmlformats.org/drawingml/2006/main" noGrp="1"/>
          </p:cNvSpPr>
          <p:nvPr/>
        </p:nvSpPr>
        <p:spPr>
          <a:xfrm xmlns:a="http://schemas.openxmlformats.org/drawingml/2006/main">
            <a:off x="731520" y="5321808"/>
            <a:ext cx="6400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400">
                <a:solidFill>
                  <a:srgbClr val="B8432A"/>
                </a:solidFill>
                <a:latin typeface="Georgia"/>
                <a:ea typeface="Georgia"/>
                <a:cs typeface="Georgia"/>
              </a:rPr>
              <a:t>4</a:t>
            </a:r>
            <a:endParaRPr sz="2400"/>
          </a:p>
        </p:txBody>
      </p:sp>
      <p:sp>
        <p:nvSpPr>
          <p:cNvPr id="19" name="Text 17">
            <a:extLst xmlns:a="http://schemas.openxmlformats.org/drawingml/2006/main">
              <a:ext uri="{FF2B5EF4-FFF2-40B4-BE49-F238E27FC236}">
                <a16:creationId xmlns:a16="http://schemas.microsoft.com/office/drawing/2014/main" id="{97B833C3-4856-41E6-8C24-DA9D6B36FB03}"/>
              </a:ext>
            </a:extLst>
          </p:cNvPr>
          <p:cNvSpPr>
            <a:spLocks xmlns:a="http://schemas.openxmlformats.org/drawingml/2006/main" noGrp="1"/>
          </p:cNvSpPr>
          <p:nvPr/>
        </p:nvSpPr>
        <p:spPr>
          <a:xfrm xmlns:a="http://schemas.openxmlformats.org/drawingml/2006/main">
            <a:off x="1554480" y="5321808"/>
            <a:ext cx="25603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b="1">
                <a:solidFill>
                  <a:srgbClr val="1A1A1A"/>
                </a:solidFill>
                <a:latin typeface="Calibri"/>
                <a:ea typeface="Calibri"/>
                <a:cs typeface="Calibri"/>
              </a:rPr>
              <a:t>Lấy ba câu</a:t>
            </a:r>
            <a:endParaRPr sz="2000"/>
          </a:p>
        </p:txBody>
      </p:sp>
      <p:sp>
        <p:nvSpPr>
          <p:cNvPr id="20" name="Text 18">
            <a:extLst xmlns:a="http://schemas.openxmlformats.org/drawingml/2006/main">
              <a:ext uri="{FF2B5EF4-FFF2-40B4-BE49-F238E27FC236}">
                <a16:creationId xmlns:a16="http://schemas.microsoft.com/office/drawing/2014/main" id="{BF1A8517-257A-4134-9688-0AACF6D72457}"/>
              </a:ext>
            </a:extLst>
          </p:cNvPr>
          <p:cNvSpPr>
            <a:spLocks xmlns:a="http://schemas.openxmlformats.org/drawingml/2006/main" noGrp="1"/>
          </p:cNvSpPr>
          <p:nvPr/>
        </p:nvSpPr>
        <p:spPr>
          <a:xfrm xmlns:a="http://schemas.openxmlformats.org/drawingml/2006/main">
            <a:off x="4297680" y="5340096"/>
            <a:ext cx="69494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a:solidFill>
                  <a:srgbClr val="2B2B2B"/>
                </a:solidFill>
                <a:latin typeface="Calibri"/>
                <a:ea typeface="Calibri"/>
                <a:cs typeface="Calibri"/>
              </a:rPr>
              <a:t>Giữ thứ tự xuất hiện trong bài.</a:t>
            </a:r>
            <a:endParaRPr sz="1800"/>
          </a:p>
        </p:txBody>
      </p:sp>
      <p:sp>
        <p:nvSpPr>
          <p:cNvPr id="21" name="Text 19">
            <a:extLst xmlns:a="http://schemas.openxmlformats.org/drawingml/2006/main">
              <a:ext uri="{FF2B5EF4-FFF2-40B4-BE49-F238E27FC236}">
                <a16:creationId xmlns:a16="http://schemas.microsoft.com/office/drawing/2014/main" id="{5DCF2DDC-F194-43A6-B6A3-414BBD47CA71}"/>
              </a:ext>
            </a:extLst>
          </p:cNvPr>
          <p:cNvSpPr>
            <a:spLocks xmlns:a="http://schemas.openxmlformats.org/drawingml/2006/main" noGrp="1"/>
          </p:cNvSpPr>
          <p:nvPr/>
        </p:nvSpPr>
        <p:spPr>
          <a:xfrm xmlns:a="http://schemas.openxmlformats.org/drawingml/2006/main">
            <a:off x="502920" y="6492240"/>
            <a:ext cx="73152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B5AFA0"/>
                </a:solidFill>
                <a:latin typeface="Calibri"/>
                <a:ea typeface="Calibri"/>
                <a:cs typeface="Calibri"/>
              </a:rPr>
              <a:t>CS221 · UIT · Nhóm 14</a:t>
            </a:r>
            <a:endParaRPr sz="1100"/>
          </a:p>
        </p:txBody>
      </p:sp>
      <p:sp>
        <p:nvSpPr>
          <p:cNvPr id="22" name="Text 20">
            <a:extLst xmlns:a="http://schemas.openxmlformats.org/drawingml/2006/main">
              <a:ext uri="{FF2B5EF4-FFF2-40B4-BE49-F238E27FC236}">
                <a16:creationId xmlns:a16="http://schemas.microsoft.com/office/drawing/2014/main" id="{0FC4A361-DB7A-4618-83E2-B3DF519D2A39}"/>
              </a:ext>
            </a:extLst>
          </p:cNvPr>
          <p:cNvSpPr>
            <a:spLocks xmlns:a="http://schemas.openxmlformats.org/drawingml/2006/main" noGrp="1"/>
          </p:cNvSpPr>
          <p:nvPr/>
        </p:nvSpPr>
        <p:spPr>
          <a:xfrm xmlns:a="http://schemas.openxmlformats.org/drawingml/2006/main">
            <a:off x="10424160" y="6492240"/>
            <a:ext cx="128016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100">
                <a:solidFill>
                  <a:srgbClr val="8A8578"/>
                </a:solidFill>
                <a:latin typeface="Calibri"/>
                <a:ea typeface="Calibri"/>
                <a:cs typeface="Calibri"/>
              </a:rPr>
              <a:t>10</a:t>
            </a:r>
            <a:endParaRPr sz="1100"/>
          </a:p>
        </p:txBody>
      </p:sp>
    </p:spTree>
    <p:extLst>
      <p:ext uri="{BB962C8B-B14F-4D97-AF65-F5344CB8AC3E}">
        <p14:creationId xmlns:p14="http://schemas.microsoft.com/office/powerpoint/2010/main" val="216894124"/>
      </p:ext>
    </p:extLst>
  </p:cSld>
</p:sld>
</file>

<file path=ppt/slides/slide11.xml><?xml version="1.0" encoding="utf-8"?>
<p:sld xmlns:p="http://schemas.openxmlformats.org/presentationml/2006/main">
  <p:cSld>
    <p:bg>
      <p:bgPr>
        <a:solidFill xmlns:a="http://schemas.openxmlformats.org/drawingml/2006/main">
          <a:srgbClr val="F0ECE0"/>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00CCA05C-E06E-4FFA-92FE-1D9502F1C64E}"/>
              </a:ext>
            </a:extLst>
          </p:cNvPr>
          <p:cNvSpPr>
            <a:spLocks xmlns:a="http://schemas.openxmlformats.org/drawingml/2006/main" noGrp="1"/>
          </p:cNvSpPr>
          <p:nvPr/>
        </p:nvSpPr>
        <p:spPr>
          <a:xfrm xmlns:a="http://schemas.openxmlformats.org/drawingml/2006/main">
            <a:off x="502920" y="256032"/>
            <a:ext cx="73152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spc="120">
                <a:solidFill>
                  <a:srgbClr val="8A8578"/>
                </a:solidFill>
                <a:latin typeface="Calibri"/>
                <a:ea typeface="Calibri"/>
                <a:cs typeface="Calibri"/>
              </a:rPr>
              <a:t>11   VIT5</a:t>
            </a:r>
            <a:endParaRPr sz="1200"/>
          </a:p>
        </p:txBody>
      </p:sp>
      <p:sp>
        <p:nvSpPr>
          <p:cNvPr id="3" name="Text 1">
            <a:extLst xmlns:a="http://schemas.openxmlformats.org/drawingml/2006/main">
              <a:ext uri="{FF2B5EF4-FFF2-40B4-BE49-F238E27FC236}">
                <a16:creationId xmlns:a16="http://schemas.microsoft.com/office/drawing/2014/main" id="{F5C3DBFD-3F9C-41EA-B46D-280F5FA78CC3}"/>
              </a:ext>
            </a:extLst>
          </p:cNvPr>
          <p:cNvSpPr>
            <a:spLocks xmlns:a="http://schemas.openxmlformats.org/drawingml/2006/main" noGrp="1"/>
          </p:cNvSpPr>
          <p:nvPr/>
        </p:nvSpPr>
        <p:spPr>
          <a:xfrm xmlns:a="http://schemas.openxmlformats.org/drawingml/2006/main">
            <a:off x="6675120" y="256032"/>
            <a:ext cx="50292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300">
                <a:solidFill>
                  <a:srgbClr val="8A8578"/>
                </a:solidFill>
                <a:latin typeface="Calibri"/>
                <a:ea typeface="Calibri"/>
                <a:cs typeface="Calibri"/>
              </a:rPr>
              <a:t>Checkpoint có sẵn</a:t>
            </a:r>
            <a:endParaRPr sz="1300"/>
          </a:p>
        </p:txBody>
      </p:sp>
      <p:sp>
        <p:nvSpPr>
          <p:cNvPr id="4" name="Text 2">
            <a:extLst xmlns:a="http://schemas.openxmlformats.org/drawingml/2006/main">
              <a:ext uri="{FF2B5EF4-FFF2-40B4-BE49-F238E27FC236}">
                <a16:creationId xmlns:a16="http://schemas.microsoft.com/office/drawing/2014/main" id="{C943B769-2E0E-448D-A4B1-B1F039889AD3}"/>
              </a:ext>
            </a:extLst>
          </p:cNvPr>
          <p:cNvSpPr>
            <a:spLocks xmlns:a="http://schemas.openxmlformats.org/drawingml/2006/main" noGrp="1"/>
          </p:cNvSpPr>
          <p:nvPr/>
        </p:nvSpPr>
        <p:spPr>
          <a:xfrm xmlns:a="http://schemas.openxmlformats.org/drawingml/2006/main">
            <a:off x="502920" y="585216"/>
            <a:ext cx="1115568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a:solidFill>
                  <a:srgbClr val="1A1A1A"/>
                </a:solidFill>
                <a:latin typeface="Georgia"/>
                <a:ea typeface="Georgia"/>
                <a:cs typeface="Georgia"/>
              </a:rPr>
              <a:t>ViT5 viết câu mới từ checkpoint có sẵn</a:t>
            </a:r>
            <a:endParaRPr sz="2800"/>
          </a:p>
        </p:txBody>
      </p:sp>
      <p:sp>
        <p:nvSpPr>
          <p:cNvPr id="5" name="Shape 3">
            <a:extLst xmlns:a="http://schemas.openxmlformats.org/drawingml/2006/main">
              <a:ext uri="{FF2B5EF4-FFF2-40B4-BE49-F238E27FC236}">
                <a16:creationId xmlns:a16="http://schemas.microsoft.com/office/drawing/2014/main" id="{560B1BEA-2B1C-4097-A6A9-BDF4801023F9}"/>
              </a:ext>
            </a:extLst>
          </p:cNvPr>
          <p:cNvSpPr>
            <a:spLocks xmlns:a="http://schemas.openxmlformats.org/drawingml/2006/main" noGrp="1"/>
          </p:cNvSpPr>
          <p:nvPr/>
        </p:nvSpPr>
        <p:spPr>
          <a:xfrm xmlns:a="http://schemas.openxmlformats.org/drawingml/2006/main">
            <a:off x="502920" y="1371600"/>
            <a:ext cx="11155680" cy="1051560"/>
          </a:xfrm>
          <a:prstGeom xmlns:a="http://schemas.openxmlformats.org/drawingml/2006/main" prst="rect">
            <a:avLst/>
          </a:prstGeom>
          <a:solidFill xmlns:a="http://schemas.openxmlformats.org/drawingml/2006/main">
            <a:srgbClr val="F7F3E8"/>
          </a:solidFill>
          <a:ln xmlns:a="http://schemas.openxmlformats.org/drawingml/2006/main" w="9525">
            <a:solidFill>
              <a:srgbClr val="C8C0AE"/>
            </a:solidFill>
            <a:prstDash val="solid"/>
          </a:ln>
        </p:spPr>
      </p:sp>
      <p:sp>
        <p:nvSpPr>
          <p:cNvPr id="6" name="Text 4">
            <a:extLst xmlns:a="http://schemas.openxmlformats.org/drawingml/2006/main">
              <a:ext uri="{FF2B5EF4-FFF2-40B4-BE49-F238E27FC236}">
                <a16:creationId xmlns:a16="http://schemas.microsoft.com/office/drawing/2014/main" id="{A095ACD2-C899-4B1A-A5DB-B09DF6870B6C}"/>
              </a:ext>
            </a:extLst>
          </p:cNvPr>
          <p:cNvSpPr>
            <a:spLocks xmlns:a="http://schemas.openxmlformats.org/drawingml/2006/main" noGrp="1"/>
          </p:cNvSpPr>
          <p:nvPr/>
        </p:nvSpPr>
        <p:spPr>
          <a:xfrm xmlns:a="http://schemas.openxmlformats.org/drawingml/2006/main">
            <a:off x="731520" y="1664208"/>
            <a:ext cx="274320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a:solidFill>
                  <a:srgbClr val="B8432A"/>
                </a:solidFill>
                <a:latin typeface="Calibri"/>
                <a:ea typeface="Calibri"/>
                <a:cs typeface="Calibri"/>
              </a:rPr>
              <a:t>Model</a:t>
            </a:r>
            <a:endParaRPr sz="1800"/>
          </a:p>
        </p:txBody>
      </p:sp>
      <p:sp>
        <p:nvSpPr>
          <p:cNvPr id="7" name="Text 5">
            <a:extLst xmlns:a="http://schemas.openxmlformats.org/drawingml/2006/main">
              <a:ext uri="{FF2B5EF4-FFF2-40B4-BE49-F238E27FC236}">
                <a16:creationId xmlns:a16="http://schemas.microsoft.com/office/drawing/2014/main" id="{4F46D784-046E-4290-815C-4789DEDBCC8C}"/>
              </a:ext>
            </a:extLst>
          </p:cNvPr>
          <p:cNvSpPr>
            <a:spLocks xmlns:a="http://schemas.openxmlformats.org/drawingml/2006/main" noGrp="1"/>
          </p:cNvSpPr>
          <p:nvPr/>
        </p:nvSpPr>
        <p:spPr>
          <a:xfrm xmlns:a="http://schemas.openxmlformats.org/drawingml/2006/main">
            <a:off x="3566160" y="1664208"/>
            <a:ext cx="777240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a:solidFill>
                  <a:srgbClr val="1A1A1A"/>
                </a:solidFill>
                <a:latin typeface="Calibri"/>
                <a:ea typeface="Calibri"/>
                <a:cs typeface="Calibri"/>
              </a:rPr>
              <a:t>VietAI/vit5-base-vietnews-summarization</a:t>
            </a:r>
            <a:endParaRPr sz="1800"/>
          </a:p>
        </p:txBody>
      </p:sp>
      <p:sp>
        <p:nvSpPr>
          <p:cNvPr id="8" name="Shape 6">
            <a:extLst xmlns:a="http://schemas.openxmlformats.org/drawingml/2006/main">
              <a:ext uri="{FF2B5EF4-FFF2-40B4-BE49-F238E27FC236}">
                <a16:creationId xmlns:a16="http://schemas.microsoft.com/office/drawing/2014/main" id="{D1054893-B346-4669-9B09-C102AB5CA916}"/>
              </a:ext>
            </a:extLst>
          </p:cNvPr>
          <p:cNvSpPr>
            <a:spLocks xmlns:a="http://schemas.openxmlformats.org/drawingml/2006/main" noGrp="1"/>
          </p:cNvSpPr>
          <p:nvPr/>
        </p:nvSpPr>
        <p:spPr>
          <a:xfrm xmlns:a="http://schemas.openxmlformats.org/drawingml/2006/main">
            <a:off x="502920" y="2560320"/>
            <a:ext cx="11155680" cy="1051560"/>
          </a:xfrm>
          <a:prstGeom xmlns:a="http://schemas.openxmlformats.org/drawingml/2006/main" prst="rect">
            <a:avLst/>
          </a:prstGeom>
          <a:solidFill xmlns:a="http://schemas.openxmlformats.org/drawingml/2006/main">
            <a:srgbClr val="F7F3E8"/>
          </a:solidFill>
          <a:ln xmlns:a="http://schemas.openxmlformats.org/drawingml/2006/main" w="9525">
            <a:solidFill>
              <a:srgbClr val="C8C0AE"/>
            </a:solidFill>
            <a:prstDash val="solid"/>
          </a:ln>
        </p:spPr>
      </p:sp>
      <p:sp>
        <p:nvSpPr>
          <p:cNvPr id="9" name="Text 7">
            <a:extLst xmlns:a="http://schemas.openxmlformats.org/drawingml/2006/main">
              <a:ext uri="{FF2B5EF4-FFF2-40B4-BE49-F238E27FC236}">
                <a16:creationId xmlns:a16="http://schemas.microsoft.com/office/drawing/2014/main" id="{AF13C196-688E-4EA0-9C82-655B36E8627C}"/>
              </a:ext>
            </a:extLst>
          </p:cNvPr>
          <p:cNvSpPr>
            <a:spLocks xmlns:a="http://schemas.openxmlformats.org/drawingml/2006/main" noGrp="1"/>
          </p:cNvSpPr>
          <p:nvPr/>
        </p:nvSpPr>
        <p:spPr>
          <a:xfrm xmlns:a="http://schemas.openxmlformats.org/drawingml/2006/main">
            <a:off x="731520" y="2852928"/>
            <a:ext cx="274320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a:solidFill>
                  <a:srgbClr val="B8432A"/>
                </a:solidFill>
                <a:latin typeface="Calibri"/>
                <a:ea typeface="Calibri"/>
                <a:cs typeface="Calibri"/>
              </a:rPr>
              <a:t>Việc của nhóm</a:t>
            </a:r>
            <a:endParaRPr sz="1800"/>
          </a:p>
        </p:txBody>
      </p:sp>
      <p:sp>
        <p:nvSpPr>
          <p:cNvPr id="10" name="Text 8">
            <a:extLst xmlns:a="http://schemas.openxmlformats.org/drawingml/2006/main">
              <a:ext uri="{FF2B5EF4-FFF2-40B4-BE49-F238E27FC236}">
                <a16:creationId xmlns:a16="http://schemas.microsoft.com/office/drawing/2014/main" id="{A67506A6-D5A7-4563-B910-ED08F5ABE3A9}"/>
              </a:ext>
            </a:extLst>
          </p:cNvPr>
          <p:cNvSpPr>
            <a:spLocks xmlns:a="http://schemas.openxmlformats.org/drawingml/2006/main" noGrp="1"/>
          </p:cNvSpPr>
          <p:nvPr/>
        </p:nvSpPr>
        <p:spPr>
          <a:xfrm xmlns:a="http://schemas.openxmlformats.org/drawingml/2006/main">
            <a:off x="3566160" y="2852928"/>
            <a:ext cx="777240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a:solidFill>
                  <a:srgbClr val="1A1A1A"/>
                </a:solidFill>
                <a:latin typeface="Calibri"/>
                <a:ea typeface="Calibri"/>
                <a:cs typeface="Calibri"/>
              </a:rPr>
              <a:t>Cho model đọc bài và viết tóm tắt. Trọng số giữ nguyên như checkpoint.</a:t>
            </a:r>
            <a:endParaRPr sz="1800"/>
          </a:p>
        </p:txBody>
      </p:sp>
      <p:sp>
        <p:nvSpPr>
          <p:cNvPr id="11" name="Shape 9">
            <a:extLst xmlns:a="http://schemas.openxmlformats.org/drawingml/2006/main">
              <a:ext uri="{FF2B5EF4-FFF2-40B4-BE49-F238E27FC236}">
                <a16:creationId xmlns:a16="http://schemas.microsoft.com/office/drawing/2014/main" id="{E82B8BB6-6C13-444E-B212-6948E2690D2A}"/>
              </a:ext>
            </a:extLst>
          </p:cNvPr>
          <p:cNvSpPr>
            <a:spLocks xmlns:a="http://schemas.openxmlformats.org/drawingml/2006/main" noGrp="1"/>
          </p:cNvSpPr>
          <p:nvPr/>
        </p:nvSpPr>
        <p:spPr>
          <a:xfrm xmlns:a="http://schemas.openxmlformats.org/drawingml/2006/main">
            <a:off x="502920" y="3749040"/>
            <a:ext cx="11155680" cy="1051560"/>
          </a:xfrm>
          <a:prstGeom xmlns:a="http://schemas.openxmlformats.org/drawingml/2006/main" prst="rect">
            <a:avLst/>
          </a:prstGeom>
          <a:solidFill xmlns:a="http://schemas.openxmlformats.org/drawingml/2006/main">
            <a:srgbClr val="F7F3E8"/>
          </a:solidFill>
          <a:ln xmlns:a="http://schemas.openxmlformats.org/drawingml/2006/main" w="9525">
            <a:solidFill>
              <a:srgbClr val="C8C0AE"/>
            </a:solidFill>
            <a:prstDash val="solid"/>
          </a:ln>
        </p:spPr>
      </p:sp>
      <p:sp>
        <p:nvSpPr>
          <p:cNvPr id="12" name="Text 10">
            <a:extLst xmlns:a="http://schemas.openxmlformats.org/drawingml/2006/main">
              <a:ext uri="{FF2B5EF4-FFF2-40B4-BE49-F238E27FC236}">
                <a16:creationId xmlns:a16="http://schemas.microsoft.com/office/drawing/2014/main" id="{4E484919-FA6E-4CCA-A76F-0A079E87CB28}"/>
              </a:ext>
            </a:extLst>
          </p:cNvPr>
          <p:cNvSpPr>
            <a:spLocks xmlns:a="http://schemas.openxmlformats.org/drawingml/2006/main" noGrp="1"/>
          </p:cNvSpPr>
          <p:nvPr/>
        </p:nvSpPr>
        <p:spPr>
          <a:xfrm xmlns:a="http://schemas.openxmlformats.org/drawingml/2006/main">
            <a:off x="731520" y="4041648"/>
            <a:ext cx="274320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a:solidFill>
                  <a:srgbClr val="B8432A"/>
                </a:solidFill>
                <a:latin typeface="Calibri"/>
                <a:ea typeface="Calibri"/>
                <a:cs typeface="Calibri"/>
              </a:rPr>
              <a:t>Đưa vào</a:t>
            </a:r>
            <a:endParaRPr sz="1800"/>
          </a:p>
        </p:txBody>
      </p:sp>
      <p:sp>
        <p:nvSpPr>
          <p:cNvPr id="13" name="Text 11">
            <a:extLst xmlns:a="http://schemas.openxmlformats.org/drawingml/2006/main">
              <a:ext uri="{FF2B5EF4-FFF2-40B4-BE49-F238E27FC236}">
                <a16:creationId xmlns:a16="http://schemas.microsoft.com/office/drawing/2014/main" id="{09B916C7-612E-4FCA-977A-1F9134E11CE8}"/>
              </a:ext>
            </a:extLst>
          </p:cNvPr>
          <p:cNvSpPr>
            <a:spLocks xmlns:a="http://schemas.openxmlformats.org/drawingml/2006/main" noGrp="1"/>
          </p:cNvSpPr>
          <p:nvPr/>
        </p:nvSpPr>
        <p:spPr>
          <a:xfrm xmlns:a="http://schemas.openxmlformats.org/drawingml/2006/main">
            <a:off x="3566160" y="4041648"/>
            <a:ext cx="777240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a:solidFill>
                  <a:srgbClr val="1A1A1A"/>
                </a:solidFill>
                <a:latin typeface="Calibri"/>
                <a:ea typeface="Calibri"/>
                <a:cs typeface="Calibri"/>
              </a:rPr>
              <a:t>Thân bài, thêm ký hiệu kết thúc. Tối đa 1.024 token.</a:t>
            </a:r>
            <a:endParaRPr sz="1800"/>
          </a:p>
        </p:txBody>
      </p:sp>
      <p:sp>
        <p:nvSpPr>
          <p:cNvPr id="14" name="Shape 12">
            <a:extLst xmlns:a="http://schemas.openxmlformats.org/drawingml/2006/main">
              <a:ext uri="{FF2B5EF4-FFF2-40B4-BE49-F238E27FC236}">
                <a16:creationId xmlns:a16="http://schemas.microsoft.com/office/drawing/2014/main" id="{1BDE0475-B0E2-4D43-988B-ED26660BCCF9}"/>
              </a:ext>
            </a:extLst>
          </p:cNvPr>
          <p:cNvSpPr>
            <a:spLocks xmlns:a="http://schemas.openxmlformats.org/drawingml/2006/main" noGrp="1"/>
          </p:cNvSpPr>
          <p:nvPr/>
        </p:nvSpPr>
        <p:spPr>
          <a:xfrm xmlns:a="http://schemas.openxmlformats.org/drawingml/2006/main">
            <a:off x="502920" y="4937760"/>
            <a:ext cx="11155680" cy="1051560"/>
          </a:xfrm>
          <a:prstGeom xmlns:a="http://schemas.openxmlformats.org/drawingml/2006/main" prst="rect">
            <a:avLst/>
          </a:prstGeom>
          <a:solidFill xmlns:a="http://schemas.openxmlformats.org/drawingml/2006/main">
            <a:srgbClr val="F7F3E8"/>
          </a:solidFill>
          <a:ln xmlns:a="http://schemas.openxmlformats.org/drawingml/2006/main" w="9525">
            <a:solidFill>
              <a:srgbClr val="C8C0AE"/>
            </a:solidFill>
            <a:prstDash val="solid"/>
          </a:ln>
        </p:spPr>
      </p:sp>
      <p:sp>
        <p:nvSpPr>
          <p:cNvPr id="15" name="Text 13">
            <a:extLst xmlns:a="http://schemas.openxmlformats.org/drawingml/2006/main">
              <a:ext uri="{FF2B5EF4-FFF2-40B4-BE49-F238E27FC236}">
                <a16:creationId xmlns:a16="http://schemas.microsoft.com/office/drawing/2014/main" id="{F82C0160-414B-4CB1-8051-5553B287E250}"/>
              </a:ext>
            </a:extLst>
          </p:cNvPr>
          <p:cNvSpPr>
            <a:spLocks xmlns:a="http://schemas.openxmlformats.org/drawingml/2006/main" noGrp="1"/>
          </p:cNvSpPr>
          <p:nvPr/>
        </p:nvSpPr>
        <p:spPr>
          <a:xfrm xmlns:a="http://schemas.openxmlformats.org/drawingml/2006/main">
            <a:off x="731520" y="5230368"/>
            <a:ext cx="274320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a:solidFill>
                  <a:srgbClr val="B8432A"/>
                </a:solidFill>
                <a:latin typeface="Calibri"/>
                <a:ea typeface="Calibri"/>
                <a:cs typeface="Calibri"/>
              </a:rPr>
              <a:t>Sinh ra</a:t>
            </a:r>
            <a:endParaRPr sz="1800"/>
          </a:p>
        </p:txBody>
      </p:sp>
      <p:sp>
        <p:nvSpPr>
          <p:cNvPr id="16" name="Text 14">
            <a:extLst xmlns:a="http://schemas.openxmlformats.org/drawingml/2006/main">
              <a:ext uri="{FF2B5EF4-FFF2-40B4-BE49-F238E27FC236}">
                <a16:creationId xmlns:a16="http://schemas.microsoft.com/office/drawing/2014/main" id="{7F826036-14EA-4CDF-8736-CE0A36407D7B}"/>
              </a:ext>
            </a:extLst>
          </p:cNvPr>
          <p:cNvSpPr>
            <a:spLocks xmlns:a="http://schemas.openxmlformats.org/drawingml/2006/main" noGrp="1"/>
          </p:cNvSpPr>
          <p:nvPr/>
        </p:nvSpPr>
        <p:spPr>
          <a:xfrm xmlns:a="http://schemas.openxmlformats.org/drawingml/2006/main">
            <a:off x="3566160" y="5230368"/>
            <a:ext cx="777240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a:solidFill>
                  <a:srgbClr val="1A1A1A"/>
                </a:solidFill>
                <a:latin typeface="Calibri"/>
                <a:ea typeface="Calibri"/>
                <a:cs typeface="Calibri"/>
              </a:rPr>
              <a:t>Mỗi bản tóm tắt dài tối đa 256 token.</a:t>
            </a:r>
            <a:endParaRPr sz="1800"/>
          </a:p>
        </p:txBody>
      </p:sp>
      <p:sp>
        <p:nvSpPr>
          <p:cNvPr id="17" name="Text 15">
            <a:extLst xmlns:a="http://schemas.openxmlformats.org/drawingml/2006/main">
              <a:ext uri="{FF2B5EF4-FFF2-40B4-BE49-F238E27FC236}">
                <a16:creationId xmlns:a16="http://schemas.microsoft.com/office/drawing/2014/main" id="{AE3493C4-214F-40E6-AEE0-1B0FE62858E1}"/>
              </a:ext>
            </a:extLst>
          </p:cNvPr>
          <p:cNvSpPr>
            <a:spLocks xmlns:a="http://schemas.openxmlformats.org/drawingml/2006/main" noGrp="1"/>
          </p:cNvSpPr>
          <p:nvPr/>
        </p:nvSpPr>
        <p:spPr>
          <a:xfrm xmlns:a="http://schemas.openxmlformats.org/drawingml/2006/main">
            <a:off x="502920" y="6492240"/>
            <a:ext cx="73152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B5AFA0"/>
                </a:solidFill>
                <a:latin typeface="Calibri"/>
                <a:ea typeface="Calibri"/>
                <a:cs typeface="Calibri"/>
              </a:rPr>
              <a:t>CS221 · UIT · Nhóm 14</a:t>
            </a:r>
            <a:endParaRPr sz="1100"/>
          </a:p>
        </p:txBody>
      </p:sp>
      <p:sp>
        <p:nvSpPr>
          <p:cNvPr id="18" name="Text 16">
            <a:extLst xmlns:a="http://schemas.openxmlformats.org/drawingml/2006/main">
              <a:ext uri="{FF2B5EF4-FFF2-40B4-BE49-F238E27FC236}">
                <a16:creationId xmlns:a16="http://schemas.microsoft.com/office/drawing/2014/main" id="{74940DD9-C519-49E7-B21F-8E410DB60D38}"/>
              </a:ext>
            </a:extLst>
          </p:cNvPr>
          <p:cNvSpPr>
            <a:spLocks xmlns:a="http://schemas.openxmlformats.org/drawingml/2006/main" noGrp="1"/>
          </p:cNvSpPr>
          <p:nvPr/>
        </p:nvSpPr>
        <p:spPr>
          <a:xfrm xmlns:a="http://schemas.openxmlformats.org/drawingml/2006/main">
            <a:off x="10424160" y="6492240"/>
            <a:ext cx="128016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100">
                <a:solidFill>
                  <a:srgbClr val="8A8578"/>
                </a:solidFill>
                <a:latin typeface="Calibri"/>
                <a:ea typeface="Calibri"/>
                <a:cs typeface="Calibri"/>
              </a:rPr>
              <a:t>11</a:t>
            </a:r>
            <a:endParaRPr sz="1100"/>
          </a:p>
        </p:txBody>
      </p:sp>
    </p:spTree>
    <p:extLst>
      <p:ext uri="{BB962C8B-B14F-4D97-AF65-F5344CB8AC3E}">
        <p14:creationId xmlns:p14="http://schemas.microsoft.com/office/powerpoint/2010/main" val="1643179010"/>
      </p:ext>
    </p:extLst>
  </p:cSld>
</p:sld>
</file>

<file path=ppt/slides/slide12.xml><?xml version="1.0" encoding="utf-8"?>
<p:sld xmlns:p="http://schemas.openxmlformats.org/presentationml/2006/main">
  <p:cSld>
    <p:bg>
      <p:bgPr>
        <a:solidFill xmlns:a="http://schemas.openxmlformats.org/drawingml/2006/main">
          <a:srgbClr val="F0ECE0"/>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62A1893-FC9F-46DA-AC8A-429C8E378B8A}"/>
              </a:ext>
            </a:extLst>
          </p:cNvPr>
          <p:cNvSpPr>
            <a:spLocks xmlns:a="http://schemas.openxmlformats.org/drawingml/2006/main" noGrp="1"/>
          </p:cNvSpPr>
          <p:nvPr/>
        </p:nvSpPr>
        <p:spPr>
          <a:xfrm xmlns:a="http://schemas.openxmlformats.org/drawingml/2006/main">
            <a:off x="502920" y="256032"/>
            <a:ext cx="73152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spc="120">
                <a:solidFill>
                  <a:srgbClr val="8A8578"/>
                </a:solidFill>
                <a:latin typeface="Calibri"/>
                <a:ea typeface="Calibri"/>
                <a:cs typeface="Calibri"/>
              </a:rPr>
              <a:t>12   THIẾT LẬP</a:t>
            </a:r>
            <a:endParaRPr sz="1200"/>
          </a:p>
        </p:txBody>
      </p:sp>
      <p:sp>
        <p:nvSpPr>
          <p:cNvPr id="3" name="Text 1">
            <a:extLst xmlns:a="http://schemas.openxmlformats.org/drawingml/2006/main">
              <a:ext uri="{FF2B5EF4-FFF2-40B4-BE49-F238E27FC236}">
                <a16:creationId xmlns:a16="http://schemas.microsoft.com/office/drawing/2014/main" id="{ED3238FE-F6D3-4656-98FF-A6B4DE83D612}"/>
              </a:ext>
            </a:extLst>
          </p:cNvPr>
          <p:cNvSpPr>
            <a:spLocks xmlns:a="http://schemas.openxmlformats.org/drawingml/2006/main" noGrp="1"/>
          </p:cNvSpPr>
          <p:nvPr/>
        </p:nvSpPr>
        <p:spPr>
          <a:xfrm xmlns:a="http://schemas.openxmlformats.org/drawingml/2006/main">
            <a:off x="6675120" y="256032"/>
            <a:ext cx="50292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300">
                <a:solidFill>
                  <a:srgbClr val="8A8578"/>
                </a:solidFill>
                <a:latin typeface="Calibri"/>
                <a:ea typeface="Calibri"/>
                <a:cs typeface="Calibri"/>
              </a:rPr>
              <a:t>Cùng tập, cùng cách chấm</a:t>
            </a:r>
            <a:endParaRPr sz="1300"/>
          </a:p>
        </p:txBody>
      </p:sp>
      <p:sp>
        <p:nvSpPr>
          <p:cNvPr id="4" name="Text 2">
            <a:extLst xmlns:a="http://schemas.openxmlformats.org/drawingml/2006/main">
              <a:ext uri="{FF2B5EF4-FFF2-40B4-BE49-F238E27FC236}">
                <a16:creationId xmlns:a16="http://schemas.microsoft.com/office/drawing/2014/main" id="{089AFA7A-83CC-4886-BB11-BEB48052A623}"/>
              </a:ext>
            </a:extLst>
          </p:cNvPr>
          <p:cNvSpPr>
            <a:spLocks xmlns:a="http://schemas.openxmlformats.org/drawingml/2006/main" noGrp="1"/>
          </p:cNvSpPr>
          <p:nvPr/>
        </p:nvSpPr>
        <p:spPr>
          <a:xfrm xmlns:a="http://schemas.openxmlformats.org/drawingml/2006/main">
            <a:off x="502920" y="585216"/>
            <a:ext cx="1115568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a:solidFill>
                  <a:srgbClr val="1A1A1A"/>
                </a:solidFill>
                <a:latin typeface="Georgia"/>
                <a:ea typeface="Georgia"/>
                <a:cs typeface="Georgia"/>
              </a:rPr>
              <a:t>Ba hệ nhìn cùng các bài test</a:t>
            </a:r>
            <a:endParaRPr sz="2800"/>
          </a:p>
        </p:txBody>
      </p:sp>
      <p:graphicFrame>
        <p:nvGraphicFramePr>
          <p:cNvPr id="13" name="Table 0">
            <a:extLst xmlns:a="http://schemas.openxmlformats.org/drawingml/2006/main">
              <a:ext uri="{FF2B5EF4-FFF2-40B4-BE49-F238E27FC236}">
                <a16:creationId xmlns:a16="http://schemas.microsoft.com/office/drawing/2014/main" id="{FA3AA49A-5D67-4572-A3C9-EF34E5BF446F}"/>
              </a:ext>
            </a:extLst>
          </p:cNvPr>
          <p:cNvGraphicFramePr/>
          <p:nvPr/>
        </p:nvGraphicFramePr>
        <p:xfrm>
          <a:off xmlns:a="http://schemas.openxmlformats.org/drawingml/2006/main" x="502920" y="1325880"/>
          <a:ext xmlns:a="http://schemas.openxmlformats.org/drawingml/2006/main" cx="11155680" cy="4709160"/>
        </p:xfrm>
        <a:graphic xmlns:a="http://schemas.openxmlformats.org/drawingml/2006/main">
          <a:graphicData uri="http://schemas.openxmlformats.org/drawingml/2006/table">
            <a:tbl>
              <a:tblPr/>
              <a:tblGrid>
                <a:gridCol w="2743200"/>
                <a:gridCol w="8412480"/>
              </a:tblGrid>
              <a:tr h="784860">
                <a:tc>
                  <a:txBody>
                    <a:bodyPr/>
                    <a:lstStyle/>
                    <a:p>
                      <a:pPr marL="0" indent="0" algn="l">
                        <a:buNone/>
                      </a:pPr>
                      <a:r>
                        <a:rPr sz="1800" b="1">
                          <a:solidFill>
                            <a:srgbClr val="EFE8D6"/>
                          </a:solidFill>
                          <a:latin typeface="Calibri"/>
                          <a:ea typeface="Calibri"/>
                          <a:cs typeface="Calibri"/>
                        </a:rPr>
                        <a:t>Hạng mục</a:t>
                      </a:r>
                      <a:endParaRPr sz="1800">
                        <a:latin typeface="Calibri"/>
                        <a:ea typeface="Calibri"/>
                        <a:cs typeface="Calibri"/>
                      </a:endParaRPr>
                    </a:p>
                  </a:txBody>
                  <a:tcPr marL="91440" marR="91440" marT="45720" marB="45720" anchor="ctr">
                    <a:lnL w="6350" cmpd="sng">
                      <a:solidFill>
                        <a:srgbClr val="C8C0AE"/>
                      </a:solidFill>
                      <a:prstDash val="solid"/>
                    </a:lnL>
                    <a:lnR w="6350" cmpd="sng">
                      <a:solidFill>
                        <a:srgbClr val="C8C0AE"/>
                      </a:solidFill>
                      <a:prstDash val="solid"/>
                    </a:lnR>
                    <a:lnT w="6350" cmpd="sng">
                      <a:solidFill>
                        <a:srgbClr val="C8C0AE"/>
                      </a:solidFill>
                      <a:prstDash val="solid"/>
                    </a:lnT>
                    <a:lnB w="6350" cmpd="sng">
                      <a:solidFill>
                        <a:srgbClr val="C8C0AE"/>
                      </a:solidFill>
                      <a:prstDash val="solid"/>
                    </a:lnB>
                    <a:solidFill>
                      <a:srgbClr val="0B0B0B"/>
                    </a:solidFill>
                  </a:tcPr>
                </a:tc>
                <a:tc>
                  <a:txBody>
                    <a:bodyPr/>
                    <a:lstStyle/>
                    <a:p>
                      <a:pPr marL="0" indent="0" algn="l">
                        <a:buNone/>
                      </a:pPr>
                      <a:r>
                        <a:rPr sz="1800" b="1">
                          <a:solidFill>
                            <a:srgbClr val="EFE8D6"/>
                          </a:solidFill>
                          <a:latin typeface="Calibri"/>
                          <a:ea typeface="Calibri"/>
                          <a:cs typeface="Calibri"/>
                        </a:rPr>
                        <a:t>Cách nhóm làm</a:t>
                      </a:r>
                      <a:endParaRPr sz="1800">
                        <a:latin typeface="Calibri"/>
                        <a:ea typeface="Calibri"/>
                        <a:cs typeface="Calibri"/>
                      </a:endParaRPr>
                    </a:p>
                  </a:txBody>
                  <a:tcPr marL="91440" marR="91440" marT="45720" marB="45720" anchor="ctr">
                    <a:lnL w="6350" cmpd="sng">
                      <a:solidFill>
                        <a:srgbClr val="C8C0AE"/>
                      </a:solidFill>
                      <a:prstDash val="solid"/>
                    </a:lnL>
                    <a:lnR w="6350" cmpd="sng">
                      <a:solidFill>
                        <a:srgbClr val="C8C0AE"/>
                      </a:solidFill>
                      <a:prstDash val="solid"/>
                    </a:lnR>
                    <a:lnT w="6350" cmpd="sng">
                      <a:solidFill>
                        <a:srgbClr val="C8C0AE"/>
                      </a:solidFill>
                      <a:prstDash val="solid"/>
                    </a:lnT>
                    <a:lnB w="6350" cmpd="sng">
                      <a:solidFill>
                        <a:srgbClr val="C8C0AE"/>
                      </a:solidFill>
                      <a:prstDash val="solid"/>
                    </a:lnB>
                    <a:solidFill>
                      <a:srgbClr val="0B0B0B"/>
                    </a:solidFill>
                  </a:tcPr>
                </a:tc>
              </a:tr>
              <a:tr h="784860">
                <a:tc>
                  <a:txBody>
                    <a:bodyPr/>
                    <a:lstStyle/>
                    <a:p>
                      <a:pPr marL="0" indent="0" algn="l">
                        <a:buNone/>
                      </a:pPr>
                      <a:r>
                        <a:rPr sz="1800">
                          <a:solidFill>
                            <a:srgbClr val="2B2B2B"/>
                          </a:solidFill>
                          <a:latin typeface="Calibri"/>
                          <a:ea typeface="Calibri"/>
                          <a:cs typeface="Calibri"/>
                        </a:rPr>
                        <a:t>Tập 100</a:t>
                      </a:r>
                      <a:endParaRPr sz="1800">
                        <a:latin typeface="Calibri"/>
                        <a:ea typeface="Calibri"/>
                        <a:cs typeface="Calibri"/>
                      </a:endParaRPr>
                    </a:p>
                  </a:txBody>
                  <a:tcPr marL="91440" marR="91440" marT="45720" marB="45720" anchor="ctr">
                    <a:lnL w="6350" cmpd="sng">
                      <a:solidFill>
                        <a:srgbClr val="C8C0AE"/>
                      </a:solidFill>
                      <a:prstDash val="solid"/>
                    </a:lnL>
                    <a:lnR w="6350" cmpd="sng">
                      <a:solidFill>
                        <a:srgbClr val="C8C0AE"/>
                      </a:solidFill>
                      <a:prstDash val="solid"/>
                    </a:lnR>
                    <a:lnT w="6350" cmpd="sng">
                      <a:solidFill>
                        <a:srgbClr val="C8C0AE"/>
                      </a:solidFill>
                      <a:prstDash val="solid"/>
                    </a:lnT>
                    <a:lnB w="6350" cmpd="sng">
                      <a:solidFill>
                        <a:srgbClr val="C8C0AE"/>
                      </a:solidFill>
                      <a:prstDash val="solid"/>
                    </a:lnB>
                  </a:tcPr>
                </a:tc>
                <a:tc>
                  <a:txBody>
                    <a:bodyPr/>
                    <a:lstStyle/>
                    <a:p>
                      <a:pPr marL="0" indent="0" algn="l">
                        <a:buNone/>
                      </a:pPr>
                      <a:r>
                        <a:rPr sz="1800">
                          <a:solidFill>
                            <a:srgbClr val="2B2B2B"/>
                          </a:solidFill>
                          <a:latin typeface="Calibri"/>
                          <a:ea typeface="Calibri"/>
                          <a:cs typeface="Calibri"/>
                        </a:rPr>
                        <a:t>Bài 000001 đến 000100, chạy trước</a:t>
                      </a:r>
                      <a:endParaRPr sz="1800">
                        <a:latin typeface="Calibri"/>
                        <a:ea typeface="Calibri"/>
                        <a:cs typeface="Calibri"/>
                      </a:endParaRPr>
                    </a:p>
                  </a:txBody>
                  <a:tcPr marL="91440" marR="91440" marT="45720" marB="45720" anchor="ctr">
                    <a:lnL w="6350" cmpd="sng">
                      <a:solidFill>
                        <a:srgbClr val="C8C0AE"/>
                      </a:solidFill>
                      <a:prstDash val="solid"/>
                    </a:lnL>
                    <a:lnR w="6350" cmpd="sng">
                      <a:solidFill>
                        <a:srgbClr val="C8C0AE"/>
                      </a:solidFill>
                      <a:prstDash val="solid"/>
                    </a:lnR>
                    <a:lnT w="6350" cmpd="sng">
                      <a:solidFill>
                        <a:srgbClr val="C8C0AE"/>
                      </a:solidFill>
                      <a:prstDash val="solid"/>
                    </a:lnT>
                    <a:lnB w="6350" cmpd="sng">
                      <a:solidFill>
                        <a:srgbClr val="C8C0AE"/>
                      </a:solidFill>
                      <a:prstDash val="solid"/>
                    </a:lnB>
                  </a:tcPr>
                </a:tc>
              </a:tr>
              <a:tr h="784860">
                <a:tc>
                  <a:txBody>
                    <a:bodyPr/>
                    <a:lstStyle/>
                    <a:p>
                      <a:pPr marL="0" indent="0" algn="l">
                        <a:buNone/>
                      </a:pPr>
                      <a:r>
                        <a:rPr sz="1800">
                          <a:solidFill>
                            <a:srgbClr val="2B2B2B"/>
                          </a:solidFill>
                          <a:latin typeface="Calibri"/>
                          <a:ea typeface="Calibri"/>
                          <a:cs typeface="Calibri"/>
                        </a:rPr>
                        <a:t>Tập 500</a:t>
                      </a:r>
                      <a:endParaRPr sz="1800">
                        <a:latin typeface="Calibri"/>
                        <a:ea typeface="Calibri"/>
                        <a:cs typeface="Calibri"/>
                      </a:endParaRPr>
                    </a:p>
                  </a:txBody>
                  <a:tcPr marL="91440" marR="91440" marT="45720" marB="45720" anchor="ctr">
                    <a:lnL w="6350" cmpd="sng">
                      <a:solidFill>
                        <a:srgbClr val="C8C0AE"/>
                      </a:solidFill>
                      <a:prstDash val="solid"/>
                    </a:lnL>
                    <a:lnR w="6350" cmpd="sng">
                      <a:solidFill>
                        <a:srgbClr val="C8C0AE"/>
                      </a:solidFill>
                      <a:prstDash val="solid"/>
                    </a:lnR>
                    <a:lnT w="6350" cmpd="sng">
                      <a:solidFill>
                        <a:srgbClr val="C8C0AE"/>
                      </a:solidFill>
                      <a:prstDash val="solid"/>
                    </a:lnT>
                    <a:lnB w="6350" cmpd="sng">
                      <a:solidFill>
                        <a:srgbClr val="C8C0AE"/>
                      </a:solidFill>
                      <a:prstDash val="solid"/>
                    </a:lnB>
                  </a:tcPr>
                </a:tc>
                <a:tc>
                  <a:txBody>
                    <a:bodyPr/>
                    <a:lstStyle/>
                    <a:p>
                      <a:pPr marL="0" indent="0" algn="l">
                        <a:buNone/>
                      </a:pPr>
                      <a:r>
                        <a:rPr sz="1800">
                          <a:solidFill>
                            <a:srgbClr val="2B2B2B"/>
                          </a:solidFill>
                          <a:latin typeface="Calibri"/>
                          <a:ea typeface="Calibri"/>
                          <a:cs typeface="Calibri"/>
                        </a:rPr>
                        <a:t>Bài 000001 đến 000500, gồm cả 100 bài trên</a:t>
                      </a:r>
                      <a:endParaRPr sz="1800">
                        <a:latin typeface="Calibri"/>
                        <a:ea typeface="Calibri"/>
                        <a:cs typeface="Calibri"/>
                      </a:endParaRPr>
                    </a:p>
                  </a:txBody>
                  <a:tcPr marL="91440" marR="91440" marT="45720" marB="45720" anchor="ctr">
                    <a:lnL w="6350" cmpd="sng">
                      <a:solidFill>
                        <a:srgbClr val="C8C0AE"/>
                      </a:solidFill>
                      <a:prstDash val="solid"/>
                    </a:lnL>
                    <a:lnR w="6350" cmpd="sng">
                      <a:solidFill>
                        <a:srgbClr val="C8C0AE"/>
                      </a:solidFill>
                      <a:prstDash val="solid"/>
                    </a:lnR>
                    <a:lnT w="6350" cmpd="sng">
                      <a:solidFill>
                        <a:srgbClr val="C8C0AE"/>
                      </a:solidFill>
                      <a:prstDash val="solid"/>
                    </a:lnT>
                    <a:lnB w="6350" cmpd="sng">
                      <a:solidFill>
                        <a:srgbClr val="C8C0AE"/>
                      </a:solidFill>
                      <a:prstDash val="solid"/>
                    </a:lnB>
                  </a:tcPr>
                </a:tc>
              </a:tr>
              <a:tr h="784860">
                <a:tc>
                  <a:txBody>
                    <a:bodyPr/>
                    <a:lstStyle/>
                    <a:p>
                      <a:pPr marL="0" indent="0" algn="l">
                        <a:buNone/>
                      </a:pPr>
                      <a:r>
                        <a:rPr sz="1800">
                          <a:solidFill>
                            <a:srgbClr val="2B2B2B"/>
                          </a:solidFill>
                          <a:latin typeface="Calibri"/>
                          <a:ea typeface="Calibri"/>
                          <a:cs typeface="Calibri"/>
                        </a:rPr>
                        <a:t>Ba cách</a:t>
                      </a:r>
                      <a:endParaRPr sz="1800">
                        <a:latin typeface="Calibri"/>
                        <a:ea typeface="Calibri"/>
                        <a:cs typeface="Calibri"/>
                      </a:endParaRPr>
                    </a:p>
                  </a:txBody>
                  <a:tcPr marL="91440" marR="91440" marT="45720" marB="45720" anchor="ctr">
                    <a:lnL w="6350" cmpd="sng">
                      <a:solidFill>
                        <a:srgbClr val="C8C0AE"/>
                      </a:solidFill>
                      <a:prstDash val="solid"/>
                    </a:lnL>
                    <a:lnR w="6350" cmpd="sng">
                      <a:solidFill>
                        <a:srgbClr val="C8C0AE"/>
                      </a:solidFill>
                      <a:prstDash val="solid"/>
                    </a:lnR>
                    <a:lnT w="6350" cmpd="sng">
                      <a:solidFill>
                        <a:srgbClr val="C8C0AE"/>
                      </a:solidFill>
                      <a:prstDash val="solid"/>
                    </a:lnT>
                    <a:lnB w="6350" cmpd="sng">
                      <a:solidFill>
                        <a:srgbClr val="C8C0AE"/>
                      </a:solidFill>
                      <a:prstDash val="solid"/>
                    </a:lnB>
                  </a:tcPr>
                </a:tc>
                <a:tc>
                  <a:txBody>
                    <a:bodyPr/>
                    <a:lstStyle/>
                    <a:p>
                      <a:pPr marL="0" indent="0" algn="l">
                        <a:buNone/>
                      </a:pPr>
                      <a:r>
                        <a:rPr sz="1800">
                          <a:solidFill>
                            <a:srgbClr val="2B2B2B"/>
                          </a:solidFill>
                          <a:latin typeface="Calibri"/>
                          <a:ea typeface="Calibri"/>
                          <a:cs typeface="Calibri"/>
                        </a:rPr>
                        <a:t>Lead-3, TextRank và ViT5 trên cùng các bài</a:t>
                      </a:r>
                      <a:endParaRPr sz="1800">
                        <a:latin typeface="Calibri"/>
                        <a:ea typeface="Calibri"/>
                        <a:cs typeface="Calibri"/>
                      </a:endParaRPr>
                    </a:p>
                  </a:txBody>
                  <a:tcPr marL="91440" marR="91440" marT="45720" marB="45720" anchor="ctr">
                    <a:lnL w="6350" cmpd="sng">
                      <a:solidFill>
                        <a:srgbClr val="C8C0AE"/>
                      </a:solidFill>
                      <a:prstDash val="solid"/>
                    </a:lnL>
                    <a:lnR w="6350" cmpd="sng">
                      <a:solidFill>
                        <a:srgbClr val="C8C0AE"/>
                      </a:solidFill>
                      <a:prstDash val="solid"/>
                    </a:lnR>
                    <a:lnT w="6350" cmpd="sng">
                      <a:solidFill>
                        <a:srgbClr val="C8C0AE"/>
                      </a:solidFill>
                      <a:prstDash val="solid"/>
                    </a:lnT>
                    <a:lnB w="6350" cmpd="sng">
                      <a:solidFill>
                        <a:srgbClr val="C8C0AE"/>
                      </a:solidFill>
                      <a:prstDash val="solid"/>
                    </a:lnB>
                  </a:tcPr>
                </a:tc>
              </a:tr>
              <a:tr h="784860">
                <a:tc>
                  <a:txBody>
                    <a:bodyPr/>
                    <a:lstStyle/>
                    <a:p>
                      <a:pPr marL="0" indent="0" algn="l">
                        <a:buNone/>
                      </a:pPr>
                      <a:r>
                        <a:rPr sz="1800">
                          <a:solidFill>
                            <a:srgbClr val="2B2B2B"/>
                          </a:solidFill>
                          <a:latin typeface="Calibri"/>
                          <a:ea typeface="Calibri"/>
                          <a:cs typeface="Calibri"/>
                        </a:rPr>
                        <a:t>Cách chấm</a:t>
                      </a:r>
                      <a:endParaRPr sz="1800">
                        <a:latin typeface="Calibri"/>
                        <a:ea typeface="Calibri"/>
                        <a:cs typeface="Calibri"/>
                      </a:endParaRPr>
                    </a:p>
                  </a:txBody>
                  <a:tcPr marL="91440" marR="91440" marT="45720" marB="45720" anchor="ctr">
                    <a:lnL w="6350" cmpd="sng">
                      <a:solidFill>
                        <a:srgbClr val="C8C0AE"/>
                      </a:solidFill>
                      <a:prstDash val="solid"/>
                    </a:lnL>
                    <a:lnR w="6350" cmpd="sng">
                      <a:solidFill>
                        <a:srgbClr val="C8C0AE"/>
                      </a:solidFill>
                      <a:prstDash val="solid"/>
                    </a:lnR>
                    <a:lnT w="6350" cmpd="sng">
                      <a:solidFill>
                        <a:srgbClr val="C8C0AE"/>
                      </a:solidFill>
                      <a:prstDash val="solid"/>
                    </a:lnT>
                    <a:lnB w="6350" cmpd="sng">
                      <a:solidFill>
                        <a:srgbClr val="C8C0AE"/>
                      </a:solidFill>
                      <a:prstDash val="solid"/>
                    </a:lnB>
                  </a:tcPr>
                </a:tc>
                <a:tc>
                  <a:txBody>
                    <a:bodyPr/>
                    <a:lstStyle/>
                    <a:p>
                      <a:pPr marL="0" indent="0" algn="l">
                        <a:buNone/>
                      </a:pPr>
                      <a:r>
                        <a:rPr sz="1800">
                          <a:solidFill>
                            <a:srgbClr val="2B2B2B"/>
                          </a:solidFill>
                          <a:latin typeface="Calibri"/>
                          <a:ea typeface="Calibri"/>
                          <a:cs typeface="Calibri"/>
                        </a:rPr>
                        <a:t>ROUGE-1, ROUGE-2, ROUGE-L, lấy điểm F1</a:t>
                      </a:r>
                      <a:endParaRPr sz="1800">
                        <a:latin typeface="Calibri"/>
                        <a:ea typeface="Calibri"/>
                        <a:cs typeface="Calibri"/>
                      </a:endParaRPr>
                    </a:p>
                  </a:txBody>
                  <a:tcPr marL="91440" marR="91440" marT="45720" marB="45720" anchor="ctr">
                    <a:lnL w="6350" cmpd="sng">
                      <a:solidFill>
                        <a:srgbClr val="C8C0AE"/>
                      </a:solidFill>
                      <a:prstDash val="solid"/>
                    </a:lnL>
                    <a:lnR w="6350" cmpd="sng">
                      <a:solidFill>
                        <a:srgbClr val="C8C0AE"/>
                      </a:solidFill>
                      <a:prstDash val="solid"/>
                    </a:lnR>
                    <a:lnT w="6350" cmpd="sng">
                      <a:solidFill>
                        <a:srgbClr val="C8C0AE"/>
                      </a:solidFill>
                      <a:prstDash val="solid"/>
                    </a:lnT>
                    <a:lnB w="6350" cmpd="sng">
                      <a:solidFill>
                        <a:srgbClr val="C8C0AE"/>
                      </a:solidFill>
                      <a:prstDash val="solid"/>
                    </a:lnB>
                  </a:tcPr>
                </a:tc>
              </a:tr>
              <a:tr h="784860">
                <a:tc>
                  <a:txBody>
                    <a:bodyPr/>
                    <a:lstStyle/>
                    <a:p>
                      <a:pPr marL="0" indent="0" algn="l">
                        <a:buNone/>
                      </a:pPr>
                      <a:r>
                        <a:rPr sz="1800">
                          <a:solidFill>
                            <a:srgbClr val="2B2B2B"/>
                          </a:solidFill>
                          <a:latin typeface="Calibri"/>
                          <a:ea typeface="Calibri"/>
                          <a:cs typeface="Calibri"/>
                        </a:rPr>
                        <a:t>ViT5</a:t>
                      </a:r>
                      <a:endParaRPr sz="1800">
                        <a:latin typeface="Calibri"/>
                        <a:ea typeface="Calibri"/>
                        <a:cs typeface="Calibri"/>
                      </a:endParaRPr>
                    </a:p>
                  </a:txBody>
                  <a:tcPr marL="91440" marR="91440" marT="45720" marB="45720" anchor="ctr">
                    <a:lnL w="6350" cmpd="sng">
                      <a:solidFill>
                        <a:srgbClr val="C8C0AE"/>
                      </a:solidFill>
                      <a:prstDash val="solid"/>
                    </a:lnL>
                    <a:lnR w="6350" cmpd="sng">
                      <a:solidFill>
                        <a:srgbClr val="C8C0AE"/>
                      </a:solidFill>
                      <a:prstDash val="solid"/>
                    </a:lnR>
                    <a:lnT w="6350" cmpd="sng">
                      <a:solidFill>
                        <a:srgbClr val="C8C0AE"/>
                      </a:solidFill>
                      <a:prstDash val="solid"/>
                    </a:lnT>
                    <a:lnB w="6350" cmpd="sng">
                      <a:solidFill>
                        <a:srgbClr val="C8C0AE"/>
                      </a:solidFill>
                      <a:prstDash val="solid"/>
                    </a:lnB>
                  </a:tcPr>
                </a:tc>
                <a:tc>
                  <a:txBody>
                    <a:bodyPr/>
                    <a:lstStyle/>
                    <a:p>
                      <a:pPr marL="0" indent="0" algn="l">
                        <a:buNone/>
                      </a:pPr>
                      <a:r>
                        <a:rPr sz="1800">
                          <a:solidFill>
                            <a:srgbClr val="2B2B2B"/>
                          </a:solidFill>
                          <a:latin typeface="Calibri"/>
                          <a:ea typeface="Calibri"/>
                          <a:cs typeface="Calibri"/>
                        </a:rPr>
                        <a:t>Sinh một lần trên Kaggle, rồi lưu file kết quả</a:t>
                      </a:r>
                      <a:endParaRPr sz="1800">
                        <a:latin typeface="Calibri"/>
                        <a:ea typeface="Calibri"/>
                        <a:cs typeface="Calibri"/>
                      </a:endParaRPr>
                    </a:p>
                  </a:txBody>
                  <a:tcPr marL="91440" marR="91440" marT="45720" marB="45720" anchor="ctr">
                    <a:lnL w="6350" cmpd="sng">
                      <a:solidFill>
                        <a:srgbClr val="C8C0AE"/>
                      </a:solidFill>
                      <a:prstDash val="solid"/>
                    </a:lnL>
                    <a:lnR w="6350" cmpd="sng">
                      <a:solidFill>
                        <a:srgbClr val="C8C0AE"/>
                      </a:solidFill>
                      <a:prstDash val="solid"/>
                    </a:lnR>
                    <a:lnT w="6350" cmpd="sng">
                      <a:solidFill>
                        <a:srgbClr val="C8C0AE"/>
                      </a:solidFill>
                      <a:prstDash val="solid"/>
                    </a:lnT>
                    <a:lnB w="6350" cmpd="sng">
                      <a:solidFill>
                        <a:srgbClr val="C8C0AE"/>
                      </a:solidFill>
                      <a:prstDash val="solid"/>
                    </a:lnB>
                  </a:tcPr>
                </a:tc>
              </a:tr>
            </a:tbl>
          </a:graphicData>
        </a:graphic>
      </p:graphicFrame>
      <p:sp>
        <p:nvSpPr>
          <p:cNvPr id="6" name="Text 3">
            <a:extLst xmlns:a="http://schemas.openxmlformats.org/drawingml/2006/main">
              <a:ext uri="{FF2B5EF4-FFF2-40B4-BE49-F238E27FC236}">
                <a16:creationId xmlns:a16="http://schemas.microsoft.com/office/drawing/2014/main" id="{A076BBD5-F293-4F29-9603-CEE291677C04}"/>
              </a:ext>
            </a:extLst>
          </p:cNvPr>
          <p:cNvSpPr>
            <a:spLocks xmlns:a="http://schemas.openxmlformats.org/drawingml/2006/main" noGrp="1"/>
          </p:cNvSpPr>
          <p:nvPr/>
        </p:nvSpPr>
        <p:spPr>
          <a:xfrm xmlns:a="http://schemas.openxmlformats.org/drawingml/2006/main">
            <a:off x="502920" y="6492240"/>
            <a:ext cx="73152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B5AFA0"/>
                </a:solidFill>
                <a:latin typeface="Calibri"/>
                <a:ea typeface="Calibri"/>
                <a:cs typeface="Calibri"/>
              </a:rPr>
              <a:t>CS221 · UIT · Nhóm 14</a:t>
            </a:r>
            <a:endParaRPr sz="1100"/>
          </a:p>
        </p:txBody>
      </p:sp>
      <p:sp>
        <p:nvSpPr>
          <p:cNvPr id="7" name="Text 4">
            <a:extLst xmlns:a="http://schemas.openxmlformats.org/drawingml/2006/main">
              <a:ext uri="{FF2B5EF4-FFF2-40B4-BE49-F238E27FC236}">
                <a16:creationId xmlns:a16="http://schemas.microsoft.com/office/drawing/2014/main" id="{36C0E25D-65E8-4E14-8942-9DB038FD6F1B}"/>
              </a:ext>
            </a:extLst>
          </p:cNvPr>
          <p:cNvSpPr>
            <a:spLocks xmlns:a="http://schemas.openxmlformats.org/drawingml/2006/main" noGrp="1"/>
          </p:cNvSpPr>
          <p:nvPr/>
        </p:nvSpPr>
        <p:spPr>
          <a:xfrm xmlns:a="http://schemas.openxmlformats.org/drawingml/2006/main">
            <a:off x="10424160" y="6492240"/>
            <a:ext cx="128016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100">
                <a:solidFill>
                  <a:srgbClr val="8A8578"/>
                </a:solidFill>
                <a:latin typeface="Calibri"/>
                <a:ea typeface="Calibri"/>
                <a:cs typeface="Calibri"/>
              </a:rPr>
              <a:t>12</a:t>
            </a:r>
            <a:endParaRPr sz="1100"/>
          </a:p>
        </p:txBody>
      </p:sp>
    </p:spTree>
    <p:extLst>
      <p:ext uri="{BB962C8B-B14F-4D97-AF65-F5344CB8AC3E}">
        <p14:creationId xmlns:p14="http://schemas.microsoft.com/office/powerpoint/2010/main" val="1719388950"/>
      </p:ext>
    </p:extLst>
  </p:cSld>
</p:sld>
</file>

<file path=ppt/slides/slide13.xml><?xml version="1.0" encoding="utf-8"?>
<p:sld xmlns:p="http://schemas.openxmlformats.org/presentationml/2006/main">
  <p:cSld>
    <p:bg>
      <p:bgPr>
        <a:solidFill xmlns:a="http://schemas.openxmlformats.org/drawingml/2006/main">
          <a:srgbClr val="F0ECE0"/>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2A076FDA-FF3E-44EA-9258-B2C2644F9609}"/>
              </a:ext>
            </a:extLst>
          </p:cNvPr>
          <p:cNvSpPr>
            <a:spLocks xmlns:a="http://schemas.openxmlformats.org/drawingml/2006/main" noGrp="1"/>
          </p:cNvSpPr>
          <p:nvPr/>
        </p:nvSpPr>
        <p:spPr>
          <a:xfrm xmlns:a="http://schemas.openxmlformats.org/drawingml/2006/main">
            <a:off x="502920" y="256032"/>
            <a:ext cx="73152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spc="120">
                <a:solidFill>
                  <a:srgbClr val="8A8578"/>
                </a:solidFill>
                <a:latin typeface="Calibri"/>
                <a:ea typeface="Calibri"/>
                <a:cs typeface="Calibri"/>
              </a:rPr>
              <a:t>13   KẾT QUẢ</a:t>
            </a:r>
            <a:endParaRPr sz="1200"/>
          </a:p>
        </p:txBody>
      </p:sp>
      <p:sp>
        <p:nvSpPr>
          <p:cNvPr id="3" name="Text 1">
            <a:extLst xmlns:a="http://schemas.openxmlformats.org/drawingml/2006/main">
              <a:ext uri="{FF2B5EF4-FFF2-40B4-BE49-F238E27FC236}">
                <a16:creationId xmlns:a16="http://schemas.microsoft.com/office/drawing/2014/main" id="{92227139-FE9B-4802-A45D-B0137AE5CB53}"/>
              </a:ext>
            </a:extLst>
          </p:cNvPr>
          <p:cNvSpPr>
            <a:spLocks xmlns:a="http://schemas.openxmlformats.org/drawingml/2006/main" noGrp="1"/>
          </p:cNvSpPr>
          <p:nvPr/>
        </p:nvSpPr>
        <p:spPr>
          <a:xfrm xmlns:a="http://schemas.openxmlformats.org/drawingml/2006/main">
            <a:off x="6675120" y="256032"/>
            <a:ext cx="50292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300">
                <a:solidFill>
                  <a:srgbClr val="8A8578"/>
                </a:solidFill>
                <a:latin typeface="Calibri"/>
                <a:ea typeface="Calibri"/>
                <a:cs typeface="Calibri"/>
              </a:rPr>
              <a:t>500 bài test</a:t>
            </a:r>
            <a:endParaRPr sz="1300"/>
          </a:p>
        </p:txBody>
      </p:sp>
      <p:sp>
        <p:nvSpPr>
          <p:cNvPr id="4" name="Text 2">
            <a:extLst xmlns:a="http://schemas.openxmlformats.org/drawingml/2006/main">
              <a:ext uri="{FF2B5EF4-FFF2-40B4-BE49-F238E27FC236}">
                <a16:creationId xmlns:a16="http://schemas.microsoft.com/office/drawing/2014/main" id="{4DC4ECB2-6819-414B-AB59-DDD23DB2B07E}"/>
              </a:ext>
            </a:extLst>
          </p:cNvPr>
          <p:cNvSpPr>
            <a:spLocks xmlns:a="http://schemas.openxmlformats.org/drawingml/2006/main" noGrp="1"/>
          </p:cNvSpPr>
          <p:nvPr/>
        </p:nvSpPr>
        <p:spPr>
          <a:xfrm xmlns:a="http://schemas.openxmlformats.org/drawingml/2006/main">
            <a:off x="502920" y="585216"/>
            <a:ext cx="1115568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a:solidFill>
                  <a:srgbClr val="1A1A1A"/>
                </a:solidFill>
                <a:latin typeface="Georgia"/>
                <a:ea typeface="Georgia"/>
                <a:cs typeface="Georgia"/>
              </a:rPr>
              <a:t>ROUGE F1 trên 500 bài kiểm thử</a:t>
            </a:r>
            <a:endParaRPr sz="2800"/>
          </a:p>
        </p:txBody>
      </p:sp>
      <p:graphicFrame>
        <p:nvGraphicFramePr>
          <p:cNvPr id="14" name="Table 0">
            <a:extLst xmlns:a="http://schemas.openxmlformats.org/drawingml/2006/main">
              <a:ext uri="{FF2B5EF4-FFF2-40B4-BE49-F238E27FC236}">
                <a16:creationId xmlns:a16="http://schemas.microsoft.com/office/drawing/2014/main" id="{C34CCDB2-A75C-4493-AF9F-069A8DD3BEFF}"/>
              </a:ext>
            </a:extLst>
          </p:cNvPr>
          <p:cNvGraphicFramePr/>
          <p:nvPr/>
        </p:nvGraphicFramePr>
        <p:xfrm>
          <a:off xmlns:a="http://schemas.openxmlformats.org/drawingml/2006/main" x="502920" y="1325880"/>
          <a:ext xmlns:a="http://schemas.openxmlformats.org/drawingml/2006/main" cx="11155680" cy="2880360"/>
        </p:xfrm>
        <a:graphic xmlns:a="http://schemas.openxmlformats.org/drawingml/2006/main">
          <a:graphicData uri="http://schemas.openxmlformats.org/drawingml/2006/table">
            <a:tbl>
              <a:tblPr/>
              <a:tblGrid>
                <a:gridCol w="2926080"/>
                <a:gridCol w="2743200"/>
                <a:gridCol w="2743200"/>
                <a:gridCol w="2743200"/>
              </a:tblGrid>
              <a:tr h="720090">
                <a:tc>
                  <a:txBody>
                    <a:bodyPr/>
                    <a:lstStyle/>
                    <a:p>
                      <a:pPr marL="0" indent="0" algn="ctr">
                        <a:buNone/>
                      </a:pPr>
                      <a:r>
                        <a:rPr sz="2000" b="1">
                          <a:solidFill>
                            <a:srgbClr val="EFE8D6"/>
                          </a:solidFill>
                          <a:latin typeface="Calibri"/>
                          <a:ea typeface="Calibri"/>
                          <a:cs typeface="Calibri"/>
                        </a:rPr>
                        <a:t>Cách làm</a:t>
                      </a:r>
                      <a:endParaRPr sz="2000">
                        <a:latin typeface="Calibri"/>
                        <a:ea typeface="Calibri"/>
                        <a:cs typeface="Calibri"/>
                      </a:endParaRPr>
                    </a:p>
                  </a:txBody>
                  <a:tcPr marL="91440" marR="91440" marT="45720" marB="45720" anchor="ctr">
                    <a:lnL w="6350" cmpd="sng">
                      <a:solidFill>
                        <a:srgbClr val="C8C0AE"/>
                      </a:solidFill>
                      <a:prstDash val="solid"/>
                    </a:lnL>
                    <a:lnR w="6350" cmpd="sng">
                      <a:solidFill>
                        <a:srgbClr val="C8C0AE"/>
                      </a:solidFill>
                      <a:prstDash val="solid"/>
                    </a:lnR>
                    <a:lnT w="6350" cmpd="sng">
                      <a:solidFill>
                        <a:srgbClr val="C8C0AE"/>
                      </a:solidFill>
                      <a:prstDash val="solid"/>
                    </a:lnT>
                    <a:lnB w="6350" cmpd="sng">
                      <a:solidFill>
                        <a:srgbClr val="C8C0AE"/>
                      </a:solidFill>
                      <a:prstDash val="solid"/>
                    </a:lnB>
                    <a:solidFill>
                      <a:srgbClr val="0B0B0B"/>
                    </a:solidFill>
                  </a:tcPr>
                </a:tc>
                <a:tc>
                  <a:txBody>
                    <a:bodyPr/>
                    <a:lstStyle/>
                    <a:p>
                      <a:pPr marL="0" indent="0" algn="ctr">
                        <a:buNone/>
                      </a:pPr>
                      <a:r>
                        <a:rPr sz="2000" b="1">
                          <a:solidFill>
                            <a:srgbClr val="EFE8D6"/>
                          </a:solidFill>
                          <a:latin typeface="Calibri"/>
                          <a:ea typeface="Calibri"/>
                          <a:cs typeface="Calibri"/>
                        </a:rPr>
                        <a:t>ROUGE-1</a:t>
                      </a:r>
                      <a:endParaRPr sz="2000">
                        <a:latin typeface="Calibri"/>
                        <a:ea typeface="Calibri"/>
                        <a:cs typeface="Calibri"/>
                      </a:endParaRPr>
                    </a:p>
                  </a:txBody>
                  <a:tcPr marL="91440" marR="91440" marT="45720" marB="45720" anchor="ctr">
                    <a:lnL w="6350" cmpd="sng">
                      <a:solidFill>
                        <a:srgbClr val="C8C0AE"/>
                      </a:solidFill>
                      <a:prstDash val="solid"/>
                    </a:lnL>
                    <a:lnR w="6350" cmpd="sng">
                      <a:solidFill>
                        <a:srgbClr val="C8C0AE"/>
                      </a:solidFill>
                      <a:prstDash val="solid"/>
                    </a:lnR>
                    <a:lnT w="6350" cmpd="sng">
                      <a:solidFill>
                        <a:srgbClr val="C8C0AE"/>
                      </a:solidFill>
                      <a:prstDash val="solid"/>
                    </a:lnT>
                    <a:lnB w="6350" cmpd="sng">
                      <a:solidFill>
                        <a:srgbClr val="C8C0AE"/>
                      </a:solidFill>
                      <a:prstDash val="solid"/>
                    </a:lnB>
                    <a:solidFill>
                      <a:srgbClr val="0B0B0B"/>
                    </a:solidFill>
                  </a:tcPr>
                </a:tc>
                <a:tc>
                  <a:txBody>
                    <a:bodyPr/>
                    <a:lstStyle/>
                    <a:p>
                      <a:pPr marL="0" indent="0" algn="ctr">
                        <a:buNone/>
                      </a:pPr>
                      <a:r>
                        <a:rPr sz="2000" b="1">
                          <a:solidFill>
                            <a:srgbClr val="EFE8D6"/>
                          </a:solidFill>
                          <a:latin typeface="Calibri"/>
                          <a:ea typeface="Calibri"/>
                          <a:cs typeface="Calibri"/>
                        </a:rPr>
                        <a:t>ROUGE-2</a:t>
                      </a:r>
                      <a:endParaRPr sz="2000">
                        <a:latin typeface="Calibri"/>
                        <a:ea typeface="Calibri"/>
                        <a:cs typeface="Calibri"/>
                      </a:endParaRPr>
                    </a:p>
                  </a:txBody>
                  <a:tcPr marL="91440" marR="91440" marT="45720" marB="45720" anchor="ctr">
                    <a:lnL w="6350" cmpd="sng">
                      <a:solidFill>
                        <a:srgbClr val="C8C0AE"/>
                      </a:solidFill>
                      <a:prstDash val="solid"/>
                    </a:lnL>
                    <a:lnR w="6350" cmpd="sng">
                      <a:solidFill>
                        <a:srgbClr val="C8C0AE"/>
                      </a:solidFill>
                      <a:prstDash val="solid"/>
                    </a:lnR>
                    <a:lnT w="6350" cmpd="sng">
                      <a:solidFill>
                        <a:srgbClr val="C8C0AE"/>
                      </a:solidFill>
                      <a:prstDash val="solid"/>
                    </a:lnT>
                    <a:lnB w="6350" cmpd="sng">
                      <a:solidFill>
                        <a:srgbClr val="C8C0AE"/>
                      </a:solidFill>
                      <a:prstDash val="solid"/>
                    </a:lnB>
                    <a:solidFill>
                      <a:srgbClr val="0B0B0B"/>
                    </a:solidFill>
                  </a:tcPr>
                </a:tc>
                <a:tc>
                  <a:txBody>
                    <a:bodyPr/>
                    <a:lstStyle/>
                    <a:p>
                      <a:pPr marL="0" indent="0" algn="ctr">
                        <a:buNone/>
                      </a:pPr>
                      <a:r>
                        <a:rPr sz="2000" b="1">
                          <a:solidFill>
                            <a:srgbClr val="EFE8D6"/>
                          </a:solidFill>
                          <a:latin typeface="Calibri"/>
                          <a:ea typeface="Calibri"/>
                          <a:cs typeface="Calibri"/>
                        </a:rPr>
                        <a:t>ROUGE-L</a:t>
                      </a:r>
                      <a:endParaRPr sz="2000">
                        <a:latin typeface="Calibri"/>
                        <a:ea typeface="Calibri"/>
                        <a:cs typeface="Calibri"/>
                      </a:endParaRPr>
                    </a:p>
                  </a:txBody>
                  <a:tcPr marL="91440" marR="91440" marT="45720" marB="45720" anchor="ctr">
                    <a:lnL w="6350" cmpd="sng">
                      <a:solidFill>
                        <a:srgbClr val="C8C0AE"/>
                      </a:solidFill>
                      <a:prstDash val="solid"/>
                    </a:lnL>
                    <a:lnR w="6350" cmpd="sng">
                      <a:solidFill>
                        <a:srgbClr val="C8C0AE"/>
                      </a:solidFill>
                      <a:prstDash val="solid"/>
                    </a:lnR>
                    <a:lnT w="6350" cmpd="sng">
                      <a:solidFill>
                        <a:srgbClr val="C8C0AE"/>
                      </a:solidFill>
                      <a:prstDash val="solid"/>
                    </a:lnT>
                    <a:lnB w="6350" cmpd="sng">
                      <a:solidFill>
                        <a:srgbClr val="C8C0AE"/>
                      </a:solidFill>
                      <a:prstDash val="solid"/>
                    </a:lnB>
                    <a:solidFill>
                      <a:srgbClr val="0B0B0B"/>
                    </a:solidFill>
                  </a:tcPr>
                </a:tc>
              </a:tr>
              <a:tr h="720090">
                <a:tc>
                  <a:txBody>
                    <a:bodyPr/>
                    <a:lstStyle/>
                    <a:p>
                      <a:pPr marL="0" indent="0" algn="ctr">
                        <a:buNone/>
                      </a:pPr>
                      <a:r>
                        <a:rPr sz="2000">
                          <a:solidFill>
                            <a:srgbClr val="2B2B2B"/>
                          </a:solidFill>
                          <a:latin typeface="Calibri"/>
                          <a:ea typeface="Calibri"/>
                          <a:cs typeface="Calibri"/>
                        </a:rPr>
                        <a:t>Lead-3</a:t>
                      </a:r>
                      <a:endParaRPr sz="2000">
                        <a:latin typeface="Calibri"/>
                        <a:ea typeface="Calibri"/>
                        <a:cs typeface="Calibri"/>
                      </a:endParaRPr>
                    </a:p>
                  </a:txBody>
                  <a:tcPr marL="91440" marR="91440" marT="45720" marB="45720" anchor="ctr">
                    <a:lnL w="6350" cmpd="sng">
                      <a:solidFill>
                        <a:srgbClr val="C8C0AE"/>
                      </a:solidFill>
                      <a:prstDash val="solid"/>
                    </a:lnL>
                    <a:lnR w="6350" cmpd="sng">
                      <a:solidFill>
                        <a:srgbClr val="C8C0AE"/>
                      </a:solidFill>
                      <a:prstDash val="solid"/>
                    </a:lnR>
                    <a:lnT w="6350" cmpd="sng">
                      <a:solidFill>
                        <a:srgbClr val="C8C0AE"/>
                      </a:solidFill>
                      <a:prstDash val="solid"/>
                    </a:lnT>
                    <a:lnB w="6350" cmpd="sng">
                      <a:solidFill>
                        <a:srgbClr val="C8C0AE"/>
                      </a:solidFill>
                      <a:prstDash val="solid"/>
                    </a:lnB>
                  </a:tcPr>
                </a:tc>
                <a:tc>
                  <a:txBody>
                    <a:bodyPr/>
                    <a:lstStyle/>
                    <a:p>
                      <a:pPr marL="0" indent="0" algn="ctr">
                        <a:buNone/>
                      </a:pPr>
                      <a:r>
                        <a:rPr sz="2000">
                          <a:solidFill>
                            <a:srgbClr val="2B2B2B"/>
                          </a:solidFill>
                          <a:latin typeface="Calibri"/>
                          <a:ea typeface="Calibri"/>
                          <a:cs typeface="Calibri"/>
                        </a:rPr>
                        <a:t>0.2569</a:t>
                      </a:r>
                      <a:endParaRPr sz="2000">
                        <a:latin typeface="Calibri"/>
                        <a:ea typeface="Calibri"/>
                        <a:cs typeface="Calibri"/>
                      </a:endParaRPr>
                    </a:p>
                  </a:txBody>
                  <a:tcPr marL="91440" marR="91440" marT="45720" marB="45720" anchor="ctr">
                    <a:lnL w="6350" cmpd="sng">
                      <a:solidFill>
                        <a:srgbClr val="C8C0AE"/>
                      </a:solidFill>
                      <a:prstDash val="solid"/>
                    </a:lnL>
                    <a:lnR w="6350" cmpd="sng">
                      <a:solidFill>
                        <a:srgbClr val="C8C0AE"/>
                      </a:solidFill>
                      <a:prstDash val="solid"/>
                    </a:lnR>
                    <a:lnT w="6350" cmpd="sng">
                      <a:solidFill>
                        <a:srgbClr val="C8C0AE"/>
                      </a:solidFill>
                      <a:prstDash val="solid"/>
                    </a:lnT>
                    <a:lnB w="6350" cmpd="sng">
                      <a:solidFill>
                        <a:srgbClr val="C8C0AE"/>
                      </a:solidFill>
                      <a:prstDash val="solid"/>
                    </a:lnB>
                  </a:tcPr>
                </a:tc>
                <a:tc>
                  <a:txBody>
                    <a:bodyPr/>
                    <a:lstStyle/>
                    <a:p>
                      <a:pPr marL="0" indent="0" algn="ctr">
                        <a:buNone/>
                      </a:pPr>
                      <a:r>
                        <a:rPr sz="2000">
                          <a:solidFill>
                            <a:srgbClr val="2B2B2B"/>
                          </a:solidFill>
                          <a:latin typeface="Calibri"/>
                          <a:ea typeface="Calibri"/>
                          <a:cs typeface="Calibri"/>
                        </a:rPr>
                        <a:t>0.1294</a:t>
                      </a:r>
                      <a:endParaRPr sz="2000">
                        <a:latin typeface="Calibri"/>
                        <a:ea typeface="Calibri"/>
                        <a:cs typeface="Calibri"/>
                      </a:endParaRPr>
                    </a:p>
                  </a:txBody>
                  <a:tcPr marL="91440" marR="91440" marT="45720" marB="45720" anchor="ctr">
                    <a:lnL w="6350" cmpd="sng">
                      <a:solidFill>
                        <a:srgbClr val="C8C0AE"/>
                      </a:solidFill>
                      <a:prstDash val="solid"/>
                    </a:lnL>
                    <a:lnR w="6350" cmpd="sng">
                      <a:solidFill>
                        <a:srgbClr val="C8C0AE"/>
                      </a:solidFill>
                      <a:prstDash val="solid"/>
                    </a:lnR>
                    <a:lnT w="6350" cmpd="sng">
                      <a:solidFill>
                        <a:srgbClr val="C8C0AE"/>
                      </a:solidFill>
                      <a:prstDash val="solid"/>
                    </a:lnT>
                    <a:lnB w="6350" cmpd="sng">
                      <a:solidFill>
                        <a:srgbClr val="C8C0AE"/>
                      </a:solidFill>
                      <a:prstDash val="solid"/>
                    </a:lnB>
                  </a:tcPr>
                </a:tc>
                <a:tc>
                  <a:txBody>
                    <a:bodyPr/>
                    <a:lstStyle/>
                    <a:p>
                      <a:pPr marL="0" indent="0" algn="ctr">
                        <a:buNone/>
                      </a:pPr>
                      <a:r>
                        <a:rPr sz="2000">
                          <a:solidFill>
                            <a:srgbClr val="2B2B2B"/>
                          </a:solidFill>
                          <a:latin typeface="Calibri"/>
                          <a:ea typeface="Calibri"/>
                          <a:cs typeface="Calibri"/>
                        </a:rPr>
                        <a:t>0.1856</a:t>
                      </a:r>
                      <a:endParaRPr sz="2000">
                        <a:latin typeface="Calibri"/>
                        <a:ea typeface="Calibri"/>
                        <a:cs typeface="Calibri"/>
                      </a:endParaRPr>
                    </a:p>
                  </a:txBody>
                  <a:tcPr marL="91440" marR="91440" marT="45720" marB="45720" anchor="ctr">
                    <a:lnL w="6350" cmpd="sng">
                      <a:solidFill>
                        <a:srgbClr val="C8C0AE"/>
                      </a:solidFill>
                      <a:prstDash val="solid"/>
                    </a:lnL>
                    <a:lnR w="6350" cmpd="sng">
                      <a:solidFill>
                        <a:srgbClr val="C8C0AE"/>
                      </a:solidFill>
                      <a:prstDash val="solid"/>
                    </a:lnR>
                    <a:lnT w="6350" cmpd="sng">
                      <a:solidFill>
                        <a:srgbClr val="C8C0AE"/>
                      </a:solidFill>
                      <a:prstDash val="solid"/>
                    </a:lnT>
                    <a:lnB w="6350" cmpd="sng">
                      <a:solidFill>
                        <a:srgbClr val="C8C0AE"/>
                      </a:solidFill>
                      <a:prstDash val="solid"/>
                    </a:lnB>
                  </a:tcPr>
                </a:tc>
              </a:tr>
              <a:tr h="720090">
                <a:tc>
                  <a:txBody>
                    <a:bodyPr/>
                    <a:lstStyle/>
                    <a:p>
                      <a:pPr marL="0" indent="0" algn="ctr">
                        <a:buNone/>
                      </a:pPr>
                      <a:r>
                        <a:rPr sz="2000">
                          <a:solidFill>
                            <a:srgbClr val="2B2B2B"/>
                          </a:solidFill>
                          <a:latin typeface="Calibri"/>
                          <a:ea typeface="Calibri"/>
                          <a:cs typeface="Calibri"/>
                        </a:rPr>
                        <a:t>TextRank</a:t>
                      </a:r>
                      <a:endParaRPr sz="2000">
                        <a:latin typeface="Calibri"/>
                        <a:ea typeface="Calibri"/>
                        <a:cs typeface="Calibri"/>
                      </a:endParaRPr>
                    </a:p>
                  </a:txBody>
                  <a:tcPr marL="91440" marR="91440" marT="45720" marB="45720" anchor="ctr">
                    <a:lnL w="6350" cmpd="sng">
                      <a:solidFill>
                        <a:srgbClr val="C8C0AE"/>
                      </a:solidFill>
                      <a:prstDash val="solid"/>
                    </a:lnL>
                    <a:lnR w="6350" cmpd="sng">
                      <a:solidFill>
                        <a:srgbClr val="C8C0AE"/>
                      </a:solidFill>
                      <a:prstDash val="solid"/>
                    </a:lnR>
                    <a:lnT w="6350" cmpd="sng">
                      <a:solidFill>
                        <a:srgbClr val="C8C0AE"/>
                      </a:solidFill>
                      <a:prstDash val="solid"/>
                    </a:lnT>
                    <a:lnB w="6350" cmpd="sng">
                      <a:solidFill>
                        <a:srgbClr val="C8C0AE"/>
                      </a:solidFill>
                      <a:prstDash val="solid"/>
                    </a:lnB>
                  </a:tcPr>
                </a:tc>
                <a:tc>
                  <a:txBody>
                    <a:bodyPr/>
                    <a:lstStyle/>
                    <a:p>
                      <a:pPr marL="0" indent="0" algn="ctr">
                        <a:buNone/>
                      </a:pPr>
                      <a:r>
                        <a:rPr sz="2000">
                          <a:solidFill>
                            <a:srgbClr val="2B2B2B"/>
                          </a:solidFill>
                          <a:latin typeface="Calibri"/>
                          <a:ea typeface="Calibri"/>
                          <a:cs typeface="Calibri"/>
                        </a:rPr>
                        <a:t>0.2499</a:t>
                      </a:r>
                      <a:endParaRPr sz="2000">
                        <a:latin typeface="Calibri"/>
                        <a:ea typeface="Calibri"/>
                        <a:cs typeface="Calibri"/>
                      </a:endParaRPr>
                    </a:p>
                  </a:txBody>
                  <a:tcPr marL="91440" marR="91440" marT="45720" marB="45720" anchor="ctr">
                    <a:lnL w="6350" cmpd="sng">
                      <a:solidFill>
                        <a:srgbClr val="C8C0AE"/>
                      </a:solidFill>
                      <a:prstDash val="solid"/>
                    </a:lnL>
                    <a:lnR w="6350" cmpd="sng">
                      <a:solidFill>
                        <a:srgbClr val="C8C0AE"/>
                      </a:solidFill>
                      <a:prstDash val="solid"/>
                    </a:lnR>
                    <a:lnT w="6350" cmpd="sng">
                      <a:solidFill>
                        <a:srgbClr val="C8C0AE"/>
                      </a:solidFill>
                      <a:prstDash val="solid"/>
                    </a:lnT>
                    <a:lnB w="6350" cmpd="sng">
                      <a:solidFill>
                        <a:srgbClr val="C8C0AE"/>
                      </a:solidFill>
                      <a:prstDash val="solid"/>
                    </a:lnB>
                  </a:tcPr>
                </a:tc>
                <a:tc>
                  <a:txBody>
                    <a:bodyPr/>
                    <a:lstStyle/>
                    <a:p>
                      <a:pPr marL="0" indent="0" algn="ctr">
                        <a:buNone/>
                      </a:pPr>
                      <a:r>
                        <a:rPr sz="2000">
                          <a:solidFill>
                            <a:srgbClr val="2B2B2B"/>
                          </a:solidFill>
                          <a:latin typeface="Calibri"/>
                          <a:ea typeface="Calibri"/>
                          <a:cs typeface="Calibri"/>
                        </a:rPr>
                        <a:t>0.1198</a:t>
                      </a:r>
                      <a:endParaRPr sz="2000">
                        <a:latin typeface="Calibri"/>
                        <a:ea typeface="Calibri"/>
                        <a:cs typeface="Calibri"/>
                      </a:endParaRPr>
                    </a:p>
                  </a:txBody>
                  <a:tcPr marL="91440" marR="91440" marT="45720" marB="45720" anchor="ctr">
                    <a:lnL w="6350" cmpd="sng">
                      <a:solidFill>
                        <a:srgbClr val="C8C0AE"/>
                      </a:solidFill>
                      <a:prstDash val="solid"/>
                    </a:lnL>
                    <a:lnR w="6350" cmpd="sng">
                      <a:solidFill>
                        <a:srgbClr val="C8C0AE"/>
                      </a:solidFill>
                      <a:prstDash val="solid"/>
                    </a:lnR>
                    <a:lnT w="6350" cmpd="sng">
                      <a:solidFill>
                        <a:srgbClr val="C8C0AE"/>
                      </a:solidFill>
                      <a:prstDash val="solid"/>
                    </a:lnT>
                    <a:lnB w="6350" cmpd="sng">
                      <a:solidFill>
                        <a:srgbClr val="C8C0AE"/>
                      </a:solidFill>
                      <a:prstDash val="solid"/>
                    </a:lnB>
                  </a:tcPr>
                </a:tc>
                <a:tc>
                  <a:txBody>
                    <a:bodyPr/>
                    <a:lstStyle/>
                    <a:p>
                      <a:pPr marL="0" indent="0" algn="ctr">
                        <a:buNone/>
                      </a:pPr>
                      <a:r>
                        <a:rPr sz="2000">
                          <a:solidFill>
                            <a:srgbClr val="2B2B2B"/>
                          </a:solidFill>
                          <a:latin typeface="Calibri"/>
                          <a:ea typeface="Calibri"/>
                          <a:cs typeface="Calibri"/>
                        </a:rPr>
                        <a:t>0.1815</a:t>
                      </a:r>
                      <a:endParaRPr sz="2000">
                        <a:latin typeface="Calibri"/>
                        <a:ea typeface="Calibri"/>
                        <a:cs typeface="Calibri"/>
                      </a:endParaRPr>
                    </a:p>
                  </a:txBody>
                  <a:tcPr marL="91440" marR="91440" marT="45720" marB="45720" anchor="ctr">
                    <a:lnL w="6350" cmpd="sng">
                      <a:solidFill>
                        <a:srgbClr val="C8C0AE"/>
                      </a:solidFill>
                      <a:prstDash val="solid"/>
                    </a:lnL>
                    <a:lnR w="6350" cmpd="sng">
                      <a:solidFill>
                        <a:srgbClr val="C8C0AE"/>
                      </a:solidFill>
                      <a:prstDash val="solid"/>
                    </a:lnR>
                    <a:lnT w="6350" cmpd="sng">
                      <a:solidFill>
                        <a:srgbClr val="C8C0AE"/>
                      </a:solidFill>
                      <a:prstDash val="solid"/>
                    </a:lnT>
                    <a:lnB w="6350" cmpd="sng">
                      <a:solidFill>
                        <a:srgbClr val="C8C0AE"/>
                      </a:solidFill>
                      <a:prstDash val="solid"/>
                    </a:lnB>
                  </a:tcPr>
                </a:tc>
              </a:tr>
              <a:tr h="720090">
                <a:tc>
                  <a:txBody>
                    <a:bodyPr/>
                    <a:lstStyle/>
                    <a:p>
                      <a:pPr marL="0" indent="0" algn="ctr">
                        <a:buNone/>
                      </a:pPr>
                      <a:r>
                        <a:rPr sz="2000" b="1">
                          <a:solidFill>
                            <a:srgbClr val="2B2B2B"/>
                          </a:solidFill>
                          <a:latin typeface="Calibri"/>
                          <a:ea typeface="Calibri"/>
                          <a:cs typeface="Calibri"/>
                        </a:rPr>
                        <a:t>ViT5</a:t>
                      </a:r>
                      <a:endParaRPr sz="2000">
                        <a:latin typeface="Calibri"/>
                        <a:ea typeface="Calibri"/>
                        <a:cs typeface="Calibri"/>
                      </a:endParaRPr>
                    </a:p>
                  </a:txBody>
                  <a:tcPr marL="91440" marR="91440" marT="45720" marB="45720" anchor="ctr">
                    <a:lnL w="6350" cmpd="sng">
                      <a:solidFill>
                        <a:srgbClr val="C8C0AE"/>
                      </a:solidFill>
                      <a:prstDash val="solid"/>
                    </a:lnL>
                    <a:lnR w="6350" cmpd="sng">
                      <a:solidFill>
                        <a:srgbClr val="C8C0AE"/>
                      </a:solidFill>
                      <a:prstDash val="solid"/>
                    </a:lnR>
                    <a:lnT w="6350" cmpd="sng">
                      <a:solidFill>
                        <a:srgbClr val="C8C0AE"/>
                      </a:solidFill>
                      <a:prstDash val="solid"/>
                    </a:lnT>
                    <a:lnB w="6350" cmpd="sng">
                      <a:solidFill>
                        <a:srgbClr val="C8C0AE"/>
                      </a:solidFill>
                      <a:prstDash val="solid"/>
                    </a:lnB>
                    <a:solidFill>
                      <a:srgbClr val="F2E5D0"/>
                    </a:solidFill>
                  </a:tcPr>
                </a:tc>
                <a:tc>
                  <a:txBody>
                    <a:bodyPr/>
                    <a:lstStyle/>
                    <a:p>
                      <a:pPr marL="0" indent="0" algn="ctr">
                        <a:buNone/>
                      </a:pPr>
                      <a:r>
                        <a:rPr sz="2000" b="1">
                          <a:solidFill>
                            <a:srgbClr val="2B2B2B"/>
                          </a:solidFill>
                          <a:latin typeface="Calibri"/>
                          <a:ea typeface="Calibri"/>
                          <a:cs typeface="Calibri"/>
                        </a:rPr>
                        <a:t>0.2784</a:t>
                      </a:r>
                      <a:endParaRPr sz="2000">
                        <a:latin typeface="Calibri"/>
                        <a:ea typeface="Calibri"/>
                        <a:cs typeface="Calibri"/>
                      </a:endParaRPr>
                    </a:p>
                  </a:txBody>
                  <a:tcPr marL="91440" marR="91440" marT="45720" marB="45720" anchor="ctr">
                    <a:lnL w="6350" cmpd="sng">
                      <a:solidFill>
                        <a:srgbClr val="C8C0AE"/>
                      </a:solidFill>
                      <a:prstDash val="solid"/>
                    </a:lnL>
                    <a:lnR w="6350" cmpd="sng">
                      <a:solidFill>
                        <a:srgbClr val="C8C0AE"/>
                      </a:solidFill>
                      <a:prstDash val="solid"/>
                    </a:lnR>
                    <a:lnT w="6350" cmpd="sng">
                      <a:solidFill>
                        <a:srgbClr val="C8C0AE"/>
                      </a:solidFill>
                      <a:prstDash val="solid"/>
                    </a:lnT>
                    <a:lnB w="6350" cmpd="sng">
                      <a:solidFill>
                        <a:srgbClr val="C8C0AE"/>
                      </a:solidFill>
                      <a:prstDash val="solid"/>
                    </a:lnB>
                    <a:solidFill>
                      <a:srgbClr val="F2E5D0"/>
                    </a:solidFill>
                  </a:tcPr>
                </a:tc>
                <a:tc>
                  <a:txBody>
                    <a:bodyPr/>
                    <a:lstStyle/>
                    <a:p>
                      <a:pPr marL="0" indent="0" algn="ctr">
                        <a:buNone/>
                      </a:pPr>
                      <a:r>
                        <a:rPr sz="2000" b="1">
                          <a:solidFill>
                            <a:srgbClr val="2B2B2B"/>
                          </a:solidFill>
                          <a:latin typeface="Calibri"/>
                          <a:ea typeface="Calibri"/>
                          <a:cs typeface="Calibri"/>
                        </a:rPr>
                        <a:t>0.1474</a:t>
                      </a:r>
                      <a:endParaRPr sz="2000">
                        <a:latin typeface="Calibri"/>
                        <a:ea typeface="Calibri"/>
                        <a:cs typeface="Calibri"/>
                      </a:endParaRPr>
                    </a:p>
                  </a:txBody>
                  <a:tcPr marL="91440" marR="91440" marT="45720" marB="45720" anchor="ctr">
                    <a:lnL w="6350" cmpd="sng">
                      <a:solidFill>
                        <a:srgbClr val="C8C0AE"/>
                      </a:solidFill>
                      <a:prstDash val="solid"/>
                    </a:lnL>
                    <a:lnR w="6350" cmpd="sng">
                      <a:solidFill>
                        <a:srgbClr val="C8C0AE"/>
                      </a:solidFill>
                      <a:prstDash val="solid"/>
                    </a:lnR>
                    <a:lnT w="6350" cmpd="sng">
                      <a:solidFill>
                        <a:srgbClr val="C8C0AE"/>
                      </a:solidFill>
                      <a:prstDash val="solid"/>
                    </a:lnT>
                    <a:lnB w="6350" cmpd="sng">
                      <a:solidFill>
                        <a:srgbClr val="C8C0AE"/>
                      </a:solidFill>
                      <a:prstDash val="solid"/>
                    </a:lnB>
                    <a:solidFill>
                      <a:srgbClr val="F2E5D0"/>
                    </a:solidFill>
                  </a:tcPr>
                </a:tc>
                <a:tc>
                  <a:txBody>
                    <a:bodyPr/>
                    <a:lstStyle/>
                    <a:p>
                      <a:pPr marL="0" indent="0" algn="ctr">
                        <a:buNone/>
                      </a:pPr>
                      <a:r>
                        <a:rPr sz="2000" b="1">
                          <a:solidFill>
                            <a:srgbClr val="2B2B2B"/>
                          </a:solidFill>
                          <a:latin typeface="Calibri"/>
                          <a:ea typeface="Calibri"/>
                          <a:cs typeface="Calibri"/>
                        </a:rPr>
                        <a:t>0.2233</a:t>
                      </a:r>
                      <a:endParaRPr sz="2000">
                        <a:latin typeface="Calibri"/>
                        <a:ea typeface="Calibri"/>
                        <a:cs typeface="Calibri"/>
                      </a:endParaRPr>
                    </a:p>
                  </a:txBody>
                  <a:tcPr marL="91440" marR="91440" marT="45720" marB="45720" anchor="ctr">
                    <a:lnL w="6350" cmpd="sng">
                      <a:solidFill>
                        <a:srgbClr val="C8C0AE"/>
                      </a:solidFill>
                      <a:prstDash val="solid"/>
                    </a:lnL>
                    <a:lnR w="6350" cmpd="sng">
                      <a:solidFill>
                        <a:srgbClr val="C8C0AE"/>
                      </a:solidFill>
                      <a:prstDash val="solid"/>
                    </a:lnR>
                    <a:lnT w="6350" cmpd="sng">
                      <a:solidFill>
                        <a:srgbClr val="C8C0AE"/>
                      </a:solidFill>
                      <a:prstDash val="solid"/>
                    </a:lnT>
                    <a:lnB w="6350" cmpd="sng">
                      <a:solidFill>
                        <a:srgbClr val="C8C0AE"/>
                      </a:solidFill>
                      <a:prstDash val="solid"/>
                    </a:lnB>
                    <a:solidFill>
                      <a:srgbClr val="F2E5D0"/>
                    </a:solidFill>
                  </a:tcPr>
                </a:tc>
              </a:tr>
            </a:tbl>
          </a:graphicData>
        </a:graphic>
      </p:graphicFrame>
      <p:sp>
        <p:nvSpPr>
          <p:cNvPr id="6" name="Text 3">
            <a:extLst xmlns:a="http://schemas.openxmlformats.org/drawingml/2006/main">
              <a:ext uri="{FF2B5EF4-FFF2-40B4-BE49-F238E27FC236}">
                <a16:creationId xmlns:a16="http://schemas.microsoft.com/office/drawing/2014/main" id="{9A21782D-1428-44CA-9104-BC71BD781A83}"/>
              </a:ext>
            </a:extLst>
          </p:cNvPr>
          <p:cNvSpPr>
            <a:spLocks xmlns:a="http://schemas.openxmlformats.org/drawingml/2006/main" noGrp="1"/>
          </p:cNvSpPr>
          <p:nvPr/>
        </p:nvSpPr>
        <p:spPr>
          <a:xfrm xmlns:a="http://schemas.openxmlformats.org/drawingml/2006/main">
            <a:off x="502920" y="4434840"/>
            <a:ext cx="11155680"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a:solidFill>
                  <a:srgbClr val="2B2B2B"/>
                </a:solidFill>
                <a:latin typeface="Calibri"/>
                <a:ea typeface="Calibri"/>
                <a:cs typeface="Calibri"/>
              </a:rPr>
              <a:t>Trên 500 bài, TextRank thấp hơn Lead-3. Lấy một câu đầu đã đạt 0.2719. ViT5 chỉ hơn mức đó một ít. Số này do nhóm tính.</a:t>
            </a:r>
            <a:endParaRPr sz="1800"/>
          </a:p>
        </p:txBody>
      </p:sp>
      <p:sp>
        <p:nvSpPr>
          <p:cNvPr id="7" name="Text 4">
            <a:extLst xmlns:a="http://schemas.openxmlformats.org/drawingml/2006/main">
              <a:ext uri="{FF2B5EF4-FFF2-40B4-BE49-F238E27FC236}">
                <a16:creationId xmlns:a16="http://schemas.microsoft.com/office/drawing/2014/main" id="{D60B6C83-DF66-470F-AA9B-D75D313A8B61}"/>
              </a:ext>
            </a:extLst>
          </p:cNvPr>
          <p:cNvSpPr>
            <a:spLocks xmlns:a="http://schemas.openxmlformats.org/drawingml/2006/main" noGrp="1"/>
          </p:cNvSpPr>
          <p:nvPr/>
        </p:nvSpPr>
        <p:spPr>
          <a:xfrm xmlns:a="http://schemas.openxmlformats.org/drawingml/2006/main">
            <a:off x="502920" y="6492240"/>
            <a:ext cx="73152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B5AFA0"/>
                </a:solidFill>
                <a:latin typeface="Calibri"/>
                <a:ea typeface="Calibri"/>
                <a:cs typeface="Calibri"/>
              </a:rPr>
              <a:t>CS221 · UIT · Nhóm 14</a:t>
            </a:r>
            <a:endParaRPr sz="1100"/>
          </a:p>
        </p:txBody>
      </p:sp>
      <p:sp>
        <p:nvSpPr>
          <p:cNvPr id="8" name="Text 5">
            <a:extLst xmlns:a="http://schemas.openxmlformats.org/drawingml/2006/main">
              <a:ext uri="{FF2B5EF4-FFF2-40B4-BE49-F238E27FC236}">
                <a16:creationId xmlns:a16="http://schemas.microsoft.com/office/drawing/2014/main" id="{447F9202-095F-40C7-B60F-F3AD8A59D006}"/>
              </a:ext>
            </a:extLst>
          </p:cNvPr>
          <p:cNvSpPr>
            <a:spLocks xmlns:a="http://schemas.openxmlformats.org/drawingml/2006/main" noGrp="1"/>
          </p:cNvSpPr>
          <p:nvPr/>
        </p:nvSpPr>
        <p:spPr>
          <a:xfrm xmlns:a="http://schemas.openxmlformats.org/drawingml/2006/main">
            <a:off x="10424160" y="6492240"/>
            <a:ext cx="128016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100">
                <a:solidFill>
                  <a:srgbClr val="8A8578"/>
                </a:solidFill>
                <a:latin typeface="Calibri"/>
                <a:ea typeface="Calibri"/>
                <a:cs typeface="Calibri"/>
              </a:rPr>
              <a:t>13</a:t>
            </a:r>
            <a:endParaRPr sz="1100"/>
          </a:p>
        </p:txBody>
      </p:sp>
    </p:spTree>
    <p:extLst>
      <p:ext uri="{BB962C8B-B14F-4D97-AF65-F5344CB8AC3E}">
        <p14:creationId xmlns:p14="http://schemas.microsoft.com/office/powerpoint/2010/main" val="847493993"/>
      </p:ext>
    </p:extLst>
  </p:cSld>
</p:sld>
</file>

<file path=ppt/slides/slide14.xml><?xml version="1.0" encoding="utf-8"?>
<p:sld xmlns:p="http://schemas.openxmlformats.org/presentationml/2006/main">
  <p:cSld>
    <p:bg>
      <p:bgPr>
        <a:solidFill xmlns:a="http://schemas.openxmlformats.org/drawingml/2006/main">
          <a:srgbClr val="F0ECE0"/>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0B99B962-E9D4-4494-BB3C-D7A4443281B5}"/>
              </a:ext>
            </a:extLst>
          </p:cNvPr>
          <p:cNvSpPr>
            <a:spLocks xmlns:a="http://schemas.openxmlformats.org/drawingml/2006/main" noGrp="1"/>
          </p:cNvSpPr>
          <p:nvPr/>
        </p:nvSpPr>
        <p:spPr>
          <a:xfrm xmlns:a="http://schemas.openxmlformats.org/drawingml/2006/main">
            <a:off x="502920" y="256032"/>
            <a:ext cx="73152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spc="120">
                <a:solidFill>
                  <a:srgbClr val="8A8578"/>
                </a:solidFill>
                <a:latin typeface="Calibri"/>
                <a:ea typeface="Calibri"/>
                <a:cs typeface="Calibri"/>
              </a:rPr>
              <a:t>14   ĐỌC TAY</a:t>
            </a:r>
            <a:endParaRPr sz="1200"/>
          </a:p>
        </p:txBody>
      </p:sp>
      <p:sp>
        <p:nvSpPr>
          <p:cNvPr id="3" name="Text 1">
            <a:extLst xmlns:a="http://schemas.openxmlformats.org/drawingml/2006/main">
              <a:ext uri="{FF2B5EF4-FFF2-40B4-BE49-F238E27FC236}">
                <a16:creationId xmlns:a16="http://schemas.microsoft.com/office/drawing/2014/main" id="{B6549FD9-AD27-4B6A-8667-F841773D617F}"/>
              </a:ext>
            </a:extLst>
          </p:cNvPr>
          <p:cNvSpPr>
            <a:spLocks xmlns:a="http://schemas.openxmlformats.org/drawingml/2006/main" noGrp="1"/>
          </p:cNvSpPr>
          <p:nvPr/>
        </p:nvSpPr>
        <p:spPr>
          <a:xfrm xmlns:a="http://schemas.openxmlformats.org/drawingml/2006/main">
            <a:off x="6675120" y="256032"/>
            <a:ext cx="50292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300">
                <a:solidFill>
                  <a:srgbClr val="8A8578"/>
                </a:solidFill>
                <a:latin typeface="Calibri"/>
                <a:ea typeface="Calibri"/>
                <a:cs typeface="Calibri"/>
              </a:rPr>
              <a:t>Hai ví dụ</a:t>
            </a:r>
            <a:endParaRPr sz="1300"/>
          </a:p>
        </p:txBody>
      </p:sp>
      <p:sp>
        <p:nvSpPr>
          <p:cNvPr id="4" name="Text 2">
            <a:extLst xmlns:a="http://schemas.openxmlformats.org/drawingml/2006/main">
              <a:ext uri="{FF2B5EF4-FFF2-40B4-BE49-F238E27FC236}">
                <a16:creationId xmlns:a16="http://schemas.microsoft.com/office/drawing/2014/main" id="{A84CE998-E9F1-4194-BDE9-243487078C27}"/>
              </a:ext>
            </a:extLst>
          </p:cNvPr>
          <p:cNvSpPr>
            <a:spLocks xmlns:a="http://schemas.openxmlformats.org/drawingml/2006/main" noGrp="1"/>
          </p:cNvSpPr>
          <p:nvPr/>
        </p:nvSpPr>
        <p:spPr>
          <a:xfrm xmlns:a="http://schemas.openxmlformats.org/drawingml/2006/main">
            <a:off x="502920" y="585216"/>
            <a:ext cx="1115568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a:solidFill>
                  <a:srgbClr val="1A1A1A"/>
                </a:solidFill>
                <a:latin typeface="Georgia"/>
                <a:ea typeface="Georgia"/>
                <a:cs typeface="Georgia"/>
              </a:rPr>
              <a:t>Trùng nhiều chữ vẫn có thể sai việc</a:t>
            </a:r>
            <a:endParaRPr sz="2800"/>
          </a:p>
        </p:txBody>
      </p:sp>
      <p:sp>
        <p:nvSpPr>
          <p:cNvPr id="5" name="Shape 3">
            <a:extLst xmlns:a="http://schemas.openxmlformats.org/drawingml/2006/main">
              <a:ext uri="{FF2B5EF4-FFF2-40B4-BE49-F238E27FC236}">
                <a16:creationId xmlns:a16="http://schemas.microsoft.com/office/drawing/2014/main" id="{35BC1249-ADC5-49C9-B67E-040E0C8E5C2F}"/>
              </a:ext>
            </a:extLst>
          </p:cNvPr>
          <p:cNvSpPr>
            <a:spLocks xmlns:a="http://schemas.openxmlformats.org/drawingml/2006/main" noGrp="1"/>
          </p:cNvSpPr>
          <p:nvPr/>
        </p:nvSpPr>
        <p:spPr>
          <a:xfrm xmlns:a="http://schemas.openxmlformats.org/drawingml/2006/main">
            <a:off x="502920" y="1325880"/>
            <a:ext cx="5532120" cy="4709160"/>
          </a:xfrm>
          <a:prstGeom xmlns:a="http://schemas.openxmlformats.org/drawingml/2006/main" prst="rect">
            <a:avLst/>
          </a:prstGeom>
          <a:solidFill xmlns:a="http://schemas.openxmlformats.org/drawingml/2006/main">
            <a:srgbClr val="F7F3E8"/>
          </a:solidFill>
          <a:ln xmlns:a="http://schemas.openxmlformats.org/drawingml/2006/main" w="9525">
            <a:solidFill>
              <a:srgbClr val="C8C0AE"/>
            </a:solidFill>
            <a:prstDash val="solid"/>
          </a:ln>
        </p:spPr>
      </p:sp>
      <p:sp>
        <p:nvSpPr>
          <p:cNvPr id="6" name="Shape 4">
            <a:extLst xmlns:a="http://schemas.openxmlformats.org/drawingml/2006/main">
              <a:ext uri="{FF2B5EF4-FFF2-40B4-BE49-F238E27FC236}">
                <a16:creationId xmlns:a16="http://schemas.microsoft.com/office/drawing/2014/main" id="{E952575A-B313-48A4-A5DA-56D0A5D11648}"/>
              </a:ext>
            </a:extLst>
          </p:cNvPr>
          <p:cNvSpPr>
            <a:spLocks xmlns:a="http://schemas.openxmlformats.org/drawingml/2006/main" noGrp="1"/>
          </p:cNvSpPr>
          <p:nvPr/>
        </p:nvSpPr>
        <p:spPr>
          <a:xfrm xmlns:a="http://schemas.openxmlformats.org/drawingml/2006/main">
            <a:off x="6217920" y="1325880"/>
            <a:ext cx="5486400" cy="4709160"/>
          </a:xfrm>
          <a:prstGeom xmlns:a="http://schemas.openxmlformats.org/drawingml/2006/main" prst="rect">
            <a:avLst/>
          </a:prstGeom>
          <a:solidFill xmlns:a="http://schemas.openxmlformats.org/drawingml/2006/main">
            <a:srgbClr val="F2E5D0"/>
          </a:solidFill>
          <a:ln xmlns:a="http://schemas.openxmlformats.org/drawingml/2006/main" w="9525">
            <a:solidFill>
              <a:srgbClr val="C8C0AE"/>
            </a:solidFill>
            <a:prstDash val="solid"/>
          </a:ln>
        </p:spPr>
      </p:sp>
      <p:sp>
        <p:nvSpPr>
          <p:cNvPr id="7" name="Text 5">
            <a:extLst xmlns:a="http://schemas.openxmlformats.org/drawingml/2006/main">
              <a:ext uri="{FF2B5EF4-FFF2-40B4-BE49-F238E27FC236}">
                <a16:creationId xmlns:a16="http://schemas.microsoft.com/office/drawing/2014/main" id="{0D8EAC2F-FDF2-44AE-A4F2-18BABD958BB1}"/>
              </a:ext>
            </a:extLst>
          </p:cNvPr>
          <p:cNvSpPr>
            <a:spLocks xmlns:a="http://schemas.openxmlformats.org/drawingml/2006/main" noGrp="1"/>
          </p:cNvSpPr>
          <p:nvPr/>
        </p:nvSpPr>
        <p:spPr>
          <a:xfrm xmlns:a="http://schemas.openxmlformats.org/drawingml/2006/main">
            <a:off x="731520" y="1508760"/>
            <a:ext cx="51206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B8432A"/>
                </a:solidFill>
                <a:latin typeface="Calibri"/>
                <a:ea typeface="Calibri"/>
                <a:cs typeface="Calibri"/>
              </a:rPr>
              <a:t>000021  ·  sai tên</a:t>
            </a:r>
            <a:endParaRPr sz="1600"/>
          </a:p>
        </p:txBody>
      </p:sp>
      <p:sp>
        <p:nvSpPr>
          <p:cNvPr id="8" name="Text 6">
            <a:extLst xmlns:a="http://schemas.openxmlformats.org/drawingml/2006/main">
              <a:ext uri="{FF2B5EF4-FFF2-40B4-BE49-F238E27FC236}">
                <a16:creationId xmlns:a16="http://schemas.microsoft.com/office/drawing/2014/main" id="{8157ABC5-2369-4867-BEE8-FAE20F991034}"/>
              </a:ext>
            </a:extLst>
          </p:cNvPr>
          <p:cNvSpPr>
            <a:spLocks xmlns:a="http://schemas.openxmlformats.org/drawingml/2006/main" noGrp="1"/>
          </p:cNvSpPr>
          <p:nvPr/>
        </p:nvSpPr>
        <p:spPr>
          <a:xfrm xmlns:a="http://schemas.openxmlformats.org/drawingml/2006/main">
            <a:off x="731520" y="2011680"/>
            <a:ext cx="5074920" cy="3566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a:solidFill>
                  <a:srgbClr val="2B2B2B"/>
                </a:solidFill>
                <a:latin typeface="Calibri"/>
                <a:ea typeface="Calibri"/>
                <a:cs typeface="Calibri"/>
              </a:rPr>
              <a:t>Trong bài, Nguyễn Văn Được dùng dây dù siết cổ bạn gái.</a:t>
            </a:r>
            <a:endParaRPr sz="1800"/>
          </a:p>
          <a:p xmlns:a="http://schemas.openxmlformats.org/drawingml/2006/main">
            <a:pPr marL="0" indent="0">
              <a:buNone/>
            </a:pPr>
            <a:endParaRPr sz="1800"/>
          </a:p>
          <a:p xmlns:a="http://schemas.openxmlformats.org/drawingml/2006/main">
            <a:pPr marL="0" indent="0">
              <a:buNone/>
            </a:pPr>
            <a:r>
              <a:rPr sz="1800">
                <a:solidFill>
                  <a:srgbClr val="2B2B2B"/>
                </a:solidFill>
                <a:latin typeface="Calibri"/>
                <a:ea typeface="Calibri"/>
                <a:cs typeface="Calibri"/>
              </a:rPr>
              <a:t>ViT5 viết: Nguyễn "Văn" được cho là đã dùng dây dù.</a:t>
            </a:r>
            <a:endParaRPr sz="1800"/>
          </a:p>
          <a:p xmlns:a="http://schemas.openxmlformats.org/drawingml/2006/main">
            <a:pPr marL="0" indent="0">
              <a:buNone/>
            </a:pPr>
            <a:endParaRPr sz="1800"/>
          </a:p>
          <a:p xmlns:a="http://schemas.openxmlformats.org/drawingml/2006/main">
            <a:pPr marL="0" indent="0">
              <a:buNone/>
            </a:pPr>
            <a:r>
              <a:rPr sz="1800">
                <a:solidFill>
                  <a:srgbClr val="2B2B2B"/>
                </a:solidFill>
                <a:latin typeface="Calibri"/>
                <a:ea typeface="Calibri"/>
                <a:cs typeface="Calibri"/>
              </a:rPr>
              <a:t>Bài này vẫn đạt ROUGE-1 bằng 0.5161 trên bảng 100 bài.</a:t>
            </a:r>
            <a:endParaRPr sz="1800"/>
          </a:p>
        </p:txBody>
      </p:sp>
      <p:sp>
        <p:nvSpPr>
          <p:cNvPr id="9" name="Text 7">
            <a:extLst xmlns:a="http://schemas.openxmlformats.org/drawingml/2006/main">
              <a:ext uri="{FF2B5EF4-FFF2-40B4-BE49-F238E27FC236}">
                <a16:creationId xmlns:a16="http://schemas.microsoft.com/office/drawing/2014/main" id="{2325A5F6-A49A-414A-B2BB-52959BB18E8D}"/>
              </a:ext>
            </a:extLst>
          </p:cNvPr>
          <p:cNvSpPr>
            <a:spLocks xmlns:a="http://schemas.openxmlformats.org/drawingml/2006/main" noGrp="1"/>
          </p:cNvSpPr>
          <p:nvPr/>
        </p:nvSpPr>
        <p:spPr>
          <a:xfrm xmlns:a="http://schemas.openxmlformats.org/drawingml/2006/main">
            <a:off x="6446520" y="1508760"/>
            <a:ext cx="50292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B8432A"/>
                </a:solidFill>
                <a:latin typeface="Calibri"/>
                <a:ea typeface="Calibri"/>
                <a:cs typeface="Calibri"/>
              </a:rPr>
              <a:t>000011  ·  sai đồ vật</a:t>
            </a:r>
            <a:endParaRPr sz="1600"/>
          </a:p>
        </p:txBody>
      </p:sp>
      <p:sp>
        <p:nvSpPr>
          <p:cNvPr id="10" name="Text 8">
            <a:extLst xmlns:a="http://schemas.openxmlformats.org/drawingml/2006/main">
              <a:ext uri="{FF2B5EF4-FFF2-40B4-BE49-F238E27FC236}">
                <a16:creationId xmlns:a16="http://schemas.microsoft.com/office/drawing/2014/main" id="{1AFFB756-4EB8-486C-8A35-DE7A2FEC2D26}"/>
              </a:ext>
            </a:extLst>
          </p:cNvPr>
          <p:cNvSpPr>
            <a:spLocks xmlns:a="http://schemas.openxmlformats.org/drawingml/2006/main" noGrp="1"/>
          </p:cNvSpPr>
          <p:nvPr/>
        </p:nvSpPr>
        <p:spPr>
          <a:xfrm xmlns:a="http://schemas.openxmlformats.org/drawingml/2006/main">
            <a:off x="6446520" y="2011680"/>
            <a:ext cx="5029200" cy="3566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a:solidFill>
                  <a:srgbClr val="2B2B2B"/>
                </a:solidFill>
                <a:latin typeface="Calibri"/>
                <a:ea typeface="Calibri"/>
                <a:cs typeface="Calibri"/>
              </a:rPr>
              <a:t>Thân bài: Nguyễn Văn Tú thuê xe chở máy ủi đem bán.</a:t>
            </a:r>
            <a:endParaRPr sz="1800"/>
          </a:p>
          <a:p xmlns:a="http://schemas.openxmlformats.org/drawingml/2006/main">
            <a:pPr marL="0" indent="0">
              <a:buNone/>
            </a:pPr>
            <a:endParaRPr sz="1800"/>
          </a:p>
          <a:p xmlns:a="http://schemas.openxmlformats.org/drawingml/2006/main">
            <a:pPr marL="0" indent="0">
              <a:buNone/>
            </a:pPr>
            <a:r>
              <a:rPr sz="1800">
                <a:solidFill>
                  <a:srgbClr val="2B2B2B"/>
                </a:solidFill>
                <a:latin typeface="Calibri"/>
                <a:ea typeface="Calibri"/>
                <a:cs typeface="Calibri"/>
              </a:rPr>
              <a:t>ViT5: trộm được xe bồn.</a:t>
            </a:r>
            <a:endParaRPr sz="1800"/>
          </a:p>
          <a:p xmlns:a="http://schemas.openxmlformats.org/drawingml/2006/main">
            <a:pPr marL="0" indent="0">
              <a:buNone/>
            </a:pPr>
            <a:endParaRPr sz="1800"/>
          </a:p>
          <a:p xmlns:a="http://schemas.openxmlformats.org/drawingml/2006/main">
            <a:pPr marL="0" indent="0">
              <a:buNone/>
            </a:pPr>
            <a:r>
              <a:rPr sz="1800">
                <a:solidFill>
                  <a:srgbClr val="2B2B2B"/>
                </a:solidFill>
                <a:latin typeface="Calibri"/>
                <a:ea typeface="Calibri"/>
                <a:cs typeface="Calibri"/>
              </a:rPr>
              <a:t>Xe bồn không có trong thân bài.</a:t>
            </a:r>
            <a:endParaRPr sz="1800"/>
          </a:p>
        </p:txBody>
      </p:sp>
      <p:sp>
        <p:nvSpPr>
          <p:cNvPr id="11" name="Text 9">
            <a:extLst xmlns:a="http://schemas.openxmlformats.org/drawingml/2006/main">
              <a:ext uri="{FF2B5EF4-FFF2-40B4-BE49-F238E27FC236}">
                <a16:creationId xmlns:a16="http://schemas.microsoft.com/office/drawing/2014/main" id="{0AF459C6-6B8C-44DD-83B4-EA84FB593B42}"/>
              </a:ext>
            </a:extLst>
          </p:cNvPr>
          <p:cNvSpPr>
            <a:spLocks xmlns:a="http://schemas.openxmlformats.org/drawingml/2006/main" noGrp="1"/>
          </p:cNvSpPr>
          <p:nvPr/>
        </p:nvSpPr>
        <p:spPr>
          <a:xfrm xmlns:a="http://schemas.openxmlformats.org/drawingml/2006/main">
            <a:off x="502920" y="6492240"/>
            <a:ext cx="73152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B5AFA0"/>
                </a:solidFill>
                <a:latin typeface="Calibri"/>
                <a:ea typeface="Calibri"/>
                <a:cs typeface="Calibri"/>
              </a:rPr>
              <a:t>CS221 · UIT · Nhóm 14</a:t>
            </a:r>
            <a:endParaRPr sz="1100"/>
          </a:p>
        </p:txBody>
      </p:sp>
      <p:sp>
        <p:nvSpPr>
          <p:cNvPr id="12" name="Text 10">
            <a:extLst xmlns:a="http://schemas.openxmlformats.org/drawingml/2006/main">
              <a:ext uri="{FF2B5EF4-FFF2-40B4-BE49-F238E27FC236}">
                <a16:creationId xmlns:a16="http://schemas.microsoft.com/office/drawing/2014/main" id="{7386D1A6-46A4-4C91-AD83-2828E3C539D6}"/>
              </a:ext>
            </a:extLst>
          </p:cNvPr>
          <p:cNvSpPr>
            <a:spLocks xmlns:a="http://schemas.openxmlformats.org/drawingml/2006/main" noGrp="1"/>
          </p:cNvSpPr>
          <p:nvPr/>
        </p:nvSpPr>
        <p:spPr>
          <a:xfrm xmlns:a="http://schemas.openxmlformats.org/drawingml/2006/main">
            <a:off x="10424160" y="6492240"/>
            <a:ext cx="128016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100">
                <a:solidFill>
                  <a:srgbClr val="8A8578"/>
                </a:solidFill>
                <a:latin typeface="Calibri"/>
                <a:ea typeface="Calibri"/>
                <a:cs typeface="Calibri"/>
              </a:rPr>
              <a:t>14</a:t>
            </a:r>
            <a:endParaRPr sz="1100"/>
          </a:p>
        </p:txBody>
      </p:sp>
    </p:spTree>
    <p:extLst>
      <p:ext uri="{BB962C8B-B14F-4D97-AF65-F5344CB8AC3E}">
        <p14:creationId xmlns:p14="http://schemas.microsoft.com/office/powerpoint/2010/main" val="676162297"/>
      </p:ext>
    </p:extLst>
  </p:cSld>
</p:sld>
</file>

<file path=ppt/slides/slide15.xml><?xml version="1.0" encoding="utf-8"?>
<p:sld xmlns:p="http://schemas.openxmlformats.org/presentationml/2006/main">
  <p:cSld>
    <p:bg>
      <p:bgPr>
        <a:solidFill xmlns:a="http://schemas.openxmlformats.org/drawingml/2006/main">
          <a:srgbClr val="F0ECE0"/>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6265D6C-4ED4-422B-BFE7-B70A2A82412E}"/>
              </a:ext>
            </a:extLst>
          </p:cNvPr>
          <p:cNvSpPr>
            <a:spLocks xmlns:a="http://schemas.openxmlformats.org/drawingml/2006/main" noGrp="1"/>
          </p:cNvSpPr>
          <p:nvPr/>
        </p:nvSpPr>
        <p:spPr>
          <a:xfrm xmlns:a="http://schemas.openxmlformats.org/drawingml/2006/main">
            <a:off x="502920" y="256032"/>
            <a:ext cx="73152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spc="120">
                <a:solidFill>
                  <a:srgbClr val="8A8578"/>
                </a:solidFill>
                <a:latin typeface="Calibri"/>
                <a:ea typeface="Calibri"/>
                <a:cs typeface="Calibri"/>
              </a:rPr>
              <a:t>15   DEMO</a:t>
            </a:r>
            <a:endParaRPr sz="1200"/>
          </a:p>
        </p:txBody>
      </p:sp>
      <p:sp>
        <p:nvSpPr>
          <p:cNvPr id="3" name="Text 1">
            <a:extLst xmlns:a="http://schemas.openxmlformats.org/drawingml/2006/main">
              <a:ext uri="{FF2B5EF4-FFF2-40B4-BE49-F238E27FC236}">
                <a16:creationId xmlns:a16="http://schemas.microsoft.com/office/drawing/2014/main" id="{F00C74B3-8044-4E4C-8004-6F32C5423FAD}"/>
              </a:ext>
            </a:extLst>
          </p:cNvPr>
          <p:cNvSpPr>
            <a:spLocks xmlns:a="http://schemas.openxmlformats.org/drawingml/2006/main" noGrp="1"/>
          </p:cNvSpPr>
          <p:nvPr/>
        </p:nvSpPr>
        <p:spPr>
          <a:xfrm xmlns:a="http://schemas.openxmlformats.org/drawingml/2006/main">
            <a:off x="6675120" y="256032"/>
            <a:ext cx="50292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300">
                <a:solidFill>
                  <a:srgbClr val="8A8578"/>
                </a:solidFill>
                <a:latin typeface="Calibri"/>
                <a:ea typeface="Calibri"/>
                <a:cs typeface="Calibri"/>
              </a:rPr>
              <a:t>Cùng một bài</a:t>
            </a:r>
            <a:endParaRPr sz="1300"/>
          </a:p>
        </p:txBody>
      </p:sp>
      <p:sp>
        <p:nvSpPr>
          <p:cNvPr id="4" name="Text 2">
            <a:extLst xmlns:a="http://schemas.openxmlformats.org/drawingml/2006/main">
              <a:ext uri="{FF2B5EF4-FFF2-40B4-BE49-F238E27FC236}">
                <a16:creationId xmlns:a16="http://schemas.microsoft.com/office/drawing/2014/main" id="{D2E8B5D5-243C-4CF0-B6A4-038E7F949B6A}"/>
              </a:ext>
            </a:extLst>
          </p:cNvPr>
          <p:cNvSpPr>
            <a:spLocks xmlns:a="http://schemas.openxmlformats.org/drawingml/2006/main" noGrp="1"/>
          </p:cNvSpPr>
          <p:nvPr/>
        </p:nvSpPr>
        <p:spPr>
          <a:xfrm xmlns:a="http://schemas.openxmlformats.org/drawingml/2006/main">
            <a:off x="502920" y="585216"/>
            <a:ext cx="1115568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a:solidFill>
                  <a:srgbClr val="1A1A1A"/>
                </a:solidFill>
                <a:latin typeface="Georgia"/>
                <a:ea typeface="Georgia"/>
                <a:cs typeface="Georgia"/>
              </a:rPr>
              <a:t>Ba cột trên cùng một bài</a:t>
            </a:r>
            <a:endParaRPr sz="2800"/>
          </a:p>
        </p:txBody>
      </p:sp>
      <p:sp>
        <p:nvSpPr>
          <p:cNvPr id="5" name="Shape 3">
            <a:extLst xmlns:a="http://schemas.openxmlformats.org/drawingml/2006/main">
              <a:ext uri="{FF2B5EF4-FFF2-40B4-BE49-F238E27FC236}">
                <a16:creationId xmlns:a16="http://schemas.microsoft.com/office/drawing/2014/main" id="{069D732B-BEE8-435F-953C-3ADB8C979EC4}"/>
              </a:ext>
            </a:extLst>
          </p:cNvPr>
          <p:cNvSpPr>
            <a:spLocks xmlns:a="http://schemas.openxmlformats.org/drawingml/2006/main" noGrp="1"/>
          </p:cNvSpPr>
          <p:nvPr/>
        </p:nvSpPr>
        <p:spPr>
          <a:xfrm xmlns:a="http://schemas.openxmlformats.org/drawingml/2006/main">
            <a:off x="502920" y="1554480"/>
            <a:ext cx="3611880" cy="4297680"/>
          </a:xfrm>
          <a:prstGeom xmlns:a="http://schemas.openxmlformats.org/drawingml/2006/main" prst="rect">
            <a:avLst/>
          </a:prstGeom>
          <a:solidFill xmlns:a="http://schemas.openxmlformats.org/drawingml/2006/main">
            <a:srgbClr val="F7F3E8"/>
          </a:solidFill>
          <a:ln xmlns:a="http://schemas.openxmlformats.org/drawingml/2006/main" w="9525">
            <a:solidFill>
              <a:srgbClr val="C8C0AE"/>
            </a:solidFill>
            <a:prstDash val="solid"/>
          </a:ln>
        </p:spPr>
      </p:sp>
      <p:sp>
        <p:nvSpPr>
          <p:cNvPr id="6" name="Text 4">
            <a:extLst xmlns:a="http://schemas.openxmlformats.org/drawingml/2006/main">
              <a:ext uri="{FF2B5EF4-FFF2-40B4-BE49-F238E27FC236}">
                <a16:creationId xmlns:a16="http://schemas.microsoft.com/office/drawing/2014/main" id="{402EEE15-907B-4107-8B46-9BBC9F0EBAEE}"/>
              </a:ext>
            </a:extLst>
          </p:cNvPr>
          <p:cNvSpPr>
            <a:spLocks xmlns:a="http://schemas.openxmlformats.org/drawingml/2006/main" noGrp="1"/>
          </p:cNvSpPr>
          <p:nvPr/>
        </p:nvSpPr>
        <p:spPr>
          <a:xfrm xmlns:a="http://schemas.openxmlformats.org/drawingml/2006/main">
            <a:off x="777240" y="1874520"/>
            <a:ext cx="30632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a:solidFill>
                  <a:srgbClr val="1A1A1A"/>
                </a:solidFill>
                <a:latin typeface="Georgia"/>
                <a:ea typeface="Georgia"/>
                <a:cs typeface="Georgia"/>
              </a:rPr>
              <a:t>Lead-3</a:t>
            </a:r>
            <a:endParaRPr sz="2800"/>
          </a:p>
        </p:txBody>
      </p:sp>
      <p:sp>
        <p:nvSpPr>
          <p:cNvPr id="7" name="Text 5">
            <a:extLst xmlns:a="http://schemas.openxmlformats.org/drawingml/2006/main">
              <a:ext uri="{FF2B5EF4-FFF2-40B4-BE49-F238E27FC236}">
                <a16:creationId xmlns:a16="http://schemas.microsoft.com/office/drawing/2014/main" id="{2DC3D514-D14A-451B-ABD4-66EEEDDF0B3E}"/>
              </a:ext>
            </a:extLst>
          </p:cNvPr>
          <p:cNvSpPr>
            <a:spLocks xmlns:a="http://schemas.openxmlformats.org/drawingml/2006/main" noGrp="1"/>
          </p:cNvSpPr>
          <p:nvPr/>
        </p:nvSpPr>
        <p:spPr>
          <a:xfrm xmlns:a="http://schemas.openxmlformats.org/drawingml/2006/main">
            <a:off x="777240" y="2743200"/>
            <a:ext cx="3063240" cy="23774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a:solidFill>
                  <a:srgbClr val="2B2B2B"/>
                </a:solidFill>
                <a:latin typeface="Calibri"/>
                <a:ea typeface="Calibri"/>
                <a:cs typeface="Calibri"/>
              </a:rPr>
              <a:t>Ba câu đầu của thân bài.</a:t>
            </a:r>
            <a:endParaRPr sz="2000"/>
          </a:p>
        </p:txBody>
      </p:sp>
      <p:sp>
        <p:nvSpPr>
          <p:cNvPr id="8" name="Shape 6">
            <a:extLst xmlns:a="http://schemas.openxmlformats.org/drawingml/2006/main">
              <a:ext uri="{FF2B5EF4-FFF2-40B4-BE49-F238E27FC236}">
                <a16:creationId xmlns:a16="http://schemas.microsoft.com/office/drawing/2014/main" id="{63933B56-2E69-4A1F-B35B-66D113E3DD6F}"/>
              </a:ext>
            </a:extLst>
          </p:cNvPr>
          <p:cNvSpPr>
            <a:spLocks xmlns:a="http://schemas.openxmlformats.org/drawingml/2006/main" noGrp="1"/>
          </p:cNvSpPr>
          <p:nvPr/>
        </p:nvSpPr>
        <p:spPr>
          <a:xfrm xmlns:a="http://schemas.openxmlformats.org/drawingml/2006/main">
            <a:off x="4343400" y="1554480"/>
            <a:ext cx="3611880" cy="4297680"/>
          </a:xfrm>
          <a:prstGeom xmlns:a="http://schemas.openxmlformats.org/drawingml/2006/main" prst="rect">
            <a:avLst/>
          </a:prstGeom>
          <a:solidFill xmlns:a="http://schemas.openxmlformats.org/drawingml/2006/main">
            <a:srgbClr val="F7F3E8"/>
          </a:solidFill>
          <a:ln xmlns:a="http://schemas.openxmlformats.org/drawingml/2006/main" w="9525">
            <a:solidFill>
              <a:srgbClr val="C8C0AE"/>
            </a:solidFill>
            <a:prstDash val="solid"/>
          </a:ln>
        </p:spPr>
      </p:sp>
      <p:sp>
        <p:nvSpPr>
          <p:cNvPr id="9" name="Text 7">
            <a:extLst xmlns:a="http://schemas.openxmlformats.org/drawingml/2006/main">
              <a:ext uri="{FF2B5EF4-FFF2-40B4-BE49-F238E27FC236}">
                <a16:creationId xmlns:a16="http://schemas.microsoft.com/office/drawing/2014/main" id="{C1FBDD0C-1650-4F18-B176-B1FD55454E08}"/>
              </a:ext>
            </a:extLst>
          </p:cNvPr>
          <p:cNvSpPr>
            <a:spLocks xmlns:a="http://schemas.openxmlformats.org/drawingml/2006/main" noGrp="1"/>
          </p:cNvSpPr>
          <p:nvPr/>
        </p:nvSpPr>
        <p:spPr>
          <a:xfrm xmlns:a="http://schemas.openxmlformats.org/drawingml/2006/main">
            <a:off x="4617720" y="1874520"/>
            <a:ext cx="30632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a:solidFill>
                  <a:srgbClr val="1A1A1A"/>
                </a:solidFill>
                <a:latin typeface="Georgia"/>
                <a:ea typeface="Georgia"/>
                <a:cs typeface="Georgia"/>
              </a:rPr>
              <a:t>TextRank</a:t>
            </a:r>
            <a:endParaRPr sz="2800"/>
          </a:p>
        </p:txBody>
      </p:sp>
      <p:sp>
        <p:nvSpPr>
          <p:cNvPr id="10" name="Text 8">
            <a:extLst xmlns:a="http://schemas.openxmlformats.org/drawingml/2006/main">
              <a:ext uri="{FF2B5EF4-FFF2-40B4-BE49-F238E27FC236}">
                <a16:creationId xmlns:a16="http://schemas.microsoft.com/office/drawing/2014/main" id="{7A26CFDB-C2D4-4A2A-A7D4-70544F58FAF5}"/>
              </a:ext>
            </a:extLst>
          </p:cNvPr>
          <p:cNvSpPr>
            <a:spLocks xmlns:a="http://schemas.openxmlformats.org/drawingml/2006/main" noGrp="1"/>
          </p:cNvSpPr>
          <p:nvPr/>
        </p:nvSpPr>
        <p:spPr>
          <a:xfrm xmlns:a="http://schemas.openxmlformats.org/drawingml/2006/main">
            <a:off x="4617720" y="2743200"/>
            <a:ext cx="3063240" cy="23774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a:solidFill>
                  <a:srgbClr val="2B2B2B"/>
                </a:solidFill>
                <a:latin typeface="Calibri"/>
                <a:ea typeface="Calibri"/>
                <a:cs typeface="Calibri"/>
              </a:rPr>
              <a:t>Ba câu được chọn trong thân bài.</a:t>
            </a:r>
            <a:endParaRPr sz="2000"/>
          </a:p>
        </p:txBody>
      </p:sp>
      <p:sp>
        <p:nvSpPr>
          <p:cNvPr id="11" name="Shape 9">
            <a:extLst xmlns:a="http://schemas.openxmlformats.org/drawingml/2006/main">
              <a:ext uri="{FF2B5EF4-FFF2-40B4-BE49-F238E27FC236}">
                <a16:creationId xmlns:a16="http://schemas.microsoft.com/office/drawing/2014/main" id="{63CC8BC1-5534-4BD6-9D5E-AF43FCCD5BFF}"/>
              </a:ext>
            </a:extLst>
          </p:cNvPr>
          <p:cNvSpPr>
            <a:spLocks xmlns:a="http://schemas.openxmlformats.org/drawingml/2006/main" noGrp="1"/>
          </p:cNvSpPr>
          <p:nvPr/>
        </p:nvSpPr>
        <p:spPr>
          <a:xfrm xmlns:a="http://schemas.openxmlformats.org/drawingml/2006/main">
            <a:off x="8183880" y="1554480"/>
            <a:ext cx="3611880" cy="4297680"/>
          </a:xfrm>
          <a:prstGeom xmlns:a="http://schemas.openxmlformats.org/drawingml/2006/main" prst="rect">
            <a:avLst/>
          </a:prstGeom>
          <a:solidFill xmlns:a="http://schemas.openxmlformats.org/drawingml/2006/main">
            <a:srgbClr val="F2E5D0"/>
          </a:solidFill>
          <a:ln xmlns:a="http://schemas.openxmlformats.org/drawingml/2006/main" w="9525">
            <a:solidFill>
              <a:srgbClr val="C8C0AE"/>
            </a:solidFill>
            <a:prstDash val="solid"/>
          </a:ln>
        </p:spPr>
      </p:sp>
      <p:sp>
        <p:nvSpPr>
          <p:cNvPr id="12" name="Text 10">
            <a:extLst xmlns:a="http://schemas.openxmlformats.org/drawingml/2006/main">
              <a:ext uri="{FF2B5EF4-FFF2-40B4-BE49-F238E27FC236}">
                <a16:creationId xmlns:a16="http://schemas.microsoft.com/office/drawing/2014/main" id="{648BA19D-E963-4149-8ECB-5A264876E680}"/>
              </a:ext>
            </a:extLst>
          </p:cNvPr>
          <p:cNvSpPr>
            <a:spLocks xmlns:a="http://schemas.openxmlformats.org/drawingml/2006/main" noGrp="1"/>
          </p:cNvSpPr>
          <p:nvPr/>
        </p:nvSpPr>
        <p:spPr>
          <a:xfrm xmlns:a="http://schemas.openxmlformats.org/drawingml/2006/main">
            <a:off x="8458200" y="1874520"/>
            <a:ext cx="30632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a:solidFill>
                  <a:srgbClr val="1A1A1A"/>
                </a:solidFill>
                <a:latin typeface="Georgia"/>
                <a:ea typeface="Georgia"/>
                <a:cs typeface="Georgia"/>
              </a:rPr>
              <a:t>ViT5</a:t>
            </a:r>
            <a:endParaRPr sz="2800"/>
          </a:p>
        </p:txBody>
      </p:sp>
      <p:sp>
        <p:nvSpPr>
          <p:cNvPr id="13" name="Text 11">
            <a:extLst xmlns:a="http://schemas.openxmlformats.org/drawingml/2006/main">
              <a:ext uri="{FF2B5EF4-FFF2-40B4-BE49-F238E27FC236}">
                <a16:creationId xmlns:a16="http://schemas.microsoft.com/office/drawing/2014/main" id="{8C392CB5-42FD-477C-A263-43F198B6BAFB}"/>
              </a:ext>
            </a:extLst>
          </p:cNvPr>
          <p:cNvSpPr>
            <a:spLocks xmlns:a="http://schemas.openxmlformats.org/drawingml/2006/main" noGrp="1"/>
          </p:cNvSpPr>
          <p:nvPr/>
        </p:nvSpPr>
        <p:spPr>
          <a:xfrm xmlns:a="http://schemas.openxmlformats.org/drawingml/2006/main">
            <a:off x="8458200" y="2743200"/>
            <a:ext cx="3063240" cy="23774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a:solidFill>
                  <a:srgbClr val="2B2B2B"/>
                </a:solidFill>
                <a:latin typeface="Calibri"/>
                <a:ea typeface="Calibri"/>
                <a:cs typeface="Calibri"/>
              </a:rPr>
              <a:t>Câu viết mới, lấy từ kết quả đã lưu.</a:t>
            </a:r>
            <a:endParaRPr sz="2000"/>
          </a:p>
        </p:txBody>
      </p:sp>
      <p:sp>
        <p:nvSpPr>
          <p:cNvPr id="14" name="Text 12">
            <a:extLst xmlns:a="http://schemas.openxmlformats.org/drawingml/2006/main">
              <a:ext uri="{FF2B5EF4-FFF2-40B4-BE49-F238E27FC236}">
                <a16:creationId xmlns:a16="http://schemas.microsoft.com/office/drawing/2014/main" id="{B8B9B4FF-C826-4812-8C81-C690AD52B82C}"/>
              </a:ext>
            </a:extLst>
          </p:cNvPr>
          <p:cNvSpPr>
            <a:spLocks xmlns:a="http://schemas.openxmlformats.org/drawingml/2006/main" noGrp="1"/>
          </p:cNvSpPr>
          <p:nvPr/>
        </p:nvSpPr>
        <p:spPr>
          <a:xfrm xmlns:a="http://schemas.openxmlformats.org/drawingml/2006/main">
            <a:off x="502920" y="6492240"/>
            <a:ext cx="73152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B5AFA0"/>
                </a:solidFill>
                <a:latin typeface="Calibri"/>
                <a:ea typeface="Calibri"/>
                <a:cs typeface="Calibri"/>
              </a:rPr>
              <a:t>CS221 · UIT · Nhóm 14</a:t>
            </a:r>
            <a:endParaRPr sz="1100"/>
          </a:p>
        </p:txBody>
      </p:sp>
      <p:sp>
        <p:nvSpPr>
          <p:cNvPr id="15" name="Text 13">
            <a:extLst xmlns:a="http://schemas.openxmlformats.org/drawingml/2006/main">
              <a:ext uri="{FF2B5EF4-FFF2-40B4-BE49-F238E27FC236}">
                <a16:creationId xmlns:a16="http://schemas.microsoft.com/office/drawing/2014/main" id="{10A2E2BA-EA22-4CCC-8AAD-1E0C57EDE304}"/>
              </a:ext>
            </a:extLst>
          </p:cNvPr>
          <p:cNvSpPr>
            <a:spLocks xmlns:a="http://schemas.openxmlformats.org/drawingml/2006/main" noGrp="1"/>
          </p:cNvSpPr>
          <p:nvPr/>
        </p:nvSpPr>
        <p:spPr>
          <a:xfrm xmlns:a="http://schemas.openxmlformats.org/drawingml/2006/main">
            <a:off x="10424160" y="6492240"/>
            <a:ext cx="128016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100">
                <a:solidFill>
                  <a:srgbClr val="8A8578"/>
                </a:solidFill>
                <a:latin typeface="Calibri"/>
                <a:ea typeface="Calibri"/>
                <a:cs typeface="Calibri"/>
              </a:rPr>
              <a:t>15</a:t>
            </a:r>
            <a:endParaRPr sz="1100"/>
          </a:p>
        </p:txBody>
      </p:sp>
    </p:spTree>
    <p:extLst>
      <p:ext uri="{BB962C8B-B14F-4D97-AF65-F5344CB8AC3E}">
        <p14:creationId xmlns:p14="http://schemas.microsoft.com/office/powerpoint/2010/main" val="554140023"/>
      </p:ext>
    </p:extLst>
  </p:cSld>
</p:sld>
</file>

<file path=ppt/slides/slide16.xml><?xml version="1.0" encoding="utf-8"?>
<p:sld xmlns:p="http://schemas.openxmlformats.org/presentationml/2006/main">
  <p:cSld>
    <p:bg>
      <p:bgPr>
        <a:solidFill xmlns:a="http://schemas.openxmlformats.org/drawingml/2006/main">
          <a:srgbClr val="F0ECE0"/>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78ECC1B-4708-40E3-8B45-33DDC22224F8}"/>
              </a:ext>
            </a:extLst>
          </p:cNvPr>
          <p:cNvSpPr>
            <a:spLocks xmlns:a="http://schemas.openxmlformats.org/drawingml/2006/main" noGrp="1"/>
          </p:cNvSpPr>
          <p:nvPr/>
        </p:nvSpPr>
        <p:spPr>
          <a:xfrm xmlns:a="http://schemas.openxmlformats.org/drawingml/2006/main">
            <a:off x="502920" y="256032"/>
            <a:ext cx="73152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spc="120">
                <a:solidFill>
                  <a:srgbClr val="8A8578"/>
                </a:solidFill>
                <a:latin typeface="Calibri"/>
                <a:ea typeface="Calibri"/>
                <a:cs typeface="Calibri"/>
              </a:rPr>
              <a:t>16   KẾT LUẬN</a:t>
            </a:r>
            <a:endParaRPr sz="1200"/>
          </a:p>
        </p:txBody>
      </p:sp>
      <p:sp>
        <p:nvSpPr>
          <p:cNvPr id="3" name="Text 1">
            <a:extLst xmlns:a="http://schemas.openxmlformats.org/drawingml/2006/main">
              <a:ext uri="{FF2B5EF4-FFF2-40B4-BE49-F238E27FC236}">
                <a16:creationId xmlns:a16="http://schemas.microsoft.com/office/drawing/2014/main" id="{89FCB1CA-936E-4CB3-AE58-4CC0305D8BEE}"/>
              </a:ext>
            </a:extLst>
          </p:cNvPr>
          <p:cNvSpPr>
            <a:spLocks xmlns:a="http://schemas.openxmlformats.org/drawingml/2006/main" noGrp="1"/>
          </p:cNvSpPr>
          <p:nvPr/>
        </p:nvSpPr>
        <p:spPr>
          <a:xfrm xmlns:a="http://schemas.openxmlformats.org/drawingml/2006/main">
            <a:off x="6675120" y="256032"/>
            <a:ext cx="50292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300">
                <a:solidFill>
                  <a:srgbClr val="8A8578"/>
                </a:solidFill>
                <a:latin typeface="Calibri"/>
                <a:ea typeface="Calibri"/>
                <a:cs typeface="Calibri"/>
              </a:rPr>
              <a:t>Và hạn chế</a:t>
            </a:r>
            <a:endParaRPr sz="1300"/>
          </a:p>
        </p:txBody>
      </p:sp>
      <p:sp>
        <p:nvSpPr>
          <p:cNvPr id="4" name="Text 2">
            <a:extLst xmlns:a="http://schemas.openxmlformats.org/drawingml/2006/main">
              <a:ext uri="{FF2B5EF4-FFF2-40B4-BE49-F238E27FC236}">
                <a16:creationId xmlns:a16="http://schemas.microsoft.com/office/drawing/2014/main" id="{FDC8458A-2C72-47B9-AC9B-AE6D68B72C69}"/>
              </a:ext>
            </a:extLst>
          </p:cNvPr>
          <p:cNvSpPr>
            <a:spLocks xmlns:a="http://schemas.openxmlformats.org/drawingml/2006/main" noGrp="1"/>
          </p:cNvSpPr>
          <p:nvPr/>
        </p:nvSpPr>
        <p:spPr>
          <a:xfrm xmlns:a="http://schemas.openxmlformats.org/drawingml/2006/main">
            <a:off x="502920" y="585216"/>
            <a:ext cx="1115568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a:solidFill>
                  <a:srgbClr val="1A1A1A"/>
                </a:solidFill>
                <a:latin typeface="Georgia"/>
                <a:ea typeface="Georgia"/>
                <a:cs typeface="Georgia"/>
              </a:rPr>
              <a:t>ViT5 hơn một chút về chữ trùng</a:t>
            </a:r>
            <a:endParaRPr sz="2800"/>
          </a:p>
        </p:txBody>
      </p:sp>
      <p:sp>
        <p:nvSpPr>
          <p:cNvPr id="5" name="Shape 3">
            <a:extLst xmlns:a="http://schemas.openxmlformats.org/drawingml/2006/main">
              <a:ext uri="{FF2B5EF4-FFF2-40B4-BE49-F238E27FC236}">
                <a16:creationId xmlns:a16="http://schemas.microsoft.com/office/drawing/2014/main" id="{E34E8361-47C5-44F9-B0E6-232662BE94D6}"/>
              </a:ext>
            </a:extLst>
          </p:cNvPr>
          <p:cNvSpPr>
            <a:spLocks xmlns:a="http://schemas.openxmlformats.org/drawingml/2006/main" noGrp="1"/>
          </p:cNvSpPr>
          <p:nvPr/>
        </p:nvSpPr>
        <p:spPr>
          <a:xfrm xmlns:a="http://schemas.openxmlformats.org/drawingml/2006/main">
            <a:off x="502920" y="1325880"/>
            <a:ext cx="5532120" cy="4709160"/>
          </a:xfrm>
          <a:prstGeom xmlns:a="http://schemas.openxmlformats.org/drawingml/2006/main" prst="rect">
            <a:avLst/>
          </a:prstGeom>
          <a:solidFill xmlns:a="http://schemas.openxmlformats.org/drawingml/2006/main">
            <a:srgbClr val="F7F3E8"/>
          </a:solidFill>
          <a:ln xmlns:a="http://schemas.openxmlformats.org/drawingml/2006/main" w="9525">
            <a:solidFill>
              <a:srgbClr val="C8C0AE"/>
            </a:solidFill>
            <a:prstDash val="solid"/>
          </a:ln>
        </p:spPr>
      </p:sp>
      <p:sp>
        <p:nvSpPr>
          <p:cNvPr id="6" name="Shape 4">
            <a:extLst xmlns:a="http://schemas.openxmlformats.org/drawingml/2006/main">
              <a:ext uri="{FF2B5EF4-FFF2-40B4-BE49-F238E27FC236}">
                <a16:creationId xmlns:a16="http://schemas.microsoft.com/office/drawing/2014/main" id="{61572BFF-9174-4762-8358-CE2C292E8B0B}"/>
              </a:ext>
            </a:extLst>
          </p:cNvPr>
          <p:cNvSpPr>
            <a:spLocks xmlns:a="http://schemas.openxmlformats.org/drawingml/2006/main" noGrp="1"/>
          </p:cNvSpPr>
          <p:nvPr/>
        </p:nvSpPr>
        <p:spPr>
          <a:xfrm xmlns:a="http://schemas.openxmlformats.org/drawingml/2006/main">
            <a:off x="6217920" y="1325880"/>
            <a:ext cx="5486400" cy="4709160"/>
          </a:xfrm>
          <a:prstGeom xmlns:a="http://schemas.openxmlformats.org/drawingml/2006/main" prst="rect">
            <a:avLst/>
          </a:prstGeom>
          <a:solidFill xmlns:a="http://schemas.openxmlformats.org/drawingml/2006/main">
            <a:srgbClr val="F2E5D0"/>
          </a:solidFill>
          <a:ln xmlns:a="http://schemas.openxmlformats.org/drawingml/2006/main" w="9525">
            <a:solidFill>
              <a:srgbClr val="C8C0AE"/>
            </a:solidFill>
            <a:prstDash val="solid"/>
          </a:ln>
        </p:spPr>
      </p:sp>
      <p:sp>
        <p:nvSpPr>
          <p:cNvPr id="7" name="Text 5">
            <a:extLst xmlns:a="http://schemas.openxmlformats.org/drawingml/2006/main">
              <a:ext uri="{FF2B5EF4-FFF2-40B4-BE49-F238E27FC236}">
                <a16:creationId xmlns:a16="http://schemas.microsoft.com/office/drawing/2014/main" id="{DCF42F41-7B59-4FED-BD8D-12C431AA82E1}"/>
              </a:ext>
            </a:extLst>
          </p:cNvPr>
          <p:cNvSpPr>
            <a:spLocks xmlns:a="http://schemas.openxmlformats.org/drawingml/2006/main" noGrp="1"/>
          </p:cNvSpPr>
          <p:nvPr/>
        </p:nvSpPr>
        <p:spPr>
          <a:xfrm xmlns:a="http://schemas.openxmlformats.org/drawingml/2006/main">
            <a:off x="731520" y="1554480"/>
            <a:ext cx="50749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B8432A"/>
                </a:solidFill>
                <a:latin typeface="Calibri"/>
                <a:ea typeface="Calibri"/>
                <a:cs typeface="Calibri"/>
              </a:rPr>
              <a:t>Kết quả</a:t>
            </a:r>
            <a:endParaRPr sz="1600"/>
          </a:p>
        </p:txBody>
      </p:sp>
      <p:sp>
        <p:nvSpPr>
          <p:cNvPr id="8" name="Text 6">
            <a:extLst xmlns:a="http://schemas.openxmlformats.org/drawingml/2006/main">
              <a:ext uri="{FF2B5EF4-FFF2-40B4-BE49-F238E27FC236}">
                <a16:creationId xmlns:a16="http://schemas.microsoft.com/office/drawing/2014/main" id="{67531F06-FE93-4230-9213-2D7BBBBEA015}"/>
              </a:ext>
            </a:extLst>
          </p:cNvPr>
          <p:cNvSpPr>
            <a:spLocks xmlns:a="http://schemas.openxmlformats.org/drawingml/2006/main" noGrp="1"/>
          </p:cNvSpPr>
          <p:nvPr/>
        </p:nvSpPr>
        <p:spPr>
          <a:xfrm xmlns:a="http://schemas.openxmlformats.org/drawingml/2006/main">
            <a:off x="731520" y="2103120"/>
            <a:ext cx="5074920" cy="3474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a:solidFill>
                  <a:srgbClr val="2B2B2B"/>
                </a:solidFill>
                <a:latin typeface="Calibri"/>
                <a:ea typeface="Calibri"/>
                <a:cs typeface="Calibri"/>
              </a:rPr>
              <a:t>ViT5 đạt ROUGE-1 0.2784. Lead-1 đạt 0.2719 trên 500 bài.</a:t>
            </a:r>
            <a:endParaRPr sz="1800"/>
          </a:p>
          <a:p xmlns:a="http://schemas.openxmlformats.org/drawingml/2006/main">
            <a:pPr marL="0" indent="0">
              <a:buNone/>
            </a:pPr>
            <a:endParaRPr sz="1800"/>
          </a:p>
          <a:p xmlns:a="http://schemas.openxmlformats.org/drawingml/2006/main">
            <a:pPr marL="0" indent="0">
              <a:buNone/>
            </a:pPr>
            <a:r>
              <a:rPr sz="1800">
                <a:solidFill>
                  <a:srgbClr val="2B2B2B"/>
                </a:solidFill>
                <a:latin typeface="Calibri"/>
                <a:ea typeface="Calibri"/>
                <a:cs typeface="Calibri"/>
              </a:rPr>
              <a:t>Lead-1 là baseline mạnh. TextRank thấp hơn Lead-3 trên tập này.</a:t>
            </a:r>
            <a:endParaRPr sz="1800"/>
          </a:p>
          <a:p xmlns:a="http://schemas.openxmlformats.org/drawingml/2006/main">
            <a:pPr marL="0" indent="0">
              <a:buNone/>
            </a:pPr>
            <a:endParaRPr sz="1800"/>
          </a:p>
          <a:p xmlns:a="http://schemas.openxmlformats.org/drawingml/2006/main">
            <a:pPr marL="0" indent="0">
              <a:buNone/>
            </a:pPr>
            <a:r>
              <a:rPr sz="1800">
                <a:solidFill>
                  <a:srgbClr val="2B2B2B"/>
                </a:solidFill>
                <a:latin typeface="Calibri"/>
                <a:ea typeface="Calibri"/>
                <a:cs typeface="Calibri"/>
              </a:rPr>
              <a:t>Rà soát 100 bài ghi nhận ít nhất 25 bài ViT5 có lỗi nội dung hoặc biến dạng thực thể.</a:t>
            </a:r>
            <a:endParaRPr sz="1800"/>
          </a:p>
        </p:txBody>
      </p:sp>
      <p:sp>
        <p:nvSpPr>
          <p:cNvPr id="9" name="Text 7">
            <a:extLst xmlns:a="http://schemas.openxmlformats.org/drawingml/2006/main">
              <a:ext uri="{FF2B5EF4-FFF2-40B4-BE49-F238E27FC236}">
                <a16:creationId xmlns:a16="http://schemas.microsoft.com/office/drawing/2014/main" id="{228ABA2D-368A-4CA2-9C6A-EC4C8728DBA3}"/>
              </a:ext>
            </a:extLst>
          </p:cNvPr>
          <p:cNvSpPr>
            <a:spLocks xmlns:a="http://schemas.openxmlformats.org/drawingml/2006/main" noGrp="1"/>
          </p:cNvSpPr>
          <p:nvPr/>
        </p:nvSpPr>
        <p:spPr>
          <a:xfrm xmlns:a="http://schemas.openxmlformats.org/drawingml/2006/main">
            <a:off x="6446520" y="1554480"/>
            <a:ext cx="50292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B8432A"/>
                </a:solidFill>
                <a:latin typeface="Calibri"/>
                <a:ea typeface="Calibri"/>
                <a:cs typeface="Calibri"/>
              </a:rPr>
              <a:t>Hạn chế</a:t>
            </a:r>
            <a:endParaRPr sz="1600"/>
          </a:p>
        </p:txBody>
      </p:sp>
      <p:sp>
        <p:nvSpPr>
          <p:cNvPr id="10" name="Text 8">
            <a:extLst xmlns:a="http://schemas.openxmlformats.org/drawingml/2006/main">
              <a:ext uri="{FF2B5EF4-FFF2-40B4-BE49-F238E27FC236}">
                <a16:creationId xmlns:a16="http://schemas.microsoft.com/office/drawing/2014/main" id="{6CCA57C9-416E-402D-9CD9-033DB55601AA}"/>
              </a:ext>
            </a:extLst>
          </p:cNvPr>
          <p:cNvSpPr>
            <a:spLocks xmlns:a="http://schemas.openxmlformats.org/drawingml/2006/main" noGrp="1"/>
          </p:cNvSpPr>
          <p:nvPr/>
        </p:nvSpPr>
        <p:spPr>
          <a:xfrm xmlns:a="http://schemas.openxmlformats.org/drawingml/2006/main">
            <a:off x="6446520" y="2103120"/>
            <a:ext cx="5029200" cy="3474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a:solidFill>
                  <a:srgbClr val="2B2B2B"/>
                </a:solidFill>
                <a:latin typeface="Calibri"/>
                <a:ea typeface="Calibri"/>
                <a:cs typeface="Calibri"/>
              </a:rPr>
              <a:t>ROUGE đo trùng khớp token và chuỗi, không xác minh sự thật.</a:t>
            </a:r>
            <a:endParaRPr sz="1800"/>
          </a:p>
          <a:p xmlns:a="http://schemas.openxmlformats.org/drawingml/2006/main">
            <a:pPr marL="0" indent="0">
              <a:buNone/>
            </a:pPr>
            <a:endParaRPr sz="1800"/>
          </a:p>
          <a:p xmlns:a="http://schemas.openxmlformats.org/drawingml/2006/main">
            <a:pPr marL="0" indent="0">
              <a:buNone/>
            </a:pPr>
            <a:r>
              <a:rPr sz="1800">
                <a:solidFill>
                  <a:srgbClr val="2B2B2B"/>
                </a:solidFill>
                <a:latin typeface="Calibri"/>
                <a:ea typeface="Calibri"/>
                <a:cs typeface="Calibri"/>
              </a:rPr>
              <a:t>Rà soát một lượt trên 100 bài, chưa có hai người chấm độc lập.</a:t>
            </a:r>
            <a:endParaRPr sz="1800"/>
          </a:p>
          <a:p xmlns:a="http://schemas.openxmlformats.org/drawingml/2006/main">
            <a:pPr marL="0" indent="0">
              <a:buNone/>
            </a:pPr>
            <a:endParaRPr sz="1800"/>
          </a:p>
          <a:p xmlns:a="http://schemas.openxmlformats.org/drawingml/2006/main">
            <a:pPr marL="0" indent="0">
              <a:buNone/>
            </a:pPr>
            <a:r>
              <a:rPr sz="1800">
                <a:solidFill>
                  <a:srgbClr val="2B2B2B"/>
                </a:solidFill>
                <a:latin typeface="Calibri"/>
                <a:ea typeface="Calibri"/>
                <a:cs typeface="Calibri"/>
              </a:rPr>
              <a:t>Mẫu gồm 500 bài đầu, không ngẫu nhiên. Chưa kiểm định ý nghĩa thống kê.</a:t>
            </a:r>
            <a:endParaRPr sz="1800"/>
          </a:p>
        </p:txBody>
      </p:sp>
      <p:sp>
        <p:nvSpPr>
          <p:cNvPr id="11" name="Text 9">
            <a:extLst xmlns:a="http://schemas.openxmlformats.org/drawingml/2006/main">
              <a:ext uri="{FF2B5EF4-FFF2-40B4-BE49-F238E27FC236}">
                <a16:creationId xmlns:a16="http://schemas.microsoft.com/office/drawing/2014/main" id="{0EE2844F-C71F-43E5-B83F-C12D56F94D37}"/>
              </a:ext>
            </a:extLst>
          </p:cNvPr>
          <p:cNvSpPr>
            <a:spLocks xmlns:a="http://schemas.openxmlformats.org/drawingml/2006/main" noGrp="1"/>
          </p:cNvSpPr>
          <p:nvPr/>
        </p:nvSpPr>
        <p:spPr>
          <a:xfrm xmlns:a="http://schemas.openxmlformats.org/drawingml/2006/main">
            <a:off x="502920" y="6492240"/>
            <a:ext cx="73152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B5AFA0"/>
                </a:solidFill>
                <a:latin typeface="Calibri"/>
                <a:ea typeface="Calibri"/>
                <a:cs typeface="Calibri"/>
              </a:rPr>
              <a:t>CS221 · UIT · Nhóm 14</a:t>
            </a:r>
            <a:endParaRPr sz="1100"/>
          </a:p>
        </p:txBody>
      </p:sp>
      <p:sp>
        <p:nvSpPr>
          <p:cNvPr id="12" name="Text 10">
            <a:extLst xmlns:a="http://schemas.openxmlformats.org/drawingml/2006/main">
              <a:ext uri="{FF2B5EF4-FFF2-40B4-BE49-F238E27FC236}">
                <a16:creationId xmlns:a16="http://schemas.microsoft.com/office/drawing/2014/main" id="{726C6F8F-5D50-4515-A892-2142D7E2B1A9}"/>
              </a:ext>
            </a:extLst>
          </p:cNvPr>
          <p:cNvSpPr>
            <a:spLocks xmlns:a="http://schemas.openxmlformats.org/drawingml/2006/main" noGrp="1"/>
          </p:cNvSpPr>
          <p:nvPr/>
        </p:nvSpPr>
        <p:spPr>
          <a:xfrm xmlns:a="http://schemas.openxmlformats.org/drawingml/2006/main">
            <a:off x="10424160" y="6492240"/>
            <a:ext cx="128016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100">
                <a:solidFill>
                  <a:srgbClr val="8A8578"/>
                </a:solidFill>
                <a:latin typeface="Calibri"/>
                <a:ea typeface="Calibri"/>
                <a:cs typeface="Calibri"/>
              </a:rPr>
              <a:t>16</a:t>
            </a:r>
            <a:endParaRPr sz="1100"/>
          </a:p>
        </p:txBody>
      </p:sp>
    </p:spTree>
    <p:extLst>
      <p:ext uri="{BB962C8B-B14F-4D97-AF65-F5344CB8AC3E}">
        <p14:creationId xmlns:p14="http://schemas.microsoft.com/office/powerpoint/2010/main" val="419080373"/>
      </p:ext>
    </p:extLst>
  </p:cSld>
</p:sld>
</file>

<file path=ppt/slides/slide17.xml><?xml version="1.0" encoding="utf-8"?>
<p:sld xmlns:p="http://schemas.openxmlformats.org/presentationml/2006/main">
  <p:cSld>
    <p:bg>
      <p:bgPr>
        <a:solidFill xmlns:a="http://schemas.openxmlformats.org/drawingml/2006/main">
          <a:srgbClr val="F0ECE0"/>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D7A545B2-563F-4E8E-9F04-1EF21668A76F}"/>
              </a:ext>
            </a:extLst>
          </p:cNvPr>
          <p:cNvSpPr>
            <a:spLocks xmlns:a="http://schemas.openxmlformats.org/drawingml/2006/main" noGrp="1"/>
          </p:cNvSpPr>
          <p:nvPr/>
        </p:nvSpPr>
        <p:spPr>
          <a:xfrm xmlns:a="http://schemas.openxmlformats.org/drawingml/2006/main">
            <a:off x="502920" y="256032"/>
            <a:ext cx="73152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spc="120">
                <a:solidFill>
                  <a:srgbClr val="8A8578"/>
                </a:solidFill>
                <a:latin typeface="Calibri"/>
                <a:ea typeface="Calibri"/>
                <a:cs typeface="Calibri"/>
              </a:rPr>
              <a:t>17   NẾU LÀM TIẾP</a:t>
            </a:r>
            <a:endParaRPr sz="1200"/>
          </a:p>
        </p:txBody>
      </p:sp>
      <p:sp>
        <p:nvSpPr>
          <p:cNvPr id="3" name="Text 1">
            <a:extLst xmlns:a="http://schemas.openxmlformats.org/drawingml/2006/main">
              <a:ext uri="{FF2B5EF4-FFF2-40B4-BE49-F238E27FC236}">
                <a16:creationId xmlns:a16="http://schemas.microsoft.com/office/drawing/2014/main" id="{5732D91F-F1FE-4D81-98C2-DC4C8E142B87}"/>
              </a:ext>
            </a:extLst>
          </p:cNvPr>
          <p:cNvSpPr>
            <a:spLocks xmlns:a="http://schemas.openxmlformats.org/drawingml/2006/main" noGrp="1"/>
          </p:cNvSpPr>
          <p:nvPr/>
        </p:nvSpPr>
        <p:spPr>
          <a:xfrm xmlns:a="http://schemas.openxmlformats.org/drawingml/2006/main">
            <a:off x="6675120" y="256032"/>
            <a:ext cx="50292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300">
                <a:solidFill>
                  <a:srgbClr val="8A8578"/>
                </a:solidFill>
                <a:latin typeface="Calibri"/>
                <a:ea typeface="Calibri"/>
                <a:cs typeface="Calibri"/>
              </a:rPr>
              <a:t>Ngoài phạm vi hiện tại</a:t>
            </a:r>
            <a:endParaRPr sz="1300"/>
          </a:p>
        </p:txBody>
      </p:sp>
      <p:sp>
        <p:nvSpPr>
          <p:cNvPr id="4" name="Text 2">
            <a:extLst xmlns:a="http://schemas.openxmlformats.org/drawingml/2006/main">
              <a:ext uri="{FF2B5EF4-FFF2-40B4-BE49-F238E27FC236}">
                <a16:creationId xmlns:a16="http://schemas.microsoft.com/office/drawing/2014/main" id="{D2DF1D11-602E-4A59-AC81-46CA415F600A}"/>
              </a:ext>
            </a:extLst>
          </p:cNvPr>
          <p:cNvSpPr>
            <a:spLocks xmlns:a="http://schemas.openxmlformats.org/drawingml/2006/main" noGrp="1"/>
          </p:cNvSpPr>
          <p:nvPr/>
        </p:nvSpPr>
        <p:spPr>
          <a:xfrm xmlns:a="http://schemas.openxmlformats.org/drawingml/2006/main">
            <a:off x="502920" y="585216"/>
            <a:ext cx="1115568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a:solidFill>
                  <a:srgbClr val="1A1A1A"/>
                </a:solidFill>
                <a:latin typeface="Georgia"/>
                <a:ea typeface="Georgia"/>
                <a:cs typeface="Georgia"/>
              </a:rPr>
              <a:t>Hướng phát triển</a:t>
            </a:r>
            <a:endParaRPr sz="2800"/>
          </a:p>
        </p:txBody>
      </p:sp>
      <p:sp>
        <p:nvSpPr>
          <p:cNvPr id="5" name="Shape 3">
            <a:extLst xmlns:a="http://schemas.openxmlformats.org/drawingml/2006/main">
              <a:ext uri="{FF2B5EF4-FFF2-40B4-BE49-F238E27FC236}">
                <a16:creationId xmlns:a16="http://schemas.microsoft.com/office/drawing/2014/main" id="{F07F2BCE-E7E9-4C1B-A9FB-58DB74062DA1}"/>
              </a:ext>
            </a:extLst>
          </p:cNvPr>
          <p:cNvSpPr>
            <a:spLocks xmlns:a="http://schemas.openxmlformats.org/drawingml/2006/main" noGrp="1"/>
          </p:cNvSpPr>
          <p:nvPr/>
        </p:nvSpPr>
        <p:spPr>
          <a:xfrm xmlns:a="http://schemas.openxmlformats.org/drawingml/2006/main">
            <a:off x="502920" y="1371600"/>
            <a:ext cx="11155680" cy="1444752"/>
          </a:xfrm>
          <a:prstGeom xmlns:a="http://schemas.openxmlformats.org/drawingml/2006/main" prst="rect">
            <a:avLst/>
          </a:prstGeom>
          <a:solidFill xmlns:a="http://schemas.openxmlformats.org/drawingml/2006/main">
            <a:srgbClr val="F7F3E8"/>
          </a:solidFill>
          <a:ln xmlns:a="http://schemas.openxmlformats.org/drawingml/2006/main" w="9525">
            <a:solidFill>
              <a:srgbClr val="C8C0AE"/>
            </a:solidFill>
            <a:prstDash val="solid"/>
          </a:ln>
        </p:spPr>
      </p:sp>
      <p:sp>
        <p:nvSpPr>
          <p:cNvPr id="6" name="Text 4">
            <a:extLst xmlns:a="http://schemas.openxmlformats.org/drawingml/2006/main">
              <a:ext uri="{FF2B5EF4-FFF2-40B4-BE49-F238E27FC236}">
                <a16:creationId xmlns:a16="http://schemas.microsoft.com/office/drawing/2014/main" id="{F4F1D837-0EBD-486C-8614-C531DCD75E98}"/>
              </a:ext>
            </a:extLst>
          </p:cNvPr>
          <p:cNvSpPr>
            <a:spLocks xmlns:a="http://schemas.openxmlformats.org/drawingml/2006/main" noGrp="1"/>
          </p:cNvSpPr>
          <p:nvPr/>
        </p:nvSpPr>
        <p:spPr>
          <a:xfrm xmlns:a="http://schemas.openxmlformats.org/drawingml/2006/main">
            <a:off x="731520" y="1783080"/>
            <a:ext cx="100584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400">
                <a:solidFill>
                  <a:srgbClr val="B8432A"/>
                </a:solidFill>
                <a:latin typeface="Georgia"/>
                <a:ea typeface="Georgia"/>
                <a:cs typeface="Georgia"/>
              </a:rPr>
              <a:t>01</a:t>
            </a:r>
            <a:endParaRPr sz="2400"/>
          </a:p>
        </p:txBody>
      </p:sp>
      <p:sp>
        <p:nvSpPr>
          <p:cNvPr id="7" name="Text 5">
            <a:extLst xmlns:a="http://schemas.openxmlformats.org/drawingml/2006/main">
              <a:ext uri="{FF2B5EF4-FFF2-40B4-BE49-F238E27FC236}">
                <a16:creationId xmlns:a16="http://schemas.microsoft.com/office/drawing/2014/main" id="{AD833237-BFAB-4446-9939-368A8A2982E8}"/>
              </a:ext>
            </a:extLst>
          </p:cNvPr>
          <p:cNvSpPr>
            <a:spLocks xmlns:a="http://schemas.openxmlformats.org/drawingml/2006/main" noGrp="1"/>
          </p:cNvSpPr>
          <p:nvPr/>
        </p:nvSpPr>
        <p:spPr>
          <a:xfrm xmlns:a="http://schemas.openxmlformats.org/drawingml/2006/main">
            <a:off x="1920240" y="1572768"/>
            <a:ext cx="93268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b="1">
                <a:solidFill>
                  <a:srgbClr val="1A1A1A"/>
                </a:solidFill>
                <a:latin typeface="Calibri"/>
                <a:ea typeface="Calibri"/>
                <a:cs typeface="Calibri"/>
              </a:rPr>
              <a:t>Đọc thêm bài</a:t>
            </a:r>
            <a:endParaRPr sz="2000"/>
          </a:p>
        </p:txBody>
      </p:sp>
      <p:sp>
        <p:nvSpPr>
          <p:cNvPr id="8" name="Text 6">
            <a:extLst xmlns:a="http://schemas.openxmlformats.org/drawingml/2006/main">
              <a:ext uri="{FF2B5EF4-FFF2-40B4-BE49-F238E27FC236}">
                <a16:creationId xmlns:a16="http://schemas.microsoft.com/office/drawing/2014/main" id="{32B740CC-C229-432D-9D8A-6E81E34806C6}"/>
              </a:ext>
            </a:extLst>
          </p:cNvPr>
          <p:cNvSpPr>
            <a:spLocks xmlns:a="http://schemas.openxmlformats.org/drawingml/2006/main" noGrp="1"/>
          </p:cNvSpPr>
          <p:nvPr/>
        </p:nvSpPr>
        <p:spPr>
          <a:xfrm xmlns:a="http://schemas.openxmlformats.org/drawingml/2006/main">
            <a:off x="1920240" y="2084832"/>
            <a:ext cx="932688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a:solidFill>
                  <a:srgbClr val="2B2B2B"/>
                </a:solidFill>
                <a:latin typeface="Calibri"/>
                <a:ea typeface="Calibri"/>
                <a:cs typeface="Calibri"/>
              </a:rPr>
              <a:t>Chấm độc lập theo rubric trên mẫu lớn hơn, thống kê lỗi tên, số và sự kiện.</a:t>
            </a:r>
            <a:endParaRPr sz="1800"/>
          </a:p>
        </p:txBody>
      </p:sp>
      <p:sp>
        <p:nvSpPr>
          <p:cNvPr id="9" name="Shape 7">
            <a:extLst xmlns:a="http://schemas.openxmlformats.org/drawingml/2006/main">
              <a:ext uri="{FF2B5EF4-FFF2-40B4-BE49-F238E27FC236}">
                <a16:creationId xmlns:a16="http://schemas.microsoft.com/office/drawing/2014/main" id="{13F6F215-2D7A-4F35-ABC4-79A4DDC7D448}"/>
              </a:ext>
            </a:extLst>
          </p:cNvPr>
          <p:cNvSpPr>
            <a:spLocks xmlns:a="http://schemas.openxmlformats.org/drawingml/2006/main" noGrp="1"/>
          </p:cNvSpPr>
          <p:nvPr/>
        </p:nvSpPr>
        <p:spPr>
          <a:xfrm xmlns:a="http://schemas.openxmlformats.org/drawingml/2006/main">
            <a:off x="502920" y="2971800"/>
            <a:ext cx="11155680" cy="1444752"/>
          </a:xfrm>
          <a:prstGeom xmlns:a="http://schemas.openxmlformats.org/drawingml/2006/main" prst="rect">
            <a:avLst/>
          </a:prstGeom>
          <a:solidFill xmlns:a="http://schemas.openxmlformats.org/drawingml/2006/main">
            <a:srgbClr val="F7F3E8"/>
          </a:solidFill>
          <a:ln xmlns:a="http://schemas.openxmlformats.org/drawingml/2006/main" w="9525">
            <a:solidFill>
              <a:srgbClr val="C8C0AE"/>
            </a:solidFill>
            <a:prstDash val="solid"/>
          </a:ln>
        </p:spPr>
      </p:sp>
      <p:sp>
        <p:nvSpPr>
          <p:cNvPr id="10" name="Text 8">
            <a:extLst xmlns:a="http://schemas.openxmlformats.org/drawingml/2006/main">
              <a:ext uri="{FF2B5EF4-FFF2-40B4-BE49-F238E27FC236}">
                <a16:creationId xmlns:a16="http://schemas.microsoft.com/office/drawing/2014/main" id="{A72D8C90-1738-4E7D-B385-0ABE6C8ABE23}"/>
              </a:ext>
            </a:extLst>
          </p:cNvPr>
          <p:cNvSpPr>
            <a:spLocks xmlns:a="http://schemas.openxmlformats.org/drawingml/2006/main" noGrp="1"/>
          </p:cNvSpPr>
          <p:nvPr/>
        </p:nvSpPr>
        <p:spPr>
          <a:xfrm xmlns:a="http://schemas.openxmlformats.org/drawingml/2006/main">
            <a:off x="731520" y="3383280"/>
            <a:ext cx="100584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400">
                <a:solidFill>
                  <a:srgbClr val="B8432A"/>
                </a:solidFill>
                <a:latin typeface="Georgia"/>
                <a:ea typeface="Georgia"/>
                <a:cs typeface="Georgia"/>
              </a:rPr>
              <a:t>02</a:t>
            </a:r>
            <a:endParaRPr sz="2400"/>
          </a:p>
        </p:txBody>
      </p:sp>
      <p:sp>
        <p:nvSpPr>
          <p:cNvPr id="11" name="Text 9">
            <a:extLst xmlns:a="http://schemas.openxmlformats.org/drawingml/2006/main">
              <a:ext uri="{FF2B5EF4-FFF2-40B4-BE49-F238E27FC236}">
                <a16:creationId xmlns:a16="http://schemas.microsoft.com/office/drawing/2014/main" id="{728B911A-20E4-4F1A-8A34-3DDEAEA8D4E0}"/>
              </a:ext>
            </a:extLst>
          </p:cNvPr>
          <p:cNvSpPr>
            <a:spLocks xmlns:a="http://schemas.openxmlformats.org/drawingml/2006/main" noGrp="1"/>
          </p:cNvSpPr>
          <p:nvPr/>
        </p:nvSpPr>
        <p:spPr>
          <a:xfrm xmlns:a="http://schemas.openxmlformats.org/drawingml/2006/main">
            <a:off x="1920240" y="3172968"/>
            <a:ext cx="93268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b="1">
                <a:solidFill>
                  <a:srgbClr val="1A1A1A"/>
                </a:solidFill>
                <a:latin typeface="Calibri"/>
                <a:ea typeface="Calibri"/>
                <a:cs typeface="Calibri"/>
              </a:rPr>
              <a:t>Bài gồm nhiều tin</a:t>
            </a:r>
            <a:endParaRPr sz="2000"/>
          </a:p>
        </p:txBody>
      </p:sp>
      <p:sp>
        <p:nvSpPr>
          <p:cNvPr id="12" name="Text 10">
            <a:extLst xmlns:a="http://schemas.openxmlformats.org/drawingml/2006/main">
              <a:ext uri="{FF2B5EF4-FFF2-40B4-BE49-F238E27FC236}">
                <a16:creationId xmlns:a16="http://schemas.microsoft.com/office/drawing/2014/main" id="{B25A4CA1-22FE-40BA-968F-70AC74EB0CC0}"/>
              </a:ext>
            </a:extLst>
          </p:cNvPr>
          <p:cNvSpPr>
            <a:spLocks xmlns:a="http://schemas.openxmlformats.org/drawingml/2006/main" noGrp="1"/>
          </p:cNvSpPr>
          <p:nvPr/>
        </p:nvSpPr>
        <p:spPr>
          <a:xfrm xmlns:a="http://schemas.openxmlformats.org/drawingml/2006/main">
            <a:off x="1920240" y="3685032"/>
            <a:ext cx="932688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a:solidFill>
                  <a:srgbClr val="2B2B2B"/>
                </a:solidFill>
                <a:latin typeface="Calibri"/>
                <a:ea typeface="Calibri"/>
                <a:cs typeface="Calibri"/>
              </a:rPr>
              <a:t>Một số bài gom nhiều sự việc. Có thể thử tách tin và đánh giá ảnh hưởng.</a:t>
            </a:r>
            <a:endParaRPr sz="1800"/>
          </a:p>
        </p:txBody>
      </p:sp>
      <p:sp>
        <p:nvSpPr>
          <p:cNvPr id="13" name="Shape 11">
            <a:extLst xmlns:a="http://schemas.openxmlformats.org/drawingml/2006/main">
              <a:ext uri="{FF2B5EF4-FFF2-40B4-BE49-F238E27FC236}">
                <a16:creationId xmlns:a16="http://schemas.microsoft.com/office/drawing/2014/main" id="{95AA1956-775D-4AEE-B46A-04B01BE40238}"/>
              </a:ext>
            </a:extLst>
          </p:cNvPr>
          <p:cNvSpPr>
            <a:spLocks xmlns:a="http://schemas.openxmlformats.org/drawingml/2006/main" noGrp="1"/>
          </p:cNvSpPr>
          <p:nvPr/>
        </p:nvSpPr>
        <p:spPr>
          <a:xfrm xmlns:a="http://schemas.openxmlformats.org/drawingml/2006/main">
            <a:off x="502920" y="4572000"/>
            <a:ext cx="11155680" cy="1444752"/>
          </a:xfrm>
          <a:prstGeom xmlns:a="http://schemas.openxmlformats.org/drawingml/2006/main" prst="rect">
            <a:avLst/>
          </a:prstGeom>
          <a:solidFill xmlns:a="http://schemas.openxmlformats.org/drawingml/2006/main">
            <a:srgbClr val="F7F3E8"/>
          </a:solidFill>
          <a:ln xmlns:a="http://schemas.openxmlformats.org/drawingml/2006/main" w="9525">
            <a:solidFill>
              <a:srgbClr val="C8C0AE"/>
            </a:solidFill>
            <a:prstDash val="solid"/>
          </a:ln>
        </p:spPr>
      </p:sp>
      <p:sp>
        <p:nvSpPr>
          <p:cNvPr id="14" name="Text 12">
            <a:extLst xmlns:a="http://schemas.openxmlformats.org/drawingml/2006/main">
              <a:ext uri="{FF2B5EF4-FFF2-40B4-BE49-F238E27FC236}">
                <a16:creationId xmlns:a16="http://schemas.microsoft.com/office/drawing/2014/main" id="{03A365CB-DF99-4FEE-A7FA-B1804A4BE24D}"/>
              </a:ext>
            </a:extLst>
          </p:cNvPr>
          <p:cNvSpPr>
            <a:spLocks xmlns:a="http://schemas.openxmlformats.org/drawingml/2006/main" noGrp="1"/>
          </p:cNvSpPr>
          <p:nvPr/>
        </p:nvSpPr>
        <p:spPr>
          <a:xfrm xmlns:a="http://schemas.openxmlformats.org/drawingml/2006/main">
            <a:off x="731520" y="4983480"/>
            <a:ext cx="100584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400">
                <a:solidFill>
                  <a:srgbClr val="B8432A"/>
                </a:solidFill>
                <a:latin typeface="Georgia"/>
                <a:ea typeface="Georgia"/>
                <a:cs typeface="Georgia"/>
              </a:rPr>
              <a:t>03</a:t>
            </a:r>
            <a:endParaRPr sz="2400"/>
          </a:p>
        </p:txBody>
      </p:sp>
      <p:sp>
        <p:nvSpPr>
          <p:cNvPr id="15" name="Text 13">
            <a:extLst xmlns:a="http://schemas.openxmlformats.org/drawingml/2006/main">
              <a:ext uri="{FF2B5EF4-FFF2-40B4-BE49-F238E27FC236}">
                <a16:creationId xmlns:a16="http://schemas.microsoft.com/office/drawing/2014/main" id="{270D9C02-109F-4B7D-BF18-820A8B362047}"/>
              </a:ext>
            </a:extLst>
          </p:cNvPr>
          <p:cNvSpPr>
            <a:spLocks xmlns:a="http://schemas.openxmlformats.org/drawingml/2006/main" noGrp="1"/>
          </p:cNvSpPr>
          <p:nvPr/>
        </p:nvSpPr>
        <p:spPr>
          <a:xfrm xmlns:a="http://schemas.openxmlformats.org/drawingml/2006/main">
            <a:off x="1920240" y="4773168"/>
            <a:ext cx="93268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b="1">
                <a:solidFill>
                  <a:srgbClr val="1A1A1A"/>
                </a:solidFill>
                <a:latin typeface="Calibri"/>
                <a:ea typeface="Calibri"/>
                <a:cs typeface="Calibri"/>
              </a:rPr>
              <a:t>Nếu có train sau</a:t>
            </a:r>
            <a:endParaRPr sz="2000"/>
          </a:p>
        </p:txBody>
      </p:sp>
      <p:sp>
        <p:nvSpPr>
          <p:cNvPr id="16" name="Text 14">
            <a:extLst xmlns:a="http://schemas.openxmlformats.org/drawingml/2006/main">
              <a:ext uri="{FF2B5EF4-FFF2-40B4-BE49-F238E27FC236}">
                <a16:creationId xmlns:a16="http://schemas.microsoft.com/office/drawing/2014/main" id="{25B5D990-C13D-40A8-812B-360F9E27131F}"/>
              </a:ext>
            </a:extLst>
          </p:cNvPr>
          <p:cNvSpPr>
            <a:spLocks xmlns:a="http://schemas.openxmlformats.org/drawingml/2006/main" noGrp="1"/>
          </p:cNvSpPr>
          <p:nvPr/>
        </p:nvSpPr>
        <p:spPr>
          <a:xfrm xmlns:a="http://schemas.openxmlformats.org/drawingml/2006/main">
            <a:off x="1920240" y="5285232"/>
            <a:ext cx="932688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a:solidFill>
                  <a:srgbClr val="2B2B2B"/>
                </a:solidFill>
                <a:latin typeface="Calibri"/>
                <a:ea typeface="Calibri"/>
                <a:cs typeface="Calibri"/>
              </a:rPr>
              <a:t>Các bài đang dùng để chấm sẽ để riêng, không đưa vào lúc cập nhật model.</a:t>
            </a:r>
            <a:endParaRPr sz="1800"/>
          </a:p>
        </p:txBody>
      </p:sp>
      <p:sp>
        <p:nvSpPr>
          <p:cNvPr id="17" name="Text 15">
            <a:extLst xmlns:a="http://schemas.openxmlformats.org/drawingml/2006/main">
              <a:ext uri="{FF2B5EF4-FFF2-40B4-BE49-F238E27FC236}">
                <a16:creationId xmlns:a16="http://schemas.microsoft.com/office/drawing/2014/main" id="{A0A53841-7AD3-4963-A7F3-34FCB50C8110}"/>
              </a:ext>
            </a:extLst>
          </p:cNvPr>
          <p:cNvSpPr>
            <a:spLocks xmlns:a="http://schemas.openxmlformats.org/drawingml/2006/main" noGrp="1"/>
          </p:cNvSpPr>
          <p:nvPr/>
        </p:nvSpPr>
        <p:spPr>
          <a:xfrm xmlns:a="http://schemas.openxmlformats.org/drawingml/2006/main">
            <a:off x="502920" y="6492240"/>
            <a:ext cx="73152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B5AFA0"/>
                </a:solidFill>
                <a:latin typeface="Calibri"/>
                <a:ea typeface="Calibri"/>
                <a:cs typeface="Calibri"/>
              </a:rPr>
              <a:t>CS221 · UIT · Nhóm 14</a:t>
            </a:r>
            <a:endParaRPr sz="1100"/>
          </a:p>
        </p:txBody>
      </p:sp>
      <p:sp>
        <p:nvSpPr>
          <p:cNvPr id="18" name="Text 16">
            <a:extLst xmlns:a="http://schemas.openxmlformats.org/drawingml/2006/main">
              <a:ext uri="{FF2B5EF4-FFF2-40B4-BE49-F238E27FC236}">
                <a16:creationId xmlns:a16="http://schemas.microsoft.com/office/drawing/2014/main" id="{DDEEEBD9-5872-4A0E-BD74-4F9FD29CC327}"/>
              </a:ext>
            </a:extLst>
          </p:cNvPr>
          <p:cNvSpPr>
            <a:spLocks xmlns:a="http://schemas.openxmlformats.org/drawingml/2006/main" noGrp="1"/>
          </p:cNvSpPr>
          <p:nvPr/>
        </p:nvSpPr>
        <p:spPr>
          <a:xfrm xmlns:a="http://schemas.openxmlformats.org/drawingml/2006/main">
            <a:off x="10424160" y="6492240"/>
            <a:ext cx="128016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100">
                <a:solidFill>
                  <a:srgbClr val="8A8578"/>
                </a:solidFill>
                <a:latin typeface="Calibri"/>
                <a:ea typeface="Calibri"/>
                <a:cs typeface="Calibri"/>
              </a:rPr>
              <a:t>17</a:t>
            </a:r>
            <a:endParaRPr sz="1100"/>
          </a:p>
        </p:txBody>
      </p:sp>
    </p:spTree>
    <p:extLst>
      <p:ext uri="{BB962C8B-B14F-4D97-AF65-F5344CB8AC3E}">
        <p14:creationId xmlns:p14="http://schemas.microsoft.com/office/powerpoint/2010/main" val="38416808"/>
      </p:ext>
    </p:extLst>
  </p:cSld>
</p:sld>
</file>

<file path=ppt/slides/slide18.xml><?xml version="1.0" encoding="utf-8"?>
<p:sld xmlns:p="http://schemas.openxmlformats.org/presentationml/2006/main">
  <p:cSld>
    <p:bg>
      <p:bgPr>
        <a:solidFill xmlns:a="http://schemas.openxmlformats.org/drawingml/2006/main">
          <a:srgbClr val="F0ECE0"/>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956973EB-CCC9-4276-AAD7-3366275C5C4E}"/>
              </a:ext>
            </a:extLst>
          </p:cNvPr>
          <p:cNvSpPr>
            <a:spLocks xmlns:a="http://schemas.openxmlformats.org/drawingml/2006/main" noGrp="1"/>
          </p:cNvSpPr>
          <p:nvPr/>
        </p:nvSpPr>
        <p:spPr>
          <a:xfrm xmlns:a="http://schemas.openxmlformats.org/drawingml/2006/main">
            <a:off x="502920" y="256032"/>
            <a:ext cx="73152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spc="120">
                <a:solidFill>
                  <a:srgbClr val="8A8578"/>
                </a:solidFill>
                <a:latin typeface="Calibri"/>
                <a:ea typeface="Calibri"/>
                <a:cs typeface="Calibri"/>
              </a:rPr>
              <a:t>18   TÀI LIỆU</a:t>
            </a:r>
            <a:endParaRPr sz="1200"/>
          </a:p>
        </p:txBody>
      </p:sp>
      <p:sp>
        <p:nvSpPr>
          <p:cNvPr id="3" name="Text 1">
            <a:extLst xmlns:a="http://schemas.openxmlformats.org/drawingml/2006/main">
              <a:ext uri="{FF2B5EF4-FFF2-40B4-BE49-F238E27FC236}">
                <a16:creationId xmlns:a16="http://schemas.microsoft.com/office/drawing/2014/main" id="{169987BA-E3F1-401E-8B1B-B16113CBBE3B}"/>
              </a:ext>
            </a:extLst>
          </p:cNvPr>
          <p:cNvSpPr>
            <a:spLocks xmlns:a="http://schemas.openxmlformats.org/drawingml/2006/main" noGrp="1"/>
          </p:cNvSpPr>
          <p:nvPr/>
        </p:nvSpPr>
        <p:spPr>
          <a:xfrm xmlns:a="http://schemas.openxmlformats.org/drawingml/2006/main">
            <a:off x="6675120" y="256032"/>
            <a:ext cx="50292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300">
                <a:solidFill>
                  <a:srgbClr val="8A8578"/>
                </a:solidFill>
                <a:latin typeface="Calibri"/>
                <a:ea typeface="Calibri"/>
                <a:cs typeface="Calibri"/>
              </a:rPr>
              <a:t>Đã dùng</a:t>
            </a:r>
            <a:endParaRPr sz="1300"/>
          </a:p>
        </p:txBody>
      </p:sp>
      <p:sp>
        <p:nvSpPr>
          <p:cNvPr id="4" name="Text 2">
            <a:extLst xmlns:a="http://schemas.openxmlformats.org/drawingml/2006/main">
              <a:ext uri="{FF2B5EF4-FFF2-40B4-BE49-F238E27FC236}">
                <a16:creationId xmlns:a16="http://schemas.microsoft.com/office/drawing/2014/main" id="{EA3F2318-9441-4061-914E-DD974F9BEF92}"/>
              </a:ext>
            </a:extLst>
          </p:cNvPr>
          <p:cNvSpPr>
            <a:spLocks xmlns:a="http://schemas.openxmlformats.org/drawingml/2006/main" noGrp="1"/>
          </p:cNvSpPr>
          <p:nvPr/>
        </p:nvSpPr>
        <p:spPr>
          <a:xfrm xmlns:a="http://schemas.openxmlformats.org/drawingml/2006/main">
            <a:off x="502920" y="585216"/>
            <a:ext cx="1115568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a:solidFill>
                  <a:srgbClr val="1A1A1A"/>
                </a:solidFill>
                <a:latin typeface="Georgia"/>
                <a:ea typeface="Georgia"/>
                <a:cs typeface="Georgia"/>
              </a:rPr>
              <a:t>Nguồn dữ liệu và tài liệu tham khảo</a:t>
            </a:r>
            <a:endParaRPr sz="2800"/>
          </a:p>
        </p:txBody>
      </p:sp>
      <p:sp>
        <p:nvSpPr>
          <p:cNvPr id="5" name="Shape 3">
            <a:extLst xmlns:a="http://schemas.openxmlformats.org/drawingml/2006/main">
              <a:ext uri="{FF2B5EF4-FFF2-40B4-BE49-F238E27FC236}">
                <a16:creationId xmlns:a16="http://schemas.microsoft.com/office/drawing/2014/main" id="{DA5B174E-996B-42C9-9607-4B4FC85B9107}"/>
              </a:ext>
            </a:extLst>
          </p:cNvPr>
          <p:cNvSpPr>
            <a:spLocks xmlns:a="http://schemas.openxmlformats.org/drawingml/2006/main" noGrp="1"/>
          </p:cNvSpPr>
          <p:nvPr/>
        </p:nvSpPr>
        <p:spPr>
          <a:xfrm xmlns:a="http://schemas.openxmlformats.org/drawingml/2006/main">
            <a:off x="502920" y="1371600"/>
            <a:ext cx="11155680" cy="1051560"/>
          </a:xfrm>
          <a:prstGeom xmlns:a="http://schemas.openxmlformats.org/drawingml/2006/main" prst="rect">
            <a:avLst/>
          </a:prstGeom>
          <a:solidFill xmlns:a="http://schemas.openxmlformats.org/drawingml/2006/main">
            <a:srgbClr val="F7F3E8"/>
          </a:solidFill>
          <a:ln xmlns:a="http://schemas.openxmlformats.org/drawingml/2006/main" w="9525">
            <a:solidFill>
              <a:srgbClr val="C8C0AE"/>
            </a:solidFill>
            <a:prstDash val="solid"/>
          </a:ln>
        </p:spPr>
      </p:sp>
      <p:sp>
        <p:nvSpPr>
          <p:cNvPr id="6" name="Text 4">
            <a:extLst xmlns:a="http://schemas.openxmlformats.org/drawingml/2006/main">
              <a:ext uri="{FF2B5EF4-FFF2-40B4-BE49-F238E27FC236}">
                <a16:creationId xmlns:a16="http://schemas.microsoft.com/office/drawing/2014/main" id="{87B6D2A5-8C67-42DE-8448-A82A0EE6662B}"/>
              </a:ext>
            </a:extLst>
          </p:cNvPr>
          <p:cNvSpPr>
            <a:spLocks xmlns:a="http://schemas.openxmlformats.org/drawingml/2006/main" noGrp="1"/>
          </p:cNvSpPr>
          <p:nvPr/>
        </p:nvSpPr>
        <p:spPr>
          <a:xfrm xmlns:a="http://schemas.openxmlformats.org/drawingml/2006/main">
            <a:off x="731520" y="1664208"/>
            <a:ext cx="237744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a:solidFill>
                  <a:srgbClr val="B8432A"/>
                </a:solidFill>
                <a:latin typeface="Calibri"/>
                <a:ea typeface="Calibri"/>
                <a:cs typeface="Calibri"/>
              </a:rPr>
              <a:t>Vietnews</a:t>
            </a:r>
            <a:endParaRPr sz="1800"/>
          </a:p>
        </p:txBody>
      </p:sp>
      <p:sp>
        <p:nvSpPr>
          <p:cNvPr id="7" name="Text 5">
            <a:extLst xmlns:a="http://schemas.openxmlformats.org/drawingml/2006/main">
              <a:ext uri="{FF2B5EF4-FFF2-40B4-BE49-F238E27FC236}">
                <a16:creationId xmlns:a16="http://schemas.microsoft.com/office/drawing/2014/main" id="{78D90095-D956-49B8-ABCA-16501A311311}"/>
              </a:ext>
            </a:extLst>
          </p:cNvPr>
          <p:cNvSpPr>
            <a:spLocks xmlns:a="http://schemas.openxmlformats.org/drawingml/2006/main" noGrp="1"/>
          </p:cNvSpPr>
          <p:nvPr/>
        </p:nvSpPr>
        <p:spPr>
          <a:xfrm xmlns:a="http://schemas.openxmlformats.org/drawingml/2006/main">
            <a:off x="3200400" y="1664208"/>
            <a:ext cx="813816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a:solidFill>
                  <a:srgbClr val="1A1A1A"/>
                </a:solidFill>
                <a:latin typeface="Calibri"/>
                <a:ea typeface="Calibri"/>
                <a:cs typeface="Calibri"/>
              </a:rPr>
              <a:t>github.com/ThanhChinhBK/vietnews</a:t>
            </a:r>
            <a:endParaRPr sz="1800"/>
          </a:p>
        </p:txBody>
      </p:sp>
      <p:sp>
        <p:nvSpPr>
          <p:cNvPr id="8" name="Shape 6">
            <a:extLst xmlns:a="http://schemas.openxmlformats.org/drawingml/2006/main">
              <a:ext uri="{FF2B5EF4-FFF2-40B4-BE49-F238E27FC236}">
                <a16:creationId xmlns:a16="http://schemas.microsoft.com/office/drawing/2014/main" id="{D1980F38-ADFA-446D-8E3A-BF39D0E8270E}"/>
              </a:ext>
            </a:extLst>
          </p:cNvPr>
          <p:cNvSpPr>
            <a:spLocks xmlns:a="http://schemas.openxmlformats.org/drawingml/2006/main" noGrp="1"/>
          </p:cNvSpPr>
          <p:nvPr/>
        </p:nvSpPr>
        <p:spPr>
          <a:xfrm xmlns:a="http://schemas.openxmlformats.org/drawingml/2006/main">
            <a:off x="502920" y="2560320"/>
            <a:ext cx="11155680" cy="1051560"/>
          </a:xfrm>
          <a:prstGeom xmlns:a="http://schemas.openxmlformats.org/drawingml/2006/main" prst="rect">
            <a:avLst/>
          </a:prstGeom>
          <a:solidFill xmlns:a="http://schemas.openxmlformats.org/drawingml/2006/main">
            <a:srgbClr val="F7F3E8"/>
          </a:solidFill>
          <a:ln xmlns:a="http://schemas.openxmlformats.org/drawingml/2006/main" w="9525">
            <a:solidFill>
              <a:srgbClr val="C8C0AE"/>
            </a:solidFill>
            <a:prstDash val="solid"/>
          </a:ln>
        </p:spPr>
      </p:sp>
      <p:sp>
        <p:nvSpPr>
          <p:cNvPr id="9" name="Text 7">
            <a:extLst xmlns:a="http://schemas.openxmlformats.org/drawingml/2006/main">
              <a:ext uri="{FF2B5EF4-FFF2-40B4-BE49-F238E27FC236}">
                <a16:creationId xmlns:a16="http://schemas.microsoft.com/office/drawing/2014/main" id="{A93E8041-1E2F-4E99-B1CE-864506612825}"/>
              </a:ext>
            </a:extLst>
          </p:cNvPr>
          <p:cNvSpPr>
            <a:spLocks xmlns:a="http://schemas.openxmlformats.org/drawingml/2006/main" noGrp="1"/>
          </p:cNvSpPr>
          <p:nvPr/>
        </p:nvSpPr>
        <p:spPr>
          <a:xfrm xmlns:a="http://schemas.openxmlformats.org/drawingml/2006/main">
            <a:off x="731520" y="2852928"/>
            <a:ext cx="237744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a:solidFill>
                  <a:srgbClr val="B8432A"/>
                </a:solidFill>
                <a:latin typeface="Calibri"/>
                <a:ea typeface="Calibri"/>
                <a:cs typeface="Calibri"/>
              </a:rPr>
              <a:t>ViT5</a:t>
            </a:r>
            <a:endParaRPr sz="1800"/>
          </a:p>
        </p:txBody>
      </p:sp>
      <p:sp>
        <p:nvSpPr>
          <p:cNvPr id="10" name="Text 8">
            <a:extLst xmlns:a="http://schemas.openxmlformats.org/drawingml/2006/main">
              <a:ext uri="{FF2B5EF4-FFF2-40B4-BE49-F238E27FC236}">
                <a16:creationId xmlns:a16="http://schemas.microsoft.com/office/drawing/2014/main" id="{A3CABF8E-692A-4E66-B16B-BD3BC393F5E3}"/>
              </a:ext>
            </a:extLst>
          </p:cNvPr>
          <p:cNvSpPr>
            <a:spLocks xmlns:a="http://schemas.openxmlformats.org/drawingml/2006/main" noGrp="1"/>
          </p:cNvSpPr>
          <p:nvPr/>
        </p:nvSpPr>
        <p:spPr>
          <a:xfrm xmlns:a="http://schemas.openxmlformats.org/drawingml/2006/main">
            <a:off x="3200400" y="2852928"/>
            <a:ext cx="813816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a:solidFill>
                  <a:srgbClr val="1A1A1A"/>
                </a:solidFill>
                <a:latin typeface="Calibri"/>
                <a:ea typeface="Calibri"/>
                <a:cs typeface="Calibri"/>
              </a:rPr>
              <a:t>aclanthology.org/2022.naacl-srw.18</a:t>
            </a:r>
            <a:endParaRPr sz="1800"/>
          </a:p>
        </p:txBody>
      </p:sp>
      <p:sp>
        <p:nvSpPr>
          <p:cNvPr id="11" name="Shape 9">
            <a:extLst xmlns:a="http://schemas.openxmlformats.org/drawingml/2006/main">
              <a:ext uri="{FF2B5EF4-FFF2-40B4-BE49-F238E27FC236}">
                <a16:creationId xmlns:a16="http://schemas.microsoft.com/office/drawing/2014/main" id="{04DB5E15-8F54-4EE4-AA96-2E54FC2E65B1}"/>
              </a:ext>
            </a:extLst>
          </p:cNvPr>
          <p:cNvSpPr>
            <a:spLocks xmlns:a="http://schemas.openxmlformats.org/drawingml/2006/main" noGrp="1"/>
          </p:cNvSpPr>
          <p:nvPr/>
        </p:nvSpPr>
        <p:spPr>
          <a:xfrm xmlns:a="http://schemas.openxmlformats.org/drawingml/2006/main">
            <a:off x="502920" y="3749040"/>
            <a:ext cx="11155680" cy="1051560"/>
          </a:xfrm>
          <a:prstGeom xmlns:a="http://schemas.openxmlformats.org/drawingml/2006/main" prst="rect">
            <a:avLst/>
          </a:prstGeom>
          <a:solidFill xmlns:a="http://schemas.openxmlformats.org/drawingml/2006/main">
            <a:srgbClr val="F7F3E8"/>
          </a:solidFill>
          <a:ln xmlns:a="http://schemas.openxmlformats.org/drawingml/2006/main" w="9525">
            <a:solidFill>
              <a:srgbClr val="C8C0AE"/>
            </a:solidFill>
            <a:prstDash val="solid"/>
          </a:ln>
        </p:spPr>
      </p:sp>
      <p:sp>
        <p:nvSpPr>
          <p:cNvPr id="12" name="Text 10">
            <a:extLst xmlns:a="http://schemas.openxmlformats.org/drawingml/2006/main">
              <a:ext uri="{FF2B5EF4-FFF2-40B4-BE49-F238E27FC236}">
                <a16:creationId xmlns:a16="http://schemas.microsoft.com/office/drawing/2014/main" id="{1A74E483-4137-4C19-A9BF-A1B5FFB4738A}"/>
              </a:ext>
            </a:extLst>
          </p:cNvPr>
          <p:cNvSpPr>
            <a:spLocks xmlns:a="http://schemas.openxmlformats.org/drawingml/2006/main" noGrp="1"/>
          </p:cNvSpPr>
          <p:nvPr/>
        </p:nvSpPr>
        <p:spPr>
          <a:xfrm xmlns:a="http://schemas.openxmlformats.org/drawingml/2006/main">
            <a:off x="731520" y="4041648"/>
            <a:ext cx="237744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a:solidFill>
                  <a:srgbClr val="B8432A"/>
                </a:solidFill>
                <a:latin typeface="Calibri"/>
                <a:ea typeface="Calibri"/>
                <a:cs typeface="Calibri"/>
              </a:rPr>
              <a:t>Checkpoint</a:t>
            </a:r>
            <a:endParaRPr sz="1800"/>
          </a:p>
        </p:txBody>
      </p:sp>
      <p:sp>
        <p:nvSpPr>
          <p:cNvPr id="13" name="Text 11">
            <a:extLst xmlns:a="http://schemas.openxmlformats.org/drawingml/2006/main">
              <a:ext uri="{FF2B5EF4-FFF2-40B4-BE49-F238E27FC236}">
                <a16:creationId xmlns:a16="http://schemas.microsoft.com/office/drawing/2014/main" id="{C49C9841-F591-4CBD-A327-02EC84B402F9}"/>
              </a:ext>
            </a:extLst>
          </p:cNvPr>
          <p:cNvSpPr>
            <a:spLocks xmlns:a="http://schemas.openxmlformats.org/drawingml/2006/main" noGrp="1"/>
          </p:cNvSpPr>
          <p:nvPr/>
        </p:nvSpPr>
        <p:spPr>
          <a:xfrm xmlns:a="http://schemas.openxmlformats.org/drawingml/2006/main">
            <a:off x="3200400" y="4041648"/>
            <a:ext cx="813816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a:solidFill>
                  <a:srgbClr val="1A1A1A"/>
                </a:solidFill>
                <a:latin typeface="Calibri"/>
                <a:ea typeface="Calibri"/>
                <a:cs typeface="Calibri"/>
              </a:rPr>
              <a:t>huggingface.co/VietAI/vit5-base-vietnews-summarization</a:t>
            </a:r>
            <a:endParaRPr sz="1800"/>
          </a:p>
        </p:txBody>
      </p:sp>
      <p:sp>
        <p:nvSpPr>
          <p:cNvPr id="14" name="Shape 12">
            <a:extLst xmlns:a="http://schemas.openxmlformats.org/drawingml/2006/main">
              <a:ext uri="{FF2B5EF4-FFF2-40B4-BE49-F238E27FC236}">
                <a16:creationId xmlns:a16="http://schemas.microsoft.com/office/drawing/2014/main" id="{2BAC926C-00B2-4C1F-9DFF-B1B91CB38C08}"/>
              </a:ext>
            </a:extLst>
          </p:cNvPr>
          <p:cNvSpPr>
            <a:spLocks xmlns:a="http://schemas.openxmlformats.org/drawingml/2006/main" noGrp="1"/>
          </p:cNvSpPr>
          <p:nvPr/>
        </p:nvSpPr>
        <p:spPr>
          <a:xfrm xmlns:a="http://schemas.openxmlformats.org/drawingml/2006/main">
            <a:off x="502920" y="4937760"/>
            <a:ext cx="11155680" cy="1051560"/>
          </a:xfrm>
          <a:prstGeom xmlns:a="http://schemas.openxmlformats.org/drawingml/2006/main" prst="rect">
            <a:avLst/>
          </a:prstGeom>
          <a:solidFill xmlns:a="http://schemas.openxmlformats.org/drawingml/2006/main">
            <a:srgbClr val="F7F3E8"/>
          </a:solidFill>
          <a:ln xmlns:a="http://schemas.openxmlformats.org/drawingml/2006/main" w="9525">
            <a:solidFill>
              <a:srgbClr val="C8C0AE"/>
            </a:solidFill>
            <a:prstDash val="solid"/>
          </a:ln>
        </p:spPr>
      </p:sp>
      <p:sp>
        <p:nvSpPr>
          <p:cNvPr id="15" name="Text 13">
            <a:extLst xmlns:a="http://schemas.openxmlformats.org/drawingml/2006/main">
              <a:ext uri="{FF2B5EF4-FFF2-40B4-BE49-F238E27FC236}">
                <a16:creationId xmlns:a16="http://schemas.microsoft.com/office/drawing/2014/main" id="{F0C3C921-D8E7-4935-8A23-0DA59BAE9F22}"/>
              </a:ext>
            </a:extLst>
          </p:cNvPr>
          <p:cNvSpPr>
            <a:spLocks xmlns:a="http://schemas.openxmlformats.org/drawingml/2006/main" noGrp="1"/>
          </p:cNvSpPr>
          <p:nvPr/>
        </p:nvSpPr>
        <p:spPr>
          <a:xfrm xmlns:a="http://schemas.openxmlformats.org/drawingml/2006/main">
            <a:off x="731520" y="5230368"/>
            <a:ext cx="237744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a:solidFill>
                  <a:srgbClr val="B8432A"/>
                </a:solidFill>
                <a:latin typeface="Calibri"/>
                <a:ea typeface="Calibri"/>
                <a:cs typeface="Calibri"/>
              </a:rPr>
              <a:t>Repo nhóm</a:t>
            </a:r>
            <a:endParaRPr sz="1800"/>
          </a:p>
        </p:txBody>
      </p:sp>
      <p:sp>
        <p:nvSpPr>
          <p:cNvPr id="16" name="Text 14">
            <a:extLst xmlns:a="http://schemas.openxmlformats.org/drawingml/2006/main">
              <a:ext uri="{FF2B5EF4-FFF2-40B4-BE49-F238E27FC236}">
                <a16:creationId xmlns:a16="http://schemas.microsoft.com/office/drawing/2014/main" id="{08FB5F0F-2908-4B71-9ED1-7D070E80FBC8}"/>
              </a:ext>
            </a:extLst>
          </p:cNvPr>
          <p:cNvSpPr>
            <a:spLocks xmlns:a="http://schemas.openxmlformats.org/drawingml/2006/main" noGrp="1"/>
          </p:cNvSpPr>
          <p:nvPr/>
        </p:nvSpPr>
        <p:spPr>
          <a:xfrm xmlns:a="http://schemas.openxmlformats.org/drawingml/2006/main">
            <a:off x="3200400" y="5230368"/>
            <a:ext cx="813816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a:solidFill>
                  <a:srgbClr val="1A1A1A"/>
                </a:solidFill>
                <a:latin typeface="Calibri"/>
                <a:ea typeface="Calibri"/>
                <a:cs typeface="Calibri"/>
              </a:rPr>
              <a:t>github.com/hoangdq08/uit-vietnews-summarization</a:t>
            </a:r>
            <a:endParaRPr sz="1800"/>
          </a:p>
        </p:txBody>
      </p:sp>
      <p:sp>
        <p:nvSpPr>
          <p:cNvPr id="17" name="Text 15">
            <a:extLst xmlns:a="http://schemas.openxmlformats.org/drawingml/2006/main">
              <a:ext uri="{FF2B5EF4-FFF2-40B4-BE49-F238E27FC236}">
                <a16:creationId xmlns:a16="http://schemas.microsoft.com/office/drawing/2014/main" id="{7C49AF6D-13A6-4CC7-A7D6-AE50405E8DA2}"/>
              </a:ext>
            </a:extLst>
          </p:cNvPr>
          <p:cNvSpPr>
            <a:spLocks xmlns:a="http://schemas.openxmlformats.org/drawingml/2006/main" noGrp="1"/>
          </p:cNvSpPr>
          <p:nvPr/>
        </p:nvSpPr>
        <p:spPr>
          <a:xfrm xmlns:a="http://schemas.openxmlformats.org/drawingml/2006/main">
            <a:off x="502920" y="6492240"/>
            <a:ext cx="73152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B5AFA0"/>
                </a:solidFill>
                <a:latin typeface="Calibri"/>
                <a:ea typeface="Calibri"/>
                <a:cs typeface="Calibri"/>
              </a:rPr>
              <a:t>CS221 · UIT · Nhóm 14</a:t>
            </a:r>
            <a:endParaRPr sz="1100"/>
          </a:p>
        </p:txBody>
      </p:sp>
      <p:sp>
        <p:nvSpPr>
          <p:cNvPr id="18" name="Text 16">
            <a:extLst xmlns:a="http://schemas.openxmlformats.org/drawingml/2006/main">
              <a:ext uri="{FF2B5EF4-FFF2-40B4-BE49-F238E27FC236}">
                <a16:creationId xmlns:a16="http://schemas.microsoft.com/office/drawing/2014/main" id="{1E91A63E-1815-41A2-A300-3014C0A30225}"/>
              </a:ext>
            </a:extLst>
          </p:cNvPr>
          <p:cNvSpPr>
            <a:spLocks xmlns:a="http://schemas.openxmlformats.org/drawingml/2006/main" noGrp="1"/>
          </p:cNvSpPr>
          <p:nvPr/>
        </p:nvSpPr>
        <p:spPr>
          <a:xfrm xmlns:a="http://schemas.openxmlformats.org/drawingml/2006/main">
            <a:off x="10424160" y="6492240"/>
            <a:ext cx="128016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100">
                <a:solidFill>
                  <a:srgbClr val="8A8578"/>
                </a:solidFill>
                <a:latin typeface="Calibri"/>
                <a:ea typeface="Calibri"/>
                <a:cs typeface="Calibri"/>
              </a:rPr>
              <a:t>18</a:t>
            </a:r>
            <a:endParaRPr sz="1100"/>
          </a:p>
        </p:txBody>
      </p:sp>
    </p:spTree>
    <p:extLst>
      <p:ext uri="{BB962C8B-B14F-4D97-AF65-F5344CB8AC3E}">
        <p14:creationId xmlns:p14="http://schemas.microsoft.com/office/powerpoint/2010/main" val="666102649"/>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Nhóm 14</dc:creator>
  <lastModifiedBy/>
  <dc:title>So sánh tóm tắt rút trích và tóm lược trên tin tức tiếng Việt</dc:title>
  <dcterms:created xsi:type="dcterms:W3CDTF">2026-10-13T14:20:49.1200000Z</dcterms:created>
  <dcterms:modified xsi:type="dcterms:W3CDTF">2026-10-13T14:20:49.1200000Z</dcterms:modified>
</coreProperties>
</file>