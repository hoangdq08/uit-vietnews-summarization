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6448ad8f074062" /><Relationship Type="http://schemas.openxmlformats.org/officeDocument/2006/relationships/extended-properties" Target="/docProps/app.xml" Id="R3d8f3342db224945" /><Relationship Type="http://schemas.openxmlformats.org/officeDocument/2006/relationships/officeDocument" Target="/ppt/presentation.xml" Id="R4c2683fc6de248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4a58bbf1ef4f87"/>
  </p:sldMasterIdLst>
  <p:notesMasterIdLst>
    <p:notesMasterId xmlns:r="http://schemas.openxmlformats.org/officeDocument/2006/relationships" r:id="R05352c6b079d4d3a"/>
  </p:notesMasterIdLst>
  <p:sldIdLst>
    <p:sldId xmlns:r="http://schemas.openxmlformats.org/officeDocument/2006/relationships" id="256" r:id="Rea3ce011ce364488"/>
    <p:sldId xmlns:r="http://schemas.openxmlformats.org/officeDocument/2006/relationships" id="257" r:id="R88ba3dd9af6d4552"/>
    <p:sldId xmlns:r="http://schemas.openxmlformats.org/officeDocument/2006/relationships" id="258" r:id="Raca7f2b5d4594fd1"/>
    <p:sldId xmlns:r="http://schemas.openxmlformats.org/officeDocument/2006/relationships" id="259" r:id="R6695446e847b44d0"/>
    <p:sldId xmlns:r="http://schemas.openxmlformats.org/officeDocument/2006/relationships" id="260" r:id="R3d3c721a3725477c"/>
    <p:sldId xmlns:r="http://schemas.openxmlformats.org/officeDocument/2006/relationships" id="261" r:id="Rebb909b0e9104cfe"/>
    <p:sldId xmlns:r="http://schemas.openxmlformats.org/officeDocument/2006/relationships" id="262" r:id="R9130357a1aa5478d"/>
    <p:sldId xmlns:r="http://schemas.openxmlformats.org/officeDocument/2006/relationships" id="263" r:id="R7cf251642c8d4748"/>
    <p:sldId xmlns:r="http://schemas.openxmlformats.org/officeDocument/2006/relationships" id="264" r:id="R097797ab9dd04aad"/>
    <p:sldId xmlns:r="http://schemas.openxmlformats.org/officeDocument/2006/relationships" id="265" r:id="Rf65a203626f9474f"/>
    <p:sldId xmlns:r="http://schemas.openxmlformats.org/officeDocument/2006/relationships" id="266" r:id="R544125d429104b52"/>
    <p:sldId xmlns:r="http://schemas.openxmlformats.org/officeDocument/2006/relationships" id="267" r:id="Radc82f3643b64f35"/>
    <p:sldId xmlns:r="http://schemas.openxmlformats.org/officeDocument/2006/relationships" id="268" r:id="Re729e389698a40d5"/>
    <p:sldId xmlns:r="http://schemas.openxmlformats.org/officeDocument/2006/relationships" id="269" r:id="R8b6b4b4d17654e3b"/>
    <p:sldId xmlns:r="http://schemas.openxmlformats.org/officeDocument/2006/relationships" id="270" r:id="Re32285b2a82e4c25"/>
    <p:sldId xmlns:r="http://schemas.openxmlformats.org/officeDocument/2006/relationships" id="271" r:id="Rf2652012ea174f56"/>
    <p:sldId xmlns:r="http://schemas.openxmlformats.org/officeDocument/2006/relationships" id="272" r:id="R22a26aaf1c0940ce"/>
    <p:sldId xmlns:r="http://schemas.openxmlformats.org/officeDocument/2006/relationships" id="273" r:id="R9d1e9c2c87a64d01"/>
  </p:sldIdLst>
  <p:sldSz cx="12191695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48459b471b4cd5" /><Relationship Type="http://schemas.openxmlformats.org/officeDocument/2006/relationships/slideMaster" Target="/ppt/slideMasters/slideMaster1.xml" Id="R294a58bbf1ef4f87" /><Relationship Type="http://schemas.openxmlformats.org/officeDocument/2006/relationships/notesMaster" Target="/ppt/notesMasters/notesMaster1.xml" Id="R05352c6b079d4d3a" /><Relationship Type="http://schemas.openxmlformats.org/officeDocument/2006/relationships/presProps" Target="/ppt/presProps.xml" Id="R235dbd77c9934039" /><Relationship Type="http://schemas.openxmlformats.org/officeDocument/2006/relationships/viewProps" Target="/ppt/viewProps.xml" Id="Re30b3bad96ec45e3" /><Relationship Type="http://schemas.openxmlformats.org/officeDocument/2006/relationships/tableStyles" Target="/ppt/tableStyles.xml" Id="Rc6ddb07c83c7492c" /><Relationship Type="http://schemas.openxmlformats.org/officeDocument/2006/relationships/slide" Target="/ppt/slides/slide1.xml" Id="Rea3ce011ce364488" /><Relationship Type="http://schemas.openxmlformats.org/officeDocument/2006/relationships/slide" Target="/ppt/slides/slide2.xml" Id="R88ba3dd9af6d4552" /><Relationship Type="http://schemas.openxmlformats.org/officeDocument/2006/relationships/slide" Target="/ppt/slides/slide3.xml" Id="Raca7f2b5d4594fd1" /><Relationship Type="http://schemas.openxmlformats.org/officeDocument/2006/relationships/slide" Target="/ppt/slides/slide4.xml" Id="R6695446e847b44d0" /><Relationship Type="http://schemas.openxmlformats.org/officeDocument/2006/relationships/slide" Target="/ppt/slides/slide5.xml" Id="R3d3c721a3725477c" /><Relationship Type="http://schemas.openxmlformats.org/officeDocument/2006/relationships/slide" Target="/ppt/slides/slide6.xml" Id="Rebb909b0e9104cfe" /><Relationship Type="http://schemas.openxmlformats.org/officeDocument/2006/relationships/slide" Target="/ppt/slides/slide7.xml" Id="R9130357a1aa5478d" /><Relationship Type="http://schemas.openxmlformats.org/officeDocument/2006/relationships/slide" Target="/ppt/slides/slide8.xml" Id="R7cf251642c8d4748" /><Relationship Type="http://schemas.openxmlformats.org/officeDocument/2006/relationships/slide" Target="/ppt/slides/slide9.xml" Id="R097797ab9dd04aad" /><Relationship Type="http://schemas.openxmlformats.org/officeDocument/2006/relationships/slide" Target="/ppt/slides/slide10.xml" Id="Rf65a203626f9474f" /><Relationship Type="http://schemas.openxmlformats.org/officeDocument/2006/relationships/slide" Target="/ppt/slides/slide11.xml" Id="R544125d429104b52" /><Relationship Type="http://schemas.openxmlformats.org/officeDocument/2006/relationships/slide" Target="/ppt/slides/slide12.xml" Id="Radc82f3643b64f35" /><Relationship Type="http://schemas.openxmlformats.org/officeDocument/2006/relationships/slide" Target="/ppt/slides/slide13.xml" Id="Re729e389698a40d5" /><Relationship Type="http://schemas.openxmlformats.org/officeDocument/2006/relationships/slide" Target="/ppt/slides/slide14.xml" Id="R8b6b4b4d17654e3b" /><Relationship Type="http://schemas.openxmlformats.org/officeDocument/2006/relationships/slide" Target="/ppt/slides/slide15.xml" Id="Re32285b2a82e4c25" /><Relationship Type="http://schemas.openxmlformats.org/officeDocument/2006/relationships/slide" Target="/ppt/slides/slide16.xml" Id="Rf2652012ea174f56" /><Relationship Type="http://schemas.openxmlformats.org/officeDocument/2006/relationships/slide" Target="/ppt/slides/slide17.xml" Id="R22a26aaf1c0940ce" /><Relationship Type="http://schemas.openxmlformats.org/officeDocument/2006/relationships/slide" Target="/ppt/slides/slide18.xml" Id="R9d1e9c2c87a64d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5497c9dbfe4b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eac53cdff74584" /><Relationship Type="http://schemas.openxmlformats.org/officeDocument/2006/relationships/notesMaster" Target="/ppt/notesMasters/notesMaster1.xml" Id="R2d876f36fad940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f5d29e9b3d4696" /><Relationship Type="http://schemas.openxmlformats.org/officeDocument/2006/relationships/notesMaster" Target="/ppt/notesMasters/notesMaster1.xml" Id="Ra923295de3924e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93e1e79b7a430a" /><Relationship Type="http://schemas.openxmlformats.org/officeDocument/2006/relationships/notesMaster" Target="/ppt/notesMasters/notesMaster1.xml" Id="R2b430030ab1940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fe9128c81d4451" /><Relationship Type="http://schemas.openxmlformats.org/officeDocument/2006/relationships/notesMaster" Target="/ppt/notesMasters/notesMaster1.xml" Id="Rc78de44e7cb344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1ce5d707c64eea" /><Relationship Type="http://schemas.openxmlformats.org/officeDocument/2006/relationships/notesMaster" Target="/ppt/notesMasters/notesMaster1.xml" Id="R3438091a4f1944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6386f8ba36431a" /><Relationship Type="http://schemas.openxmlformats.org/officeDocument/2006/relationships/notesMaster" Target="/ppt/notesMasters/notesMaster1.xml" Id="Ra078945ea4a445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d37150e8124dba" /><Relationship Type="http://schemas.openxmlformats.org/officeDocument/2006/relationships/notesMaster" Target="/ppt/notesMasters/notesMaster1.xml" Id="R0111072ad1ee48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f38ad1d67f4d39" /><Relationship Type="http://schemas.openxmlformats.org/officeDocument/2006/relationships/notesMaster" Target="/ppt/notesMasters/notesMaster1.xml" Id="Rfaa44ef9f06741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10f37d106074994" /><Relationship Type="http://schemas.openxmlformats.org/officeDocument/2006/relationships/notesMaster" Target="/ppt/notesMasters/notesMaster1.xml" Id="Reb23a809ec6a46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6267e9cc9b4c83" /><Relationship Type="http://schemas.openxmlformats.org/officeDocument/2006/relationships/notesMaster" Target="/ppt/notesMasters/notesMaster1.xml" Id="R3f6fc26bd55147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c941f2a6ba47c9" /><Relationship Type="http://schemas.openxmlformats.org/officeDocument/2006/relationships/notesMaster" Target="/ppt/notesMasters/notesMaster1.xml" Id="Rd392af308a9843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eec26152e14b9c" /><Relationship Type="http://schemas.openxmlformats.org/officeDocument/2006/relationships/notesMaster" Target="/ppt/notesMasters/notesMaster1.xml" Id="R330651e3084947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a9fdf39eaf47cd" /><Relationship Type="http://schemas.openxmlformats.org/officeDocument/2006/relationships/notesMaster" Target="/ppt/notesMasters/notesMaster1.xml" Id="Ra6db773452d742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569c8bc90c347d8" /><Relationship Type="http://schemas.openxmlformats.org/officeDocument/2006/relationships/notesMaster" Target="/ppt/notesMasters/notesMaster1.xml" Id="R834deff052734c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32a8a3ecc5f47bd" /><Relationship Type="http://schemas.openxmlformats.org/officeDocument/2006/relationships/notesMaster" Target="/ppt/notesMasters/notesMaster1.xml" Id="Ra5669bd653db419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ab749b152940e4" /><Relationship Type="http://schemas.openxmlformats.org/officeDocument/2006/relationships/notesMaster" Target="/ppt/notesMasters/notesMaster1.xml" Id="R7c352d468125449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85b238f3c7742e7" /><Relationship Type="http://schemas.openxmlformats.org/officeDocument/2006/relationships/notesMaster" Target="/ppt/notesMasters/notesMaster1.xml" Id="Rc751216ce9ad470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64a9b7340864c19" /><Relationship Type="http://schemas.openxmlformats.org/officeDocument/2006/relationships/notesMaster" Target="/ppt/notesMasters/notesMaster1.xml" Id="Ra6bb6c75f4d645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Dữ liệu: https://github.com/ThanhChinhBK/vietnews</a:t>
            </a:r>
            <a:endParaRPr/>
          </a:p>
          <a:p xmlns:a="http://schemas.openxmlformats.org/drawingml/2006/main">
            <a:r>
              <a:t>ViT5: https://aclanthology.org/2022.naacl-srw.18/</a:t>
            </a:r>
            <a:endParaRPr/>
          </a:p>
          <a:p xmlns:a="http://schemas.openxmlformats.org/drawingml/2006/main">
            <a:r>
              <a:t>Checkpoint: https://huggingface.co/VietAI/vit5-base-vietnews-summarization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TextRank: Mihalcea và Tarau (2004). https://aclanthology.org/W04-3252/</a:t>
            </a:r>
            <a:endParaRPr/>
          </a:p>
          <a:p xmlns:a="http://schemas.openxmlformats.org/drawingml/2006/main">
            <a:r>
              <a:t>Cấu hình triển khai: src/extractive.py, TF-IDF cosine, PageRank 40 vòng, damping 0.85.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card: https://huggingface.co/VietAI/vit5-base-vietnews-summarization</a:t>
            </a:r>
            <a:endParaRPr/>
          </a:p>
          <a:p xmlns:a="http://schemas.openxmlformats.org/drawingml/2006/main">
            <a:r>
              <a:t>Cấu hình inference của project: notebooks/kaggle_abstractive.ipynb.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ROUGE: Lin (2004). https://aclanthology.org/W04-1013/</a:t>
            </a:r>
            <a:endParaRPr/>
          </a:p>
          <a:p xmlns:a="http://schemas.openxmlformats.org/drawingml/2006/main">
            <a:r>
              <a:t>Kết quả: results/scores.csv và results/scores_500.csv.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số liệu: results/scores_500_mean.txt và results/scores_500.csv. Điểm F1 trung bình trên 500 ID 000001–000500.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results/error_analysis.md, results/preds.json, results/scores.csv; thân bài data/test_tokenized/000021.txt.seg và 000011.txt.seg.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results/scores_500_mean.txt và results/error_analysis.md. Rà soát định tính một lượt, chưa có đánh giá độc lập bởi hai người.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ViT5: https://aclanthology.org/2022.naacl-srw.18/</a:t>
            </a:r>
            <a:endParaRPr/>
          </a:p>
          <a:p xmlns:a="http://schemas.openxmlformats.org/drawingml/2006/main">
            <a:r>
              <a:t>TextRank: https://aclanthology.org/W04-3252/</a:t>
            </a:r>
            <a:endParaRPr/>
          </a:p>
          <a:p xmlns:a="http://schemas.openxmlformats.org/drawingml/2006/main">
            <a:r>
              <a:t>ROUGE: https://aclanthology.org/W04-1013/</a:t>
            </a:r>
            <a:endParaRPr/>
          </a:p>
          <a:p xmlns:a="http://schemas.openxmlformats.org/drawingml/2006/main">
            <a:r>
              <a:t>Dữ liệu: https://github.com/ThanhChinhBK/vietnews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98e929da14d4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532eb2bea9421f" /><Relationship Type="http://schemas.openxmlformats.org/officeDocument/2006/relationships/slideLayout" Target="/ppt/slideLayouts/slideLayout1.xml" Id="R67899161bd8e4e3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899161bd8e4e3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1f163f8c2e44ab" /><Relationship Type="http://schemas.openxmlformats.org/officeDocument/2006/relationships/notesSlide" Target="/ppt/notesSlides/notesSlide1.xml" Id="R9b96d111dbbc47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cac81e3a04424" /><Relationship Type="http://schemas.openxmlformats.org/officeDocument/2006/relationships/notesSlide" Target="/ppt/notesSlides/notesSlide2.xml" Id="R12b4af15ef8b4e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351b69da14afe" /><Relationship Type="http://schemas.openxmlformats.org/officeDocument/2006/relationships/notesSlide" Target="/ppt/notesSlides/notesSlide3.xml" Id="Rebf394e32fc34d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0c3f302384407" /><Relationship Type="http://schemas.openxmlformats.org/officeDocument/2006/relationships/notesSlide" Target="/ppt/notesSlides/notesSlide4.xml" Id="Ra49c980662ca4a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f12a7a36445f8" /><Relationship Type="http://schemas.openxmlformats.org/officeDocument/2006/relationships/notesSlide" Target="/ppt/notesSlides/notesSlide5.xml" Id="R33a9c239cf0c44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1d44f495c4365" /><Relationship Type="http://schemas.openxmlformats.org/officeDocument/2006/relationships/notesSlide" Target="/ppt/notesSlides/notesSlide6.xml" Id="R0fd8494087424b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c99f65b954bca" /><Relationship Type="http://schemas.openxmlformats.org/officeDocument/2006/relationships/notesSlide" Target="/ppt/notesSlides/notesSlide7.xml" Id="Rf4f7f40d0e5f4c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b25cd45bb4867" /><Relationship Type="http://schemas.openxmlformats.org/officeDocument/2006/relationships/notesSlide" Target="/ppt/notesSlides/notesSlide8.xml" Id="Rf46bc14b64bb4e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22789a36f4e9a" /><Relationship Type="http://schemas.openxmlformats.org/officeDocument/2006/relationships/notesSlide" Target="/ppt/notesSlides/notesSlide9.xml" Id="Rb2d7b6e01b964b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e15b9b5d54950" /><Relationship Type="http://schemas.openxmlformats.org/officeDocument/2006/relationships/notesSlide" Target="/ppt/notesSlides/notesSlide10.xml" Id="Raf07d8086d4848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15248bb344922" /><Relationship Type="http://schemas.openxmlformats.org/officeDocument/2006/relationships/notesSlide" Target="/ppt/notesSlides/notesSlide11.xml" Id="R29e1e3db3a2a41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3f2adb9cb4f2d" /><Relationship Type="http://schemas.openxmlformats.org/officeDocument/2006/relationships/notesSlide" Target="/ppt/notesSlides/notesSlide12.xml" Id="Rc6ed8a25228347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c1944d35a4e85" /><Relationship Type="http://schemas.openxmlformats.org/officeDocument/2006/relationships/notesSlide" Target="/ppt/notesSlides/notesSlide13.xml" Id="Rd7fac0e6590245e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4b3891d9441fc" /><Relationship Type="http://schemas.openxmlformats.org/officeDocument/2006/relationships/notesSlide" Target="/ppt/notesSlides/notesSlide14.xml" Id="R9798aa5ce9b644e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2fe03bc5748c1" /><Relationship Type="http://schemas.openxmlformats.org/officeDocument/2006/relationships/notesSlide" Target="/ppt/notesSlides/notesSlide15.xml" Id="Rd2d6f8fc7672478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5fc4e5af5427a" /><Relationship Type="http://schemas.openxmlformats.org/officeDocument/2006/relationships/notesSlide" Target="/ppt/notesSlides/notesSlide16.xml" Id="Rb2b6e4e859114b2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a0d4d6c28470b" /><Relationship Type="http://schemas.openxmlformats.org/officeDocument/2006/relationships/notesSlide" Target="/ppt/notesSlides/notesSlide17.xml" Id="Rf4f3ca016da3477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6d3c2f64146a8" /><Relationship Type="http://schemas.openxmlformats.org/officeDocument/2006/relationships/notesSlide" Target="/ppt/notesSlides/notesSlide18.xml" Id="R74f9f02f65ff4e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FF82282-2802-42F0-B663-56226853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spc="14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CS221.F31.LT.TTNT  ·  XỬ LÝ NGÔN NGỮ TỰ NHIÊN  ·  UIT</a:t>
            </a:r>
            <a:endParaRPr sz="1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AF5E20-FA48-402F-ACC3-FC17D713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08760"/>
            <a:ext cx="109728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So sánh tóm tắt rút trích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và tóm lược trên tin tức tiếng Việt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7EAE14E-2477-447E-9149-4EE8ED9E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10058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i="1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Lead-3   ·   TextRank   ·   ViT5 dùng checkpoint có sẵn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A39C5DD-961A-4D22-8539-59985451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Nhóm 14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341EDFE-44BD-4790-9193-2291C4A6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65836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Nguyễn Trí Toàn    26410135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Nguyễn Văn Thái    26410108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Đỗ Quốc Hoàng    26410043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69E17D-2D25-46CD-AB38-73543089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977640"/>
            <a:ext cx="411480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820B64A-E5FE-477A-BF54-427467D8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133088"/>
            <a:ext cx="37490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8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GIÁO VIÊN HƯỚNG DẪN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21B088C-9FE4-43B9-A0EF-E460C904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572000"/>
            <a:ext cx="3749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TS. Đặng Văn Thìn</a:t>
            </a: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8462452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D2CF11B-8D05-4EA1-B5EF-4EBE94E1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02   ĐẶT VẤN ĐỀ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A6E59E9-352C-47C7-B5DA-3268945E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Vì sao cần tóm tắt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28DFBDB-E6EC-4D08-AA15-2FCAE952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Nhu cầu tóm tắt tin tức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D0958B1-7AB7-470D-BF5A-B0D8C409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17320"/>
            <a:ext cx="11155680" cy="1389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04B8428-45B9-46C9-9D93-8CF317CE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18488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Tin tức dài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E4770EF-6D39-4FA3-906E-EDB13253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75688"/>
            <a:ext cx="10607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Một bài có thể vài trăm từ. Người đọc cần nắm việc chính mà không đọc hết.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44824FB-DFF4-4D1D-B9F3-7BE7CDF0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71800"/>
            <a:ext cx="11155680" cy="1389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6BCE467-A2FC-49C7-9343-46194FF7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72968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Bản ngắn hơn</a:t>
            </a:r>
            <a:endParaRPr sz="2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92DE2F4-849C-4386-91A8-E20430B8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0168"/>
            <a:ext cx="10607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Hệ đọc thân bài rồi viết lại thành vài câu.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42A15AC-FB4B-4187-A0A7-B9A699FF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26280"/>
            <a:ext cx="11155680" cy="1389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FC0D263-6E2B-417B-B7E3-057446FE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727448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Dễ sai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4D00DC9-736B-4745-B541-B1AF5018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84648"/>
            <a:ext cx="10607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Bản ngắn có thể bỏ mất ý, hoặc thêm điều bài không nói.</a:t>
            </a:r>
            <a:endParaRPr sz="1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D89E2E9-8B08-406D-93F7-8D57C9A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29286C9-FC3F-440C-92F3-86C9442D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2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058188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03CF842-3E32-46CB-99F4-BC938995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03   MỤC TIÊU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71134D8-1BAC-4073-8F59-F0BF9D50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Câu hỏi của đồ án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E0DCEA6-3A65-42F2-88F8-3E5FD97D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Mục tiêu và phạm vi so sánh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C0DD14A-A496-4560-950C-6DC55AC5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1115568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5D0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0EC7129-37B1-49F8-A73E-27D98E14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1060704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Trên cùng tập test, Lead-3, TextRank và ViT5 khác nhau thế nào về ROUGE, và khi đọc tay thì mỗi hệ sai kiểu gì?</a:t>
            </a:r>
            <a:endParaRPr sz="24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00580D7-CBD7-4D84-A731-CED53935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66160"/>
            <a:ext cx="557784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124F246-0F35-4583-B940-FBC30374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4904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Nhóm làm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9B97A59-91AC-409F-AE6A-D573209D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51960"/>
            <a:ext cx="50292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So sánh ROUGE trên 500 bài và rà soát lỗi trên 100 bài đầu.</a:t>
            </a:r>
            <a:endParaRPr sz="18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0F3BFD3-0BE5-4E1C-B6D3-78156A5B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566160"/>
            <a:ext cx="557784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847D179-6516-4CEE-9836-FD73FA5B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74904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Giới hạn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B4682FC-B4A0-40E3-A31D-FFC3E9FC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251960"/>
            <a:ext cx="50292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Tóm tắt đơn văn bản. Dùng checkpoint ViT5 có sẵn, không huấn luyện thêm.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87649D8-78FA-47E9-B626-0AD393A9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862440E-76D3-47C9-8169-FE3D6C4E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3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205767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45F9C6B-2A90-490E-BAAF-6A9981F8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04   BÀI TOÁN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E06A25-1ADE-4629-B572-3D2D7E62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Đầu vào và đầu ra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5C01210-8C76-49E3-BA30-810D5935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Đầu vào và đầu ra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A31B7BD-8DBD-4225-A421-3CA673DC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17320"/>
            <a:ext cx="3611880" cy="4617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6071A5-744C-4C7E-A2F9-32DD2042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3154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Đầu vào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6ABC5C0-1150-4793-87C1-58FDCE3B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315468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Thân bài tiếng Việt</a:t>
            </a:r>
            <a:endParaRPr sz="2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25BE55A-7E47-4BD0-B25C-15F62376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315468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Hệ chỉ đọc phần thân. Tiêu đề dùng để biết đó là bài nào.</a:t>
            </a:r>
            <a:endParaRPr sz="16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E42B7D9-17C9-49C6-A8D9-6B5C2754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17320"/>
            <a:ext cx="3611880" cy="4617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72E6A33-53A0-4051-8579-E3D5C91F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45920"/>
            <a:ext cx="3154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Đầu ra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20597C7-274A-48C7-BA25-E27DA974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03120"/>
            <a:ext cx="315468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Bản tóm tắt ngắn</a:t>
            </a:r>
            <a:endParaRPr sz="2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F9DDB4-D458-4215-9E8A-C43901F1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66160"/>
            <a:ext cx="315468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Lead-3 và TextRank lấy câu có sẵn. ViT5 viết câu mới.</a:t>
            </a:r>
            <a:endParaRPr sz="16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B6602BB-9916-4EAA-9A9B-AA6D5B5D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417320"/>
            <a:ext cx="3611880" cy="4617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5D0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13AD6AB-8D06-4782-BE53-283BF623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1645920"/>
            <a:ext cx="3154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Để chấm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F4283CC-BFB9-4612-B6CB-E20C35D9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103120"/>
            <a:ext cx="315468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Sapo của bài</a:t>
            </a:r>
            <a:endParaRPr sz="2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39ECD3C-A0C4-46D5-AA94-C062D56F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566160"/>
            <a:ext cx="315468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Sapo là bản mẫu khi tính ROUGE. ViT5 không được đọc sapo.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51602F9-28B5-4295-912B-AEACDAAF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B0CCAC-13B8-43CC-A0F6-BED52B2D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4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97141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3A78A00-5EA9-447F-88AC-D2F55F92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05   HAI CÁCH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0E5E49C-7147-41BC-95E9-1241EFF7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Một bài trong tập test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8F657A5-8E01-44A0-9FFA-1E50E41E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Lấy câu sẵn, hoặc viết câu mới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73FF52-1726-4CCA-A7EC-293B53B4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25880"/>
            <a:ext cx="5486400" cy="2331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4AE25FE-40E0-42B5-A489-E9BEF3E2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25880"/>
            <a:ext cx="5486400" cy="2331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5D0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296CF59-D2CE-4795-904A-83CB16AF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5029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Rút trích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EA882CB-F727-4174-A7B8-86264BD6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5029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Giữ nguyên câu trong bài. Ít bịa chữ. Có thể cụt hoặc lệch sapo.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D42873-46B4-4490-B940-BC0ADDC2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63040"/>
            <a:ext cx="5029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Tóm lược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B04B93E-4184-4F1F-BD1E-DA11D750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920240"/>
            <a:ext cx="5029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Viết câu mới. Đọc có thể mượt hơn. Có thể sai tên, sai số, đảo người làm việc.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30A2248-3101-4CCB-B677-3D03D8F8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0"/>
            <a:ext cx="1120140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5D3359F-3DC2-4417-B264-077CDE00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0507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Bài 000011 trong tập test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DC36F7D-36E2-48D5-9390-1F16EDE8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1069848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Bài 000011 kể việc thuê xe chở máy ủi. Rút trích giữ nguyên câu ấy. ViT5 đổi thành trộm xe bồn.</a:t>
            </a:r>
            <a:endParaRPr sz="1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A063520-05E4-4F90-AA2D-7B215BDB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BD00878-17DF-472C-8089-38141598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5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894456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8488A6-1565-4035-AA77-FF216074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06   CÔNG TRÌNH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C53CE77-B37E-4B7D-86F2-E33AF31B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Và dữ liệu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45F9293-E783-4085-9DF3-529A3B1D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Dùng Vietnews và checkpoint ViT5 đã công bố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B93C7D9-5E74-4589-81E9-095DD53A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179090E-1E63-4A78-937C-A93B2485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6420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Dữ liệu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C383912-56DE-44A7-890E-29CE0A47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664208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github.com/ThanhChinhBK/vietnews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12A4AE8-F1BF-4546-BB0D-1A7E9AB4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BD22239-F885-414D-9C10-006F85CE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292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Model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FDFFA5A-7364-43E9-A3BA-94CABF9C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852928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VietAI/vit5-base-vietnews-summarization, bài NAACL 2022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A224035-11F5-496A-BFB8-31AB1652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4904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094B4BE-2068-47E9-A248-8B5029FD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416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Phần dùng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09F1F3B-B029-4607-9136-D31EFC95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041648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Tập test, các file đã tách từ bằng dấu gạch dưới</a:t>
            </a:r>
            <a:endParaRPr sz="18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F67624F-9BDE-4FAB-A031-CCFA8CA6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93776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DBF6D09-E664-4109-AC6B-C7A7FD4D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3036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Số bài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750198B-C47E-4CB5-A5D2-5CB44AF3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5230368"/>
            <a:ext cx="8229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Làm thử 100 bài đầu. Số báo cáo là 500 bài đầu, lấy theo tên file.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FBD5745-607F-4391-8893-9872AB00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25B7800-3409-4129-BFED-3985E76A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6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725414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8E8B89B-57F7-4839-8D21-D0E4A280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07   CÁCH CHẠY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0E7EE2E-D029-4788-8483-AF16A290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Bốn bước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7E0752-8C1B-4A95-B276-F47F2486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Từ file bài báo đến điểm ROUGE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DA688AF-F18A-4C2C-85CB-FFBFDCEB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274320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FA58C33-4A4B-464E-BA0F-99590BF9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164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1</a:t>
            </a:r>
            <a:endParaRPr sz="3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D371681-1E8D-4D33-A730-685D41D3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8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Đọc file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56ADA0B-0636-415F-B267-2D3D89581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3280"/>
            <a:ext cx="23774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Lấy tiêu đề, sapo và thân bài.</a:t>
            </a:r>
            <a:endParaRPr sz="16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AA51D72-2E09-431D-A005-B10DB5F1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63040"/>
            <a:ext cx="274320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B2DB3E7-C442-42DA-9495-90692D33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69164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2</a:t>
            </a:r>
            <a:endParaRPr sz="3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92D1ECC-9526-4B6B-B937-CEDC1F92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468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Tách câu</a:t>
            </a:r>
            <a:endParaRPr sz="2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7C83036-3931-4F4F-A003-6D1285DB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383280"/>
            <a:ext cx="23774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Lead-3 và TextRank chạy trên máy.</a:t>
            </a:r>
            <a:endParaRPr sz="16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857E1CC-750C-45A8-85D9-006304C3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463040"/>
            <a:ext cx="274320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F19B7BA-C970-4E31-9066-B75D6BCF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9164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3</a:t>
            </a:r>
            <a:endParaRPr sz="3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C54CA3F-AAE3-4B42-8744-44FFA6E3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468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ViT5</a:t>
            </a:r>
            <a:endParaRPr sz="2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B059935-2FDA-4563-BD75-A32C19FE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83280"/>
            <a:ext cx="23774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Dùng câu đã viết sẵn và lưu lại.</a:t>
            </a:r>
            <a:endParaRPr sz="16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58663C09-4DEC-4E93-8913-681D5DFC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63040"/>
            <a:ext cx="2743200" cy="452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4BA0467-E79C-422F-ABD6-554D06BA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69164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4</a:t>
            </a:r>
            <a:endParaRPr sz="3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05678EE-1F0C-46C4-95C1-4865FC0D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468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ROUGE</a:t>
            </a:r>
            <a:endParaRPr sz="20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74A70A9-2454-4B0C-8E8E-FBD447C8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383280"/>
            <a:ext cx="23774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So bản tóm tắt với sapo bằng ROUGE-1, 2 và L.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4A5042E-6D98-42E5-8357-B6A32C51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EFE487E-39EC-47CE-8AFF-A5CA2E58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7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015171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7DB402-DB63-4C1D-83EA-0DD18219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08   TIỀN XỬ LÝ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4CD512E-BE7C-4CCF-AE8E-864CC511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Tiếng Việt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079581A-220A-466B-BCA8-D2225098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Tiền xử lý và chuẩn hóa khi chấm ROUGE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2543524-A377-4CA6-BED5-2AD9A6D7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17320"/>
            <a:ext cx="1115568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8A58305-9047-4A21-BCBF-969B025D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28346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Dấu gạch dưới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D123685-18BA-441E-BD20-7A6396F0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581912"/>
            <a:ext cx="7680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học_sinh là một từ có sẵn trong file Vietnews.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8205CD9-5F0B-494B-B53D-C354F511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17520"/>
            <a:ext cx="1115568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6CEC991-5977-4B65-ABA0-7D8799E2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82112"/>
            <a:ext cx="28346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Câu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4FF1F4E-9306-42D1-B176-1398EEFB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2112"/>
            <a:ext cx="7680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Nối các dòng đến dấu kết thúc câu: dấu chấm, chấm than hoặc chấm hỏi.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58BFCA2-076D-4A22-A826-24BFF915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17720"/>
            <a:ext cx="1115568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6C0035F-E3CD-4201-ABE4-A3E45A9C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82312"/>
            <a:ext cx="28346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Lúc chấm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D203A8A-39DC-412E-B406-024250D5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82312"/>
            <a:ext cx="7680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Đổi gạch dưới thành khoảng trắng ở bản tóm tắt và sapo, rồi tách theo khoảng trắng.</a:t>
            </a:r>
            <a:endParaRPr sz="1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E8AEFEA-4B5F-4F40-91CF-B66933F9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E6C7C25-1424-49CC-8E9A-AF575029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8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218932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D6F8A0-90D7-4FAC-A488-2920DD00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09   LEAD-3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99FA20C-E27F-4E22-B0BC-52ED25AB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Baseline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3757730-299A-4AF6-A22F-44E57085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Lấy ba câu đầu thân bài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DE2736-85B1-45A8-B905-689BD50B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6766560" cy="4663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412541-F820-404D-97DF-8BED11D8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6217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Cách làm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F524013-B438-4DD1-82E0-D162B153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03120"/>
            <a:ext cx="62179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Lấy tối đa ba câu đứng đầu bài.</a:t>
            </a:r>
            <a:endParaRPr sz="2200"/>
          </a:p>
          <a:p xmlns:a="http://schemas.openxmlformats.org/drawingml/2006/main">
            <a:pPr marL="0" indent="0">
              <a:buNone/>
            </a:pP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Bài chỉ có hai câu thì giữ hai câu.</a:t>
            </a:r>
            <a:endParaRPr sz="2200"/>
          </a:p>
          <a:p xmlns:a="http://schemas.openxmlformats.org/drawingml/2006/main">
            <a:pPr marL="0" indent="0">
              <a:buNone/>
            </a:pP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Không sắp xếp lại, không chấm câu nào quan trọng hơn.</a:t>
            </a:r>
            <a:endParaRPr sz="22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C2CD0D1-1FFE-49D9-8DB3-9FBDED71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71600"/>
            <a:ext cx="4160520" cy="4663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5D0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E541BA6-CB84-4873-906E-50F813D5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49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Vì sao cần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81CCF07-F897-4BF0-B6DB-5E6B2EC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2194560"/>
            <a:ext cx="374904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Tin thường nêu việc chính ngay câu đầu.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Lấy ba câu đầu giúp thấy TextRank và ViT5 có hơn cách đơn giản này hay không.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2603413-938B-454D-8E0E-6674C430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3745042-44B7-405B-B1FF-3475F3E5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9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200312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D04D32-C2B6-4049-A152-4743528C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10   TEXTRANK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D0E8676-A1CA-4C52-BA4D-DC7A94BE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Chọn câu trong một bài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1F3B660-E299-43B4-A6F3-055E4B80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Chọn ba câu có điểm PageRank cao nhất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57C3C35-53C7-4A99-9E65-EC5772CB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25880"/>
            <a:ext cx="11155680" cy="11155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4BAF8E4-D472-4A6C-B9E9-72A6AA28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18488"/>
            <a:ext cx="64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1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9F54159-1DB9-40FA-A31D-03255686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618488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TF-IDF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C3C4B89-30D7-46C8-B17A-9F655EEF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636776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Mỗi câu thành một vector, chỉ trong bài đó.</a:t>
            </a:r>
            <a:endParaRPr sz="18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EA4C3C-A44F-4125-82AD-C8CC6F9E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0"/>
            <a:ext cx="11155680" cy="11155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DA31202-F150-4AD6-B5FA-5AD1CFC2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2928"/>
            <a:ext cx="64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2</a:t>
            </a:r>
            <a:endParaRPr sz="2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FF98F6F-CF1A-4857-9E60-A95FAD95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2852928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Cosine</a:t>
            </a:r>
            <a:endParaRPr sz="2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66A276-ADF4-4B3A-8FD0-6D80A117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871216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Đo hai câu giống nhau đến đâu.</a:t>
            </a:r>
            <a:endParaRPr sz="18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909571-D531-4061-980E-D0FEEC8A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11155680" cy="11155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7D793C3-E3E3-4C04-9FFB-CF95E170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87368"/>
            <a:ext cx="64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3</a:t>
            </a:r>
            <a:endParaRPr sz="2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EFAD31-F7AC-4369-99F1-2CDEA364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087368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PageRank</a:t>
            </a:r>
            <a:endParaRPr sz="2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A4F8E3F-FA79-4757-A2F0-16B52799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105656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40 vòng, damping 0.85.</a:t>
            </a:r>
            <a:endParaRPr sz="18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4A1FE5D-9B2B-4069-9C5B-2AA7B1C3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0"/>
            <a:ext cx="11155680" cy="11155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1E6F304-88C7-4E85-8A85-A2F67177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21808"/>
            <a:ext cx="640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4</a:t>
            </a:r>
            <a:endParaRPr sz="2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7B833C3-4856-41E6-8C24-DA9D6B36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5321808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Lấy ba câu</a:t>
            </a:r>
            <a:endParaRPr sz="20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F1A8517-257A-4134-9688-0AACF6D7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0096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Giữ thứ tự xuất hiện trong bài.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DCF2DDC-F194-43A6-B6A3-414BBD47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C4A361-DB7A-4618-83E2-B3DF519D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10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168941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0CCA05C-E06E-4FFA-92FE-1D9502F1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11   VIT5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5C3DBFD-3F9C-41EA-B46D-280F5FA7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Checkpoint có sẵn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943B769-2E0E-448D-A4B1-B1F03988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ViT5 viết câu mới từ checkpoint có sẵn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60B1BEA-2B1C-4097-A6A9-BDF48010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95ACD2-C899-4B1A-A5DB-B09DF68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64208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Model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F46D784-046E-4290-815C-4789DEDB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664208"/>
            <a:ext cx="7772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VietAI/vit5-base-vietnews-summarization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1054893-B346-4669-9B09-C102AB5C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F13C196-688E-4EA0-9C82-655B36E8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2928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Việc của nhóm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67506A6-D5A7-4563-B910-ED08F5AB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52928"/>
            <a:ext cx="7772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Cho model đọc bài và viết tóm tắt. Trọng số giữ nguyên như checkpoint.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82B8BB6-6C13-444E-B212-6948E269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4904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E484919-FA6E-4CCA-A76F-0A079E87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41648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Đưa vào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9B916C7-612E-4FCA-977A-1F9134E1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041648"/>
            <a:ext cx="7772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Thân bài, thêm ký hiệu kết thúc. Tối đa 1.024 token.</a:t>
            </a:r>
            <a:endParaRPr sz="18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BDE0475-B0E2-4D43-988B-ED26660B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93776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82C0160-414B-4CB1-8051-5553B287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30368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Sinh ra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F826036-14EA-4CDF-8736-CE0A3640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5230368"/>
            <a:ext cx="7772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Mỗi bản tóm tắt dài tối đa 256 token.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E3493C4-214F-40E6-AEE0-1B0FE62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4940DD9-C519-49E7-B21F-8E410DB6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11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431790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62A1893-FC9F-46DA-AC8A-429C8E37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12   THIẾT LẬP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3238FE-F6D3-4656-98FF-A6B4DE83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Cùng tập, cùng cách chấm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89AFA7A-83CC-4886-BB11-BEB48052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Ba hệ nhìn cùng các bài test</a:t>
            </a:r>
            <a:endParaRPr sz="2800"/>
          </a:p>
        </p:txBody>
      </p:sp>
      <p:graphicFrame>
        <p:nvGraphicFramePr>
          <p:cNvPr id="13" name="Table 0">
            <a:extLst xmlns:a="http://schemas.openxmlformats.org/drawingml/2006/main">
              <a:ext uri="{FF2B5EF4-FFF2-40B4-BE49-F238E27FC236}">
                <a16:creationId xmlns:a16="http://schemas.microsoft.com/office/drawing/2014/main" id="{EA004B91-2BE2-4CC8-9193-768057C55C9F}"/>
              </a:ext>
            </a:extLst>
          </p:cNvPr>
          <p:cNvGraphicFramePr/>
          <p:nvPr/>
        </p:nvGraphicFramePr>
        <p:xfrm>
          <a:off xmlns:a="http://schemas.openxmlformats.org/drawingml/2006/main" x="502920" y="1325880"/>
          <a:ext xmlns:a="http://schemas.openxmlformats.org/drawingml/2006/main" cx="11155680" cy="47091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8412480"/>
              </a:tblGrid>
              <a:tr h="784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 b="1">
                          <a:solidFill>
                            <a:srgbClr val="EFE8D6"/>
                          </a:solidFill>
                          <a:latin typeface="Calibri"/>
                          <a:ea typeface="Calibri"/>
                          <a:cs typeface="Calibri"/>
                        </a:rPr>
                        <a:t>Hạng mục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 b="1">
                          <a:solidFill>
                            <a:srgbClr val="EFE8D6"/>
                          </a:solidFill>
                          <a:latin typeface="Calibri"/>
                          <a:ea typeface="Calibri"/>
                          <a:cs typeface="Calibri"/>
                        </a:rPr>
                        <a:t>Cách nhóm làm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0B0B0B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Tập 100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Bài 000001 đến 000100, chạy trước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Tập 500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Bài 000001 đến 000500, gồm cả 100 bài trên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Ba cách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Lead-3, TextRank và ViT5 trên cùng các bài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Cách chấm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ROUGE-1, ROUGE-2, ROUGE-L, lấy điểm F1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ViT5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8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Sinh một lần trên Kaggle, rồi lưu file kết quả</a:t>
                      </a:r>
                      <a:endParaRPr sz="18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076BBD5-F293-4F29-9603-CEE29167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6C0E25D-65E8-4E14-8942-9DB038FD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12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193889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A076FDA-FF3E-44EA-9258-B2C2644F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13   KẾT QUẢ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2227139-FE9B-4802-A45D-B0137AE5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500 bài test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DC4ECB2-6819-414B-AB59-DDD23DB2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ROUGE F1 trên 500 bài kiểm thử</a:t>
            </a:r>
            <a:endParaRPr sz="2800"/>
          </a:p>
        </p:txBody>
      </p:sp>
      <p:graphicFrame>
        <p:nvGraphicFramePr>
          <p:cNvPr id="14" name="Table 0">
            <a:extLst xmlns:a="http://schemas.openxmlformats.org/drawingml/2006/main">
              <a:ext uri="{FF2B5EF4-FFF2-40B4-BE49-F238E27FC236}">
                <a16:creationId xmlns:a16="http://schemas.microsoft.com/office/drawing/2014/main" id="{A01C5B26-7FDB-43F9-B330-A5B49CDB841B}"/>
              </a:ext>
            </a:extLst>
          </p:cNvPr>
          <p:cNvGraphicFramePr/>
          <p:nvPr/>
        </p:nvGraphicFramePr>
        <p:xfrm>
          <a:off xmlns:a="http://schemas.openxmlformats.org/drawingml/2006/main" x="502920" y="1325880"/>
          <a:ext xmlns:a="http://schemas.openxmlformats.org/drawingml/2006/main" cx="11155680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26080"/>
                <a:gridCol w="2743200"/>
                <a:gridCol w="2743200"/>
                <a:gridCol w="2743200"/>
              </a:tblGrid>
              <a:tr h="7200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EFE8D6"/>
                          </a:solidFill>
                          <a:latin typeface="Calibri"/>
                          <a:ea typeface="Calibri"/>
                          <a:cs typeface="Calibri"/>
                        </a:rPr>
                        <a:t>Cách làm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EFE8D6"/>
                          </a:solidFill>
                          <a:latin typeface="Calibri"/>
                          <a:ea typeface="Calibri"/>
                          <a:cs typeface="Calibri"/>
                        </a:rPr>
                        <a:t>ROUGE-1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EFE8D6"/>
                          </a:solidFill>
                          <a:latin typeface="Calibri"/>
                          <a:ea typeface="Calibri"/>
                          <a:cs typeface="Calibri"/>
                        </a:rPr>
                        <a:t>ROUGE-2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EFE8D6"/>
                          </a:solidFill>
                          <a:latin typeface="Calibri"/>
                          <a:ea typeface="Calibri"/>
                          <a:cs typeface="Calibri"/>
                        </a:rPr>
                        <a:t>ROUGE-L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0B0B0B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Lead-3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0.2569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0.1294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0.1856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TextRank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0.2499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0.1198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0.1815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ViT5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0.2784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0.1474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2000" b="1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0.2233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cmpd="sng">
                      <a:solidFill>
                        <a:srgbClr val="C8C0AE"/>
                      </a:solidFill>
                      <a:prstDash val="solid"/>
                    </a:lnL>
                    <a:lnR w="6350" cmpd="sng">
                      <a:solidFill>
                        <a:srgbClr val="C8C0AE"/>
                      </a:solidFill>
                      <a:prstDash val="solid"/>
                    </a:lnR>
                    <a:lnT w="6350" cmpd="sng">
                      <a:solidFill>
                        <a:srgbClr val="C8C0AE"/>
                      </a:solidFill>
                      <a:prstDash val="solid"/>
                    </a:lnT>
                    <a:lnB w="6350" cmpd="sng">
                      <a:solidFill>
                        <a:srgbClr val="C8C0AE"/>
                      </a:solidFill>
                      <a:prstDash val="soli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A21782D-1428-44CA-9104-BC71BD78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34840"/>
            <a:ext cx="111556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Trên 500 bài, TextRank thấp hơn Lead-3. Lấy một câu đầu đã đạt 0.2719. ViT5 chỉ hơn mức đó một ít. Số này do nhóm tính.</a:t>
            </a:r>
            <a:endParaRPr sz="18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60B6C83-DF66-470F-AA9B-D75D313A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47F9202-095F-40C7-B60F-F3AD8A59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13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474939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99B962-E9D4-4494-BB3C-D7A44432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14   ĐỌC TAY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549FD9-AD27-4B6A-8667-F841773D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Hai ví dụ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84CE998-E9F1-4194-BDE9-24348707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Trùng nhiều chữ vẫn có thể sai việc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5BC1249-ADC5-49C9-B67E-040E0C8E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25880"/>
            <a:ext cx="553212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952575A-B313-48A4-A5DA-56D0A5D1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25880"/>
            <a:ext cx="548640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5D0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8EAC2F-FDF2-44AE-A4F2-18BABD95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000021  ·  sai tên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157ABC5-2369-4867-BEE8-FAE20F99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50749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Trong bài, Nguyễn Văn Được dùng dây dù siết cổ bạn gái.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ViT5 viết: Nguyễn "Văn" được cho là đã dùng dây dù.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Bài này vẫn đạt ROUGE-1 bằng 0.5161 trên bảng 100 bài.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325A5F6-A49A-414A-B2BB-52959BB1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000011  ·  sai đồ vật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AFFB756-4EB8-486C-8A35-DE7A2FEC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11680"/>
            <a:ext cx="502920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Thân bài: Nguyễn Văn Tú thuê xe chở máy ủi đem bán.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ViT5: trộm được xe bồn.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Xe bồn không có trong thân bài.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AF459C6-6B8C-44DD-83B4-EA84FB59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386D1A6-46A4-4C91-AD83-2828E3C5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14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61622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6265D6C-4ED4-422B-BFE7-B70A2A82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15   DEMO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00C74B3-8044-4E4C-8004-6F32C542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Cùng một bài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2E8B5D5-243C-4CF0-B6A4-038E7F94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Ba cột trên cùng một bài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69D732B-BEE8-435F-953C-3ADB8C97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3611880" cy="429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02EEE15-907B-4107-8B46-9BBC9F0E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3063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Lead-3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DC3D514-D14A-451B-ABD4-66EEEDDF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30632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Ba câu đầu của thân bài.</a:t>
            </a:r>
            <a:endParaRPr sz="20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3933B56-2E69-4A1F-B35B-66D113E3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54480"/>
            <a:ext cx="3611880" cy="429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1FBDD0C-1650-4F18-B176-B1FD5545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874520"/>
            <a:ext cx="3063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TextRank</a:t>
            </a:r>
            <a:endParaRPr sz="2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A26CFDB-C2D4-4A2A-A7D4-70544F58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743200"/>
            <a:ext cx="30632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Ba câu được chọn trong thân bài.</a:t>
            </a:r>
            <a:endParaRPr sz="2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3CC8BC1-5534-4BD6-9D5E-AF43FCCD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554480"/>
            <a:ext cx="3611880" cy="429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5D0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48BA19D-E963-4149-8ECB-5A264876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74520"/>
            <a:ext cx="3063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ViT5</a:t>
            </a:r>
            <a:endParaRPr sz="2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C392CB5-42FD-477C-A263-43F198B6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43200"/>
            <a:ext cx="30632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Câu viết mới, lấy từ kết quả đã lưu.</a:t>
            </a:r>
            <a:endParaRPr sz="2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8B9B4FF-C826-4812-8C81-C690AD52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0A2E2BA-EA22-4CCC-8AAD-1E0C57ED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15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54140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78ECC1B-4708-40E3-8B45-33DDC222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16   KẾT LUẬN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9FCB1CA-936E-4CB3-AE58-4CC0305D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Và hạn chế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DC8458A-2C72-47B9-AC9B-AE6D68B7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ViT5 hơn một chút về chữ trùng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34E8361-47C5-44F9-B0E6-232662BE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25880"/>
            <a:ext cx="553212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1572BFF-9174-4762-8358-CE2C292E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25880"/>
            <a:ext cx="548640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5D0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CF42F41-7B59-4FED-BD8D-12C431AA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54480"/>
            <a:ext cx="5074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Kết quả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531F06-FE93-4230-9213-2D7BBBBE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507492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ViT5 đạt ROUGE-1 0.2784. Lead-1 đạt 0.2719 trên 500 bài.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Lead-1 là baseline mạnh. TextRank thấp hơn Lead-3 trên tập này.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Rà soát 100 bài ghi nhận 24 bài ViT5 sai hoặc gán nhầm sự kiện.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28ABA2D-368A-4CA2-9C6A-EC4C8728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5448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Hạn chế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CCA57C9-416E-402D-9CD9-033DB556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103120"/>
            <a:ext cx="502920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ROUGE đo trùng khớp token và chuỗi, không xác minh sự thật.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Rà soát một lượt trên 100 bài, chưa có hai người chấm độc lập.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Mẫu gồm 500 bài đầu, không ngẫu nhiên. Chưa kiểm định ý nghĩa thống kê.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EE2844F-C71F-43E5-B83F-C12D56F9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26C6F8F-5D50-4515-A892-2142D7E2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16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190803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7A545B2-563F-4E8E-9F04-1EF21668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17   NẾU LÀM TIẾP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732D91F-F1FE-4D81-98C2-DC4C8E14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Ngoài phạm vi hiện tại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2DF1D11-602E-4A59-AC81-46CA415F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Hướng phát triển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07F2BCE-E7E9-4C1B-A9FB-58DB7406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11155680" cy="1444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4F1D837-0EBD-486C-8614-C531DCD7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1005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01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D833237-BFAB-4446-9939-368A8A29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572768"/>
            <a:ext cx="9326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Đọc thêm bài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2B740CC-C229-432D-9D8A-6E81E348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084832"/>
            <a:ext cx="9326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Chấm độc lập theo rubric trên mẫu lớn hơn, thống kê lỗi tên, số và sự kiện.</a:t>
            </a:r>
            <a:endParaRPr sz="18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3F6F215-2D7A-4F35-ABC4-79A4DDC7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71800"/>
            <a:ext cx="11155680" cy="1444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72D8C90-1738-4E7D-B385-0ABE6C8A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1005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02</a:t>
            </a:r>
            <a:endParaRPr sz="2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8B911A-20E4-4F1A-8A34-3DDEAEA8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172968"/>
            <a:ext cx="9326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Bài gồm nhiều tin</a:t>
            </a:r>
            <a:endParaRPr sz="2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25A4CA1-22FE-40BA-968F-70AC74EB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85032"/>
            <a:ext cx="9326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Một số bài gom nhiều sự việc. Có thể thử tách tin và đánh giá ảnh hưởng.</a:t>
            </a:r>
            <a:endParaRPr sz="18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5AA1956-775D-4AEE-B46A-04B01BE4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72000"/>
            <a:ext cx="11155680" cy="1444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3A365CB-DF99-4FEE-A7FA-B1804A4B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83480"/>
            <a:ext cx="1005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B8432A"/>
                </a:solidFill>
                <a:latin typeface="Georgia"/>
                <a:ea typeface="Georgia"/>
                <a:cs typeface="Georgia"/>
              </a:rPr>
              <a:t>03</a:t>
            </a:r>
            <a:endParaRPr sz="2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70D9C02-109F-4B7D-BF18-820A8B36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73168"/>
            <a:ext cx="9326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Nếu có train sau</a:t>
            </a:r>
            <a:endParaRPr sz="2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5B5D990-C13D-40A8-812B-360F9E27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285232"/>
            <a:ext cx="9326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Các bài đang dùng để chấm sẽ để riêng, không đưa vào lúc cập nhật model.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0A53841-7AD3-4963-A7F3-34FCB50C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DEEEBD9-5872-4A0E-BD74-4F9FD29C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17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84168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0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6973EB-CCC9-4276-AAD7-3366275C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7315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12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18   TÀI LIỆU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69987BA-E3F1-401E-8B1B-B16113CB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56032"/>
            <a:ext cx="5029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Đã dùng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3F2318-9441-4061-914E-DD974F9B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5216"/>
            <a:ext cx="11155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A1A1A"/>
                </a:solidFill>
                <a:latin typeface="Georgia"/>
                <a:ea typeface="Georgia"/>
                <a:cs typeface="Georgia"/>
              </a:rPr>
              <a:t>Nguồn dữ liệu và tài liệu tham khảo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A5B174E-996B-42C9-9607-4B4FC8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7B6D2A5-8C67-42DE-8448-A82A0EE6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64208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Vietnews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8D90095-D956-49B8-ABCA-16501A31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64208"/>
            <a:ext cx="81381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github.com/ThanhChinhBK/vietnews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1980F38-ADFA-446D-8E3A-BF39D0E8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93E8041-1E2F-4E99-B1CE-86450661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2928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ViT5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3CABF8E-692A-4E66-B16B-BD3BC393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2928"/>
            <a:ext cx="81381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aclanthology.org/2022.naacl-srw.18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4DB5E15-8F54-4EE4-AA96-2E54FC2E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4904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A74E483-4137-4C19-A9BF-A1B5FFB4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41648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Checkpoint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49C9841-F591-4CBD-A327-02EC84B4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41648"/>
            <a:ext cx="81381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huggingface.co/VietAI/vit5-base-vietnews-summarization</a:t>
            </a:r>
            <a:endParaRPr sz="18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BAC926C-00B2-4C1F-9DFF-B1B91CB3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937760"/>
            <a:ext cx="111556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9525">
            <a:solidFill>
              <a:srgbClr val="C8C0A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0C3C921-D8E7-4935-8A23-0DA59BAE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30368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Repo nhóm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8FB5F0F-2908-4B71-9ED1-7D070E80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30368"/>
            <a:ext cx="81381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github.com/hoangdq08/uit-vietnews-summarization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C49AF6D-13A6-4CC7-A7D6-AE50405E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9224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5AFA0"/>
                </a:solidFill>
                <a:latin typeface="Calibri"/>
                <a:ea typeface="Calibri"/>
                <a:cs typeface="Calibri"/>
              </a:rPr>
              <a:t>CS221 · UIT · Nhóm 14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E91A63E-1815-41A2-A300-3014C0A3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6492240"/>
            <a:ext cx="1280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8578"/>
                </a:solidFill>
                <a:latin typeface="Calibri"/>
                <a:ea typeface="Calibri"/>
                <a:cs typeface="Calibri"/>
              </a:rPr>
              <a:t>18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6610264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Nhóm 14</dc:creator>
  <lastModifiedBy/>
  <dc:title>So sánh tóm tắt rút trích và tóm lược trên tin tức tiếng Việt</dc:title>
  <dcterms:created xsi:type="dcterms:W3CDTF">2026-10-13T11:14:59.4930000Z</dcterms:created>
  <dcterms:modified xsi:type="dcterms:W3CDTF">2026-10-13T11:14:59.4930000Z</dcterms:modified>
</coreProperties>
</file>